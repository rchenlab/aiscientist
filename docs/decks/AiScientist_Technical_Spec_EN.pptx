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42B"/>
        </a:solidFill>
      </p:bgPr>
    </p:bg>
    <p:spTree>
      <p:nvGrpSpPr>
        <p:cNvPr id="1" name=""/>
        <p:cNvGrpSpPr/>
        <p:nvPr/>
      </p:nvGrpSpPr>
      <p:grpSpPr>
        <a:xfrm>
          <a:off x="0" y="0"/>
          <a:ext cx="0" cy="0"/>
          <a:chOff x="0" y="0"/>
          <a:chExt cx="0" cy="0"/>
        </a:xfrm>
      </p:grpSpPr>
      <p:sp>
        <p:nvSpPr>
          <p:cNvPr id="2" name="Shape 0"/>
          <p:cNvSpPr/>
          <p:nvPr/>
        </p:nvSpPr>
        <p:spPr>
          <a:xfrm>
            <a:off x="8686800" y="-1737360"/>
            <a:ext cx="5669280" cy="5669280"/>
          </a:xfrm>
          <a:prstGeom prst="ellipse">
            <a:avLst/>
          </a:prstGeom>
          <a:solidFill>
            <a:srgbClr val="201C40"/>
          </a:solidFill>
          <a:ln w="12700">
            <a:solidFill>
              <a:srgbClr val="333333"/>
            </a:solidFill>
            <a:prstDash val="solid"/>
          </a:ln>
        </p:spPr>
      </p:sp>
      <p:sp>
        <p:nvSpPr>
          <p:cNvPr id="3" name="Shape 1"/>
          <p:cNvSpPr/>
          <p:nvPr/>
        </p:nvSpPr>
        <p:spPr>
          <a:xfrm>
            <a:off x="10424160" y="3566160"/>
            <a:ext cx="3108960" cy="3108960"/>
          </a:xfrm>
          <a:prstGeom prst="ellipse">
            <a:avLst/>
          </a:prstGeom>
          <a:solidFill>
            <a:srgbClr val="1C1936"/>
          </a:solidFill>
          <a:ln w="12700">
            <a:solidFill>
              <a:srgbClr val="333333"/>
            </a:solidFill>
            <a:prstDash val="solid"/>
          </a:ln>
        </p:spPr>
      </p:sp>
      <p:sp>
        <p:nvSpPr>
          <p:cNvPr id="4" name="Text 2"/>
          <p:cNvSpPr/>
          <p:nvPr/>
        </p:nvSpPr>
        <p:spPr>
          <a:xfrm>
            <a:off x="548640" y="1481328"/>
            <a:ext cx="8229600" cy="82296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AiScientist</a:t>
            </a:r>
            <a:endParaRPr lang="en-US" sz="5200" dirty="0"/>
          </a:p>
        </p:txBody>
      </p:sp>
      <p:sp>
        <p:nvSpPr>
          <p:cNvPr id="5" name="Text 3"/>
          <p:cNvSpPr/>
          <p:nvPr/>
        </p:nvSpPr>
        <p:spPr>
          <a:xfrm>
            <a:off x="548640" y="2304288"/>
            <a:ext cx="8229600" cy="566928"/>
          </a:xfrm>
          <a:prstGeom prst="rect">
            <a:avLst/>
          </a:prstGeom>
          <a:noFill/>
          <a:ln/>
        </p:spPr>
        <p:txBody>
          <a:bodyPr wrap="square" lIns="0" tIns="0" rIns="0" bIns="0" rtlCol="0" anchor="ctr"/>
          <a:lstStyle/>
          <a:p>
            <a:pPr indent="0" marL="0">
              <a:buNone/>
            </a:pPr>
            <a:r>
              <a:rPr lang="en-US" sz="2700" dirty="0">
                <a:solidFill>
                  <a:srgbClr val="17B8A6"/>
                </a:solidFill>
                <a:latin typeface="Cambria" pitchFamily="34" charset="0"/>
                <a:ea typeface="Cambria" pitchFamily="34" charset="-122"/>
                <a:cs typeface="Cambria" pitchFamily="34" charset="-120"/>
              </a:rPr>
              <a:t>Technical Specification</a:t>
            </a:r>
            <a:endParaRPr lang="en-US" sz="2700" dirty="0"/>
          </a:p>
        </p:txBody>
      </p:sp>
      <p:sp>
        <p:nvSpPr>
          <p:cNvPr id="6" name="Text 4"/>
          <p:cNvSpPr/>
          <p:nvPr/>
        </p:nvSpPr>
        <p:spPr>
          <a:xfrm>
            <a:off x="548640" y="2999232"/>
            <a:ext cx="7680960" cy="868680"/>
          </a:xfrm>
          <a:prstGeom prst="rect">
            <a:avLst/>
          </a:prstGeom>
          <a:noFill/>
          <a:ln/>
        </p:spPr>
        <p:txBody>
          <a:bodyPr wrap="square" lIns="0" tIns="0" rIns="0" bIns="0" rtlCol="0" anchor="ctr"/>
          <a:lstStyle/>
          <a:p>
            <a:pPr indent="0" marL="0">
              <a:buNone/>
            </a:pPr>
            <a:r>
              <a:rPr lang="en-US" sz="1400" dirty="0">
                <a:solidFill>
                  <a:srgbClr val="B9B4D6"/>
                </a:solidFill>
                <a:latin typeface="Calibri" pitchFamily="34" charset="0"/>
                <a:ea typeface="Calibri" pitchFamily="34" charset="-122"/>
                <a:cs typeface="Calibri" pitchFamily="34" charset="-120"/>
              </a:rPr>
              <a:t>Job state · context management · cross-server job submission · workflows · engineering choices — with a deep dive on the genetic-variant-annotation line</a:t>
            </a:r>
            <a:endParaRPr lang="en-US" sz="1400" dirty="0"/>
          </a:p>
        </p:txBody>
      </p:sp>
      <p:sp>
        <p:nvSpPr>
          <p:cNvPr id="7" name="Text 5"/>
          <p:cNvSpPr/>
          <p:nvPr/>
        </p:nvSpPr>
        <p:spPr>
          <a:xfrm>
            <a:off x="548640" y="4224528"/>
            <a:ext cx="2743200" cy="347472"/>
          </a:xfrm>
          <a:prstGeom prst="roundRect">
            <a:avLst>
              <a:gd name="adj" fmla="val 23684"/>
            </a:avLst>
          </a:prstGeom>
          <a:solidFill>
            <a:srgbClr val="2A2551"/>
          </a:solidFill>
          <a:ln w="12700">
            <a:solidFill>
              <a:srgbClr val="3E3872"/>
            </a:solidFill>
          </a:ln>
        </p:spPr>
        <p:txBody>
          <a:bodyPr wrap="square" lIns="0" tIns="0" rIns="0" bIns="0" rtlCol="0" anchor="ctr"/>
          <a:lstStyle/>
          <a:p>
            <a:pPr algn="ctr" indent="0" marL="0">
              <a:buNone/>
            </a:pPr>
            <a:r>
              <a:rPr lang="en-US" sz="1050" dirty="0">
                <a:solidFill>
                  <a:srgbClr val="D8D4EE"/>
                </a:solidFill>
                <a:latin typeface="Calibri" pitchFamily="34" charset="0"/>
                <a:ea typeface="Calibri" pitchFamily="34" charset="-122"/>
                <a:cs typeface="Calibri" pitchFamily="34" charset="-120"/>
              </a:rPr>
              <a:t>UCI HPC3 + eyeserver</a:t>
            </a:r>
            <a:endParaRPr lang="en-US" sz="1050" dirty="0"/>
          </a:p>
        </p:txBody>
      </p:sp>
      <p:sp>
        <p:nvSpPr>
          <p:cNvPr id="8" name="Text 6"/>
          <p:cNvSpPr/>
          <p:nvPr/>
        </p:nvSpPr>
        <p:spPr>
          <a:xfrm>
            <a:off x="3493008" y="4224528"/>
            <a:ext cx="2743200" cy="347472"/>
          </a:xfrm>
          <a:prstGeom prst="roundRect">
            <a:avLst>
              <a:gd name="adj" fmla="val 23684"/>
            </a:avLst>
          </a:prstGeom>
          <a:solidFill>
            <a:srgbClr val="2A2551"/>
          </a:solidFill>
          <a:ln w="12700">
            <a:solidFill>
              <a:srgbClr val="3E3872"/>
            </a:solidFill>
          </a:ln>
        </p:spPr>
        <p:txBody>
          <a:bodyPr wrap="square" lIns="0" tIns="0" rIns="0" bIns="0" rtlCol="0" anchor="ctr"/>
          <a:lstStyle/>
          <a:p>
            <a:pPr algn="ctr" indent="0" marL="0">
              <a:buNone/>
            </a:pPr>
            <a:r>
              <a:rPr lang="en-US" sz="1050" dirty="0">
                <a:solidFill>
                  <a:srgbClr val="D8D4EE"/>
                </a:solidFill>
                <a:latin typeface="Calibri" pitchFamily="34" charset="0"/>
                <a:ea typeface="Calibri" pitchFamily="34" charset="-122"/>
                <a:cs typeface="Calibri" pitchFamily="34" charset="-120"/>
              </a:rPr>
              <a:t>Qwen3.6-35B-A3B (vLLM)</a:t>
            </a:r>
            <a:endParaRPr lang="en-US" sz="1050" dirty="0"/>
          </a:p>
        </p:txBody>
      </p:sp>
      <p:sp>
        <p:nvSpPr>
          <p:cNvPr id="9" name="Text 7"/>
          <p:cNvSpPr/>
          <p:nvPr/>
        </p:nvSpPr>
        <p:spPr>
          <a:xfrm>
            <a:off x="6437376" y="4224528"/>
            <a:ext cx="2743200" cy="347472"/>
          </a:xfrm>
          <a:prstGeom prst="roundRect">
            <a:avLst>
              <a:gd name="adj" fmla="val 23684"/>
            </a:avLst>
          </a:prstGeom>
          <a:solidFill>
            <a:srgbClr val="2A2551"/>
          </a:solidFill>
          <a:ln w="12700">
            <a:solidFill>
              <a:srgbClr val="3E3872"/>
            </a:solidFill>
          </a:ln>
        </p:spPr>
        <p:txBody>
          <a:bodyPr wrap="square" lIns="0" tIns="0" rIns="0" bIns="0" rtlCol="0" anchor="ctr"/>
          <a:lstStyle/>
          <a:p>
            <a:pPr algn="ctr" indent="0" marL="0">
              <a:buNone/>
            </a:pPr>
            <a:r>
              <a:rPr lang="en-US" sz="1050" dirty="0">
                <a:solidFill>
                  <a:srgbClr val="D8D4EE"/>
                </a:solidFill>
                <a:latin typeface="Calibri" pitchFamily="34" charset="0"/>
                <a:ea typeface="Calibri" pitchFamily="34" charset="-122"/>
                <a:cs typeface="Calibri" pitchFamily="34" charset="-120"/>
              </a:rPr>
              <a:t>~26K LOC · 933 tests</a:t>
            </a:r>
            <a:endParaRPr lang="en-US" sz="1050" dirty="0"/>
          </a:p>
        </p:txBody>
      </p:sp>
      <p:sp>
        <p:nvSpPr>
          <p:cNvPr id="10" name="Text 8"/>
          <p:cNvSpPr/>
          <p:nvPr/>
        </p:nvSpPr>
        <p:spPr>
          <a:xfrm>
            <a:off x="548640" y="5989320"/>
            <a:ext cx="10058400" cy="310896"/>
          </a:xfrm>
          <a:prstGeom prst="rect">
            <a:avLst/>
          </a:prstGeom>
          <a:noFill/>
          <a:ln/>
        </p:spPr>
        <p:txBody>
          <a:bodyPr wrap="square" lIns="0" tIns="0" rIns="0" bIns="0" rtlCol="0" anchor="ctr"/>
          <a:lstStyle/>
          <a:p>
            <a:pPr indent="0" marL="0">
              <a:buNone/>
            </a:pPr>
            <a:r>
              <a:rPr lang="en-US" sz="1050" dirty="0">
                <a:solidFill>
                  <a:srgbClr val="7D78A3"/>
                </a:solidFill>
                <a:latin typeface="Calibri" pitchFamily="34" charset="0"/>
                <a:ea typeface="Calibri" pitchFamily="34" charset="-122"/>
                <a:cs typeface="Calibri" pitchFamily="34" charset="-120"/>
              </a:rPr>
              <a:t>Privacy-first multi-agent bioinformatics research console · UCI Vision / Ocular-Biology Lab</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10896"/>
            <a:ext cx="11091672" cy="502920"/>
          </a:xfrm>
          <a:prstGeom prst="rect">
            <a:avLst/>
          </a:prstGeom>
          <a:noFill/>
          <a:ln/>
        </p:spPr>
        <p:txBody>
          <a:bodyPr wrap="square" lIns="0" tIns="0" rIns="0" bIns="0" rtlCol="0" anchor="ctr"/>
          <a:lstStyle/>
          <a:p>
            <a:pPr algn="l" indent="0" marL="0">
              <a:buNone/>
            </a:pPr>
            <a:r>
              <a:rPr lang="en-US" sz="2700" b="1" dirty="0">
                <a:solidFill>
                  <a:srgbClr val="1E1B33"/>
                </a:solidFill>
                <a:latin typeface="Cambria" pitchFamily="34" charset="0"/>
                <a:ea typeface="Cambria" pitchFamily="34" charset="-122"/>
                <a:cs typeface="Cambria" pitchFamily="34" charset="-120"/>
              </a:rPr>
              <a:t>At a glance</a:t>
            </a:r>
            <a:endParaRPr lang="en-US" sz="2700" dirty="0"/>
          </a:p>
        </p:txBody>
      </p:sp>
      <p:sp>
        <p:nvSpPr>
          <p:cNvPr id="3" name="Text 1"/>
          <p:cNvSpPr/>
          <p:nvPr/>
        </p:nvSpPr>
        <p:spPr>
          <a:xfrm>
            <a:off x="548640" y="841248"/>
            <a:ext cx="11091672" cy="329184"/>
          </a:xfrm>
          <a:prstGeom prst="rect">
            <a:avLst/>
          </a:prstGeom>
          <a:noFill/>
          <a:ln/>
        </p:spPr>
        <p:txBody>
          <a:bodyPr wrap="square" lIns="0" tIns="0" rIns="0" bIns="0" rtlCol="0" anchor="t"/>
          <a:lstStyle/>
          <a:p>
            <a:pPr algn="l" indent="0" marL="0">
              <a:buNone/>
            </a:pPr>
            <a:r>
              <a:rPr lang="en-US" sz="1200" dirty="0">
                <a:solidFill>
                  <a:srgbClr val="6E6A85"/>
                </a:solidFill>
                <a:latin typeface="Calibri" pitchFamily="34" charset="0"/>
                <a:ea typeface="Calibri" pitchFamily="34" charset="-122"/>
                <a:cs typeface="Calibri" pitchFamily="34" charset="-120"/>
              </a:rPr>
              <a:t>What the system is, and the four numbers that describe its shape</a:t>
            </a:r>
            <a:endParaRPr lang="en-US" sz="1200" dirty="0"/>
          </a:p>
        </p:txBody>
      </p:sp>
      <p:sp>
        <p:nvSpPr>
          <p:cNvPr id="4" name="Shape 2"/>
          <p:cNvSpPr/>
          <p:nvPr/>
        </p:nvSpPr>
        <p:spPr>
          <a:xfrm>
            <a:off x="548640" y="1335024"/>
            <a:ext cx="2615184" cy="1298448"/>
          </a:xfrm>
          <a:prstGeom prst="roundRect">
            <a:avLst>
              <a:gd name="adj" fmla="val 4930"/>
            </a:avLst>
          </a:prstGeom>
          <a:solidFill>
            <a:srgbClr val="F3F2F8"/>
          </a:solidFill>
          <a:ln w="6350">
            <a:solidFill>
              <a:srgbClr val="F3F2F8"/>
            </a:solidFill>
            <a:prstDash val="solid"/>
          </a:ln>
        </p:spPr>
      </p:sp>
      <p:sp>
        <p:nvSpPr>
          <p:cNvPr id="5" name="Text 3"/>
          <p:cNvSpPr/>
          <p:nvPr/>
        </p:nvSpPr>
        <p:spPr>
          <a:xfrm>
            <a:off x="694944" y="1408176"/>
            <a:ext cx="2322576" cy="658368"/>
          </a:xfrm>
          <a:prstGeom prst="rect">
            <a:avLst/>
          </a:prstGeom>
          <a:noFill/>
          <a:ln/>
        </p:spPr>
        <p:txBody>
          <a:bodyPr wrap="square" lIns="0" tIns="0" rIns="0" bIns="0" rtlCol="0" anchor="ctr"/>
          <a:lstStyle/>
          <a:p>
            <a:pPr indent="0" marL="0">
              <a:buNone/>
            </a:pPr>
            <a:r>
              <a:rPr lang="en-US" sz="4000" b="1" dirty="0">
                <a:solidFill>
                  <a:srgbClr val="17B8A6"/>
                </a:solidFill>
                <a:latin typeface="Cambria" pitchFamily="34" charset="0"/>
                <a:ea typeface="Cambria" pitchFamily="34" charset="-122"/>
                <a:cs typeface="Cambria" pitchFamily="34" charset="-120"/>
              </a:rPr>
              <a:t>2</a:t>
            </a:r>
            <a:endParaRPr lang="en-US" sz="4000" dirty="0"/>
          </a:p>
        </p:txBody>
      </p:sp>
      <p:sp>
        <p:nvSpPr>
          <p:cNvPr id="6" name="Text 4"/>
          <p:cNvSpPr/>
          <p:nvPr/>
        </p:nvSpPr>
        <p:spPr>
          <a:xfrm>
            <a:off x="694944" y="2066544"/>
            <a:ext cx="2322576" cy="493776"/>
          </a:xfrm>
          <a:prstGeom prst="rect">
            <a:avLst/>
          </a:prstGeom>
          <a:noFill/>
          <a:ln/>
        </p:spPr>
        <p:txBody>
          <a:bodyPr wrap="square" lIns="0" tIns="0" rIns="0" bIns="0" rtlCol="0" anchor="ctr"/>
          <a:lstStyle/>
          <a:p>
            <a:pPr indent="0" marL="0">
              <a:buNone/>
            </a:pPr>
            <a:r>
              <a:rPr lang="en-US" sz="1050" dirty="0">
                <a:solidFill>
                  <a:srgbClr val="6E6A85"/>
                </a:solidFill>
                <a:latin typeface="Calibri" pitchFamily="34" charset="0"/>
                <a:ea typeface="Calibri" pitchFamily="34" charset="-122"/>
                <a:cs typeface="Calibri" pitchFamily="34" charset="-120"/>
              </a:rPr>
              <a:t>tiers: web gateway ↔ HPC3</a:t>
            </a:r>
            <a:endParaRPr lang="en-US" sz="1050" dirty="0"/>
          </a:p>
        </p:txBody>
      </p:sp>
      <p:sp>
        <p:nvSpPr>
          <p:cNvPr id="7" name="Shape 5"/>
          <p:cNvSpPr/>
          <p:nvPr/>
        </p:nvSpPr>
        <p:spPr>
          <a:xfrm>
            <a:off x="3374136" y="1335024"/>
            <a:ext cx="2615184" cy="1298448"/>
          </a:xfrm>
          <a:prstGeom prst="roundRect">
            <a:avLst>
              <a:gd name="adj" fmla="val 4930"/>
            </a:avLst>
          </a:prstGeom>
          <a:solidFill>
            <a:srgbClr val="F3F2F8"/>
          </a:solidFill>
          <a:ln w="6350">
            <a:solidFill>
              <a:srgbClr val="F3F2F8"/>
            </a:solidFill>
            <a:prstDash val="solid"/>
          </a:ln>
        </p:spPr>
      </p:sp>
      <p:sp>
        <p:nvSpPr>
          <p:cNvPr id="8" name="Text 6"/>
          <p:cNvSpPr/>
          <p:nvPr/>
        </p:nvSpPr>
        <p:spPr>
          <a:xfrm>
            <a:off x="3520440" y="1408176"/>
            <a:ext cx="2322576" cy="658368"/>
          </a:xfrm>
          <a:prstGeom prst="rect">
            <a:avLst/>
          </a:prstGeom>
          <a:noFill/>
          <a:ln/>
        </p:spPr>
        <p:txBody>
          <a:bodyPr wrap="square" lIns="0" tIns="0" rIns="0" bIns="0" rtlCol="0" anchor="ctr"/>
          <a:lstStyle/>
          <a:p>
            <a:pPr indent="0" marL="0">
              <a:buNone/>
            </a:pPr>
            <a:r>
              <a:rPr lang="en-US" sz="4000" b="1" dirty="0">
                <a:solidFill>
                  <a:srgbClr val="3F3684"/>
                </a:solidFill>
                <a:latin typeface="Cambria" pitchFamily="34" charset="0"/>
                <a:ea typeface="Cambria" pitchFamily="34" charset="-122"/>
                <a:cs typeface="Cambria" pitchFamily="34" charset="-120"/>
              </a:rPr>
              <a:t>7</a:t>
            </a:r>
            <a:endParaRPr lang="en-US" sz="4000" dirty="0"/>
          </a:p>
        </p:txBody>
      </p:sp>
      <p:sp>
        <p:nvSpPr>
          <p:cNvPr id="9" name="Text 7"/>
          <p:cNvSpPr/>
          <p:nvPr/>
        </p:nvSpPr>
        <p:spPr>
          <a:xfrm>
            <a:off x="3520440" y="2066544"/>
            <a:ext cx="2322576" cy="493776"/>
          </a:xfrm>
          <a:prstGeom prst="rect">
            <a:avLst/>
          </a:prstGeom>
          <a:noFill/>
          <a:ln/>
        </p:spPr>
        <p:txBody>
          <a:bodyPr wrap="square" lIns="0" tIns="0" rIns="0" bIns="0" rtlCol="0" anchor="ctr"/>
          <a:lstStyle/>
          <a:p>
            <a:pPr indent="0" marL="0">
              <a:buNone/>
            </a:pPr>
            <a:r>
              <a:rPr lang="en-US" sz="1050" dirty="0">
                <a:solidFill>
                  <a:srgbClr val="6E6A85"/>
                </a:solidFill>
                <a:latin typeface="Calibri" pitchFamily="34" charset="0"/>
                <a:ea typeface="Calibri" pitchFamily="34" charset="-122"/>
                <a:cs typeface="Calibri" pitchFamily="34" charset="-120"/>
              </a:rPr>
              <a:t>preset research pipelines</a:t>
            </a:r>
            <a:endParaRPr lang="en-US" sz="1050" dirty="0"/>
          </a:p>
        </p:txBody>
      </p:sp>
      <p:sp>
        <p:nvSpPr>
          <p:cNvPr id="10" name="Shape 8"/>
          <p:cNvSpPr/>
          <p:nvPr/>
        </p:nvSpPr>
        <p:spPr>
          <a:xfrm>
            <a:off x="6199632" y="1335024"/>
            <a:ext cx="2615184" cy="1298448"/>
          </a:xfrm>
          <a:prstGeom prst="roundRect">
            <a:avLst>
              <a:gd name="adj" fmla="val 4930"/>
            </a:avLst>
          </a:prstGeom>
          <a:solidFill>
            <a:srgbClr val="F3F2F8"/>
          </a:solidFill>
          <a:ln w="6350">
            <a:solidFill>
              <a:srgbClr val="F3F2F8"/>
            </a:solidFill>
            <a:prstDash val="solid"/>
          </a:ln>
        </p:spPr>
      </p:sp>
      <p:sp>
        <p:nvSpPr>
          <p:cNvPr id="11" name="Text 9"/>
          <p:cNvSpPr/>
          <p:nvPr/>
        </p:nvSpPr>
        <p:spPr>
          <a:xfrm>
            <a:off x="6345936" y="1408176"/>
            <a:ext cx="2322576" cy="658368"/>
          </a:xfrm>
          <a:prstGeom prst="rect">
            <a:avLst/>
          </a:prstGeom>
          <a:noFill/>
          <a:ln/>
        </p:spPr>
        <p:txBody>
          <a:bodyPr wrap="square" lIns="0" tIns="0" rIns="0" bIns="0" rtlCol="0" anchor="ctr"/>
          <a:lstStyle/>
          <a:p>
            <a:pPr indent="0" marL="0">
              <a:buNone/>
            </a:pPr>
            <a:r>
              <a:rPr lang="en-US" sz="4000" b="1" dirty="0">
                <a:solidFill>
                  <a:srgbClr val="D9832B"/>
                </a:solidFill>
                <a:latin typeface="Cambria" pitchFamily="34" charset="0"/>
                <a:ea typeface="Cambria" pitchFamily="34" charset="-122"/>
                <a:cs typeface="Cambria" pitchFamily="34" charset="-120"/>
              </a:rPr>
              <a:t>14</a:t>
            </a:r>
            <a:endParaRPr lang="en-US" sz="4000" dirty="0"/>
          </a:p>
        </p:txBody>
      </p:sp>
      <p:sp>
        <p:nvSpPr>
          <p:cNvPr id="12" name="Text 10"/>
          <p:cNvSpPr/>
          <p:nvPr/>
        </p:nvSpPr>
        <p:spPr>
          <a:xfrm>
            <a:off x="6345936" y="2066544"/>
            <a:ext cx="2322576" cy="493776"/>
          </a:xfrm>
          <a:prstGeom prst="rect">
            <a:avLst/>
          </a:prstGeom>
          <a:noFill/>
          <a:ln/>
        </p:spPr>
        <p:txBody>
          <a:bodyPr wrap="square" lIns="0" tIns="0" rIns="0" bIns="0" rtlCol="0" anchor="ctr"/>
          <a:lstStyle/>
          <a:p>
            <a:pPr indent="0" marL="0">
              <a:buNone/>
            </a:pPr>
            <a:r>
              <a:rPr lang="en-US" sz="1050" dirty="0">
                <a:solidFill>
                  <a:srgbClr val="6E6A85"/>
                </a:solidFill>
                <a:latin typeface="Calibri" pitchFamily="34" charset="0"/>
                <a:ea typeface="Calibri" pitchFamily="34" charset="-122"/>
                <a:cs typeface="Calibri" pitchFamily="34" charset="-120"/>
              </a:rPr>
              <a:t>atomic rewritable skills</a:t>
            </a:r>
            <a:endParaRPr lang="en-US" sz="1050" dirty="0"/>
          </a:p>
        </p:txBody>
      </p:sp>
      <p:sp>
        <p:nvSpPr>
          <p:cNvPr id="13" name="Shape 11"/>
          <p:cNvSpPr/>
          <p:nvPr/>
        </p:nvSpPr>
        <p:spPr>
          <a:xfrm>
            <a:off x="9025128" y="1335024"/>
            <a:ext cx="2615184" cy="1298448"/>
          </a:xfrm>
          <a:prstGeom prst="roundRect">
            <a:avLst>
              <a:gd name="adj" fmla="val 4930"/>
            </a:avLst>
          </a:prstGeom>
          <a:solidFill>
            <a:srgbClr val="F3F2F8"/>
          </a:solidFill>
          <a:ln w="6350">
            <a:solidFill>
              <a:srgbClr val="F3F2F8"/>
            </a:solidFill>
            <a:prstDash val="solid"/>
          </a:ln>
        </p:spPr>
      </p:sp>
      <p:sp>
        <p:nvSpPr>
          <p:cNvPr id="14" name="Text 12"/>
          <p:cNvSpPr/>
          <p:nvPr/>
        </p:nvSpPr>
        <p:spPr>
          <a:xfrm>
            <a:off x="9171432" y="1408176"/>
            <a:ext cx="2322576" cy="658368"/>
          </a:xfrm>
          <a:prstGeom prst="rect">
            <a:avLst/>
          </a:prstGeom>
          <a:noFill/>
          <a:ln/>
        </p:spPr>
        <p:txBody>
          <a:bodyPr wrap="square" lIns="0" tIns="0" rIns="0" bIns="0" rtlCol="0" anchor="ctr"/>
          <a:lstStyle/>
          <a:p>
            <a:pPr indent="0" marL="0">
              <a:buNone/>
            </a:pPr>
            <a:r>
              <a:rPr lang="en-US" sz="4000" b="1" dirty="0">
                <a:solidFill>
                  <a:srgbClr val="6E63B8"/>
                </a:solidFill>
                <a:latin typeface="Cambria" pitchFamily="34" charset="0"/>
                <a:ea typeface="Cambria" pitchFamily="34" charset="-122"/>
                <a:cs typeface="Cambria" pitchFamily="34" charset="-120"/>
              </a:rPr>
              <a:t>933</a:t>
            </a:r>
            <a:endParaRPr lang="en-US" sz="4000" dirty="0"/>
          </a:p>
        </p:txBody>
      </p:sp>
      <p:sp>
        <p:nvSpPr>
          <p:cNvPr id="15" name="Text 13"/>
          <p:cNvSpPr/>
          <p:nvPr/>
        </p:nvSpPr>
        <p:spPr>
          <a:xfrm>
            <a:off x="9171432" y="2066544"/>
            <a:ext cx="2322576" cy="493776"/>
          </a:xfrm>
          <a:prstGeom prst="rect">
            <a:avLst/>
          </a:prstGeom>
          <a:noFill/>
          <a:ln/>
        </p:spPr>
        <p:txBody>
          <a:bodyPr wrap="square" lIns="0" tIns="0" rIns="0" bIns="0" rtlCol="0" anchor="ctr"/>
          <a:lstStyle/>
          <a:p>
            <a:pPr indent="0" marL="0">
              <a:buNone/>
            </a:pPr>
            <a:r>
              <a:rPr lang="en-US" sz="1050" dirty="0">
                <a:solidFill>
                  <a:srgbClr val="6E6A85"/>
                </a:solidFill>
                <a:latin typeface="Calibri" pitchFamily="34" charset="0"/>
                <a:ea typeface="Calibri" pitchFamily="34" charset="-122"/>
                <a:cs typeface="Calibri" pitchFamily="34" charset="-120"/>
              </a:rPr>
              <a:t>offline tests, no cluster needed</a:t>
            </a:r>
            <a:endParaRPr lang="en-US" sz="1050" dirty="0"/>
          </a:p>
        </p:txBody>
      </p:sp>
      <p:sp>
        <p:nvSpPr>
          <p:cNvPr id="16" name="Shape 14"/>
          <p:cNvSpPr/>
          <p:nvPr/>
        </p:nvSpPr>
        <p:spPr>
          <a:xfrm>
            <a:off x="548640" y="2816352"/>
            <a:ext cx="11091672" cy="2761488"/>
          </a:xfrm>
          <a:prstGeom prst="roundRect">
            <a:avLst>
              <a:gd name="adj" fmla="val 2318"/>
            </a:avLst>
          </a:prstGeom>
          <a:solidFill>
            <a:srgbClr val="FFFFFF"/>
          </a:solidFill>
          <a:ln w="12700">
            <a:solidFill>
              <a:srgbClr val="DDDAE8"/>
            </a:solidFill>
            <a:prstDash val="solid"/>
          </a:ln>
        </p:spPr>
      </p:sp>
      <p:sp>
        <p:nvSpPr>
          <p:cNvPr id="17" name="Text 15"/>
          <p:cNvSpPr/>
          <p:nvPr/>
        </p:nvSpPr>
        <p:spPr>
          <a:xfrm>
            <a:off x="804672" y="2999232"/>
            <a:ext cx="10579608" cy="914400"/>
          </a:xfrm>
          <a:prstGeom prst="rect">
            <a:avLst/>
          </a:prstGeom>
          <a:noFill/>
          <a:ln/>
        </p:spPr>
        <p:txBody>
          <a:bodyPr wrap="square" lIns="0" tIns="0" rIns="0" bIns="0" rtlCol="0" anchor="ctr"/>
          <a:lstStyle/>
          <a:p>
            <a:pPr indent="0" marL="0">
              <a:lnSpc>
                <a:spcPts val="1800"/>
              </a:lnSpc>
              <a:buNone/>
            </a:pPr>
            <a:r>
              <a:rPr lang="en-US" sz="1250" dirty="0">
                <a:solidFill>
                  <a:srgbClr val="1E1B33"/>
                </a:solidFill>
                <a:latin typeface="Calibri" pitchFamily="34" charset="0"/>
                <a:ea typeface="Calibri" pitchFamily="34" charset="-122"/>
                <a:cs typeface="Calibri" pitchFamily="34" charset="-120"/>
              </a:rPr>
              <a:t>A researcher logs in through the browser, points the console at a dataset, and asks a scientific question in plain language. Behind the login the console SSHes to UCI HPC3, serves an open-weights LLM on a Slurm GPU via vLLM, and runs a role-based research lab — Principal Investigator → Scientist → Critic — that plans the work, executes real analysis tools, and streams back a citable, publication-shaped report.</a:t>
            </a:r>
            <a:endParaRPr lang="en-US" sz="1250" dirty="0"/>
          </a:p>
        </p:txBody>
      </p:sp>
      <p:sp>
        <p:nvSpPr>
          <p:cNvPr id="18" name="Shape 16"/>
          <p:cNvSpPr/>
          <p:nvPr/>
        </p:nvSpPr>
        <p:spPr>
          <a:xfrm>
            <a:off x="804672" y="4041648"/>
            <a:ext cx="274320" cy="274320"/>
          </a:xfrm>
          <a:prstGeom prst="ellipse">
            <a:avLst/>
          </a:prstGeom>
          <a:solidFill>
            <a:srgbClr val="17B8A6"/>
          </a:solidFill>
          <a:ln w="12700">
            <a:solidFill>
              <a:srgbClr val="17B8A6"/>
            </a:solidFill>
            <a:prstDash val="solid"/>
          </a:ln>
        </p:spPr>
      </p:sp>
      <p:sp>
        <p:nvSpPr>
          <p:cNvPr id="19" name="Text 17"/>
          <p:cNvSpPr/>
          <p:nvPr/>
        </p:nvSpPr>
        <p:spPr>
          <a:xfrm>
            <a:off x="804672" y="40416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0" name="Text 18"/>
          <p:cNvSpPr/>
          <p:nvPr/>
        </p:nvSpPr>
        <p:spPr>
          <a:xfrm>
            <a:off x="1170432" y="4023360"/>
            <a:ext cx="3063240" cy="292608"/>
          </a:xfrm>
          <a:prstGeom prst="rect">
            <a:avLst/>
          </a:prstGeom>
          <a:noFill/>
          <a:ln/>
        </p:spPr>
        <p:txBody>
          <a:bodyPr wrap="square" lIns="0" tIns="0" rIns="0" bIns="0" rtlCol="0" anchor="ctr"/>
          <a:lstStyle/>
          <a:p>
            <a:pPr indent="0" marL="0">
              <a:buNone/>
            </a:pPr>
            <a:r>
              <a:rPr lang="en-US" sz="1200" b="1" dirty="0">
                <a:solidFill>
                  <a:srgbClr val="1E1B33"/>
                </a:solidFill>
                <a:latin typeface="Calibri" pitchFamily="34" charset="0"/>
                <a:ea typeface="Calibri" pitchFamily="34" charset="-122"/>
                <a:cs typeface="Calibri" pitchFamily="34" charset="-120"/>
              </a:rPr>
              <a:t>Privacy-first</a:t>
            </a:r>
            <a:endParaRPr lang="en-US" sz="1200" dirty="0"/>
          </a:p>
        </p:txBody>
      </p:sp>
      <p:sp>
        <p:nvSpPr>
          <p:cNvPr id="21" name="Text 19"/>
          <p:cNvSpPr/>
          <p:nvPr/>
        </p:nvSpPr>
        <p:spPr>
          <a:xfrm>
            <a:off x="804672" y="4389120"/>
            <a:ext cx="3429000" cy="1097280"/>
          </a:xfrm>
          <a:prstGeom prst="rect">
            <a:avLst/>
          </a:prstGeom>
          <a:noFill/>
          <a:ln/>
        </p:spPr>
        <p:txBody>
          <a:bodyPr wrap="square" lIns="0" tIns="0" rIns="0" bIns="0" rtlCol="0" anchor="t"/>
          <a:lstStyle/>
          <a:p>
            <a:pPr indent="0" marL="0">
              <a:lnSpc>
                <a:spcPts val="1400"/>
              </a:lnSpc>
              <a:buNone/>
            </a:pPr>
            <a:r>
              <a:rPr lang="en-US" sz="1000" dirty="0">
                <a:solidFill>
                  <a:srgbClr val="6E6A85"/>
                </a:solidFill>
                <a:latin typeface="Calibri" pitchFamily="34" charset="0"/>
                <a:ea typeface="Calibri" pitchFamily="34" charset="-122"/>
                <a:cs typeface="Calibri" pitchFamily="34" charset="-120"/>
              </a:rPr>
              <a:t>The LLM runs on UCI hardware; raw data never leaves campus. DataBoundaryGuard inspects every brief before a model call.</a:t>
            </a:r>
            <a:endParaRPr lang="en-US" sz="1000" dirty="0"/>
          </a:p>
        </p:txBody>
      </p:sp>
      <p:sp>
        <p:nvSpPr>
          <p:cNvPr id="22" name="Shape 20"/>
          <p:cNvSpPr/>
          <p:nvPr/>
        </p:nvSpPr>
        <p:spPr>
          <a:xfrm>
            <a:off x="4379976" y="4041648"/>
            <a:ext cx="274320" cy="274320"/>
          </a:xfrm>
          <a:prstGeom prst="ellipse">
            <a:avLst/>
          </a:prstGeom>
          <a:solidFill>
            <a:srgbClr val="3F3684"/>
          </a:solidFill>
          <a:ln w="12700">
            <a:solidFill>
              <a:srgbClr val="3F3684"/>
            </a:solidFill>
            <a:prstDash val="solid"/>
          </a:ln>
        </p:spPr>
      </p:sp>
      <p:sp>
        <p:nvSpPr>
          <p:cNvPr id="23" name="Text 21"/>
          <p:cNvSpPr/>
          <p:nvPr/>
        </p:nvSpPr>
        <p:spPr>
          <a:xfrm>
            <a:off x="4379976" y="40416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4" name="Text 22"/>
          <p:cNvSpPr/>
          <p:nvPr/>
        </p:nvSpPr>
        <p:spPr>
          <a:xfrm>
            <a:off x="4745736" y="4023360"/>
            <a:ext cx="3063240" cy="292608"/>
          </a:xfrm>
          <a:prstGeom prst="rect">
            <a:avLst/>
          </a:prstGeom>
          <a:noFill/>
          <a:ln/>
        </p:spPr>
        <p:txBody>
          <a:bodyPr wrap="square" lIns="0" tIns="0" rIns="0" bIns="0" rtlCol="0" anchor="ctr"/>
          <a:lstStyle/>
          <a:p>
            <a:pPr indent="0" marL="0">
              <a:buNone/>
            </a:pPr>
            <a:r>
              <a:rPr lang="en-US" sz="1200" b="1" dirty="0">
                <a:solidFill>
                  <a:srgbClr val="1E1B33"/>
                </a:solidFill>
                <a:latin typeface="Calibri" pitchFamily="34" charset="0"/>
                <a:ea typeface="Calibri" pitchFamily="34" charset="-122"/>
                <a:cs typeface="Calibri" pitchFamily="34" charset="-120"/>
              </a:rPr>
              <a:t>Heavy compute on HPC3</a:t>
            </a:r>
            <a:endParaRPr lang="en-US" sz="1200" dirty="0"/>
          </a:p>
        </p:txBody>
      </p:sp>
      <p:sp>
        <p:nvSpPr>
          <p:cNvPr id="25" name="Text 23"/>
          <p:cNvSpPr/>
          <p:nvPr/>
        </p:nvSpPr>
        <p:spPr>
          <a:xfrm>
            <a:off x="4379976" y="4389120"/>
            <a:ext cx="3429000" cy="1097280"/>
          </a:xfrm>
          <a:prstGeom prst="rect">
            <a:avLst/>
          </a:prstGeom>
          <a:noFill/>
          <a:ln/>
        </p:spPr>
        <p:txBody>
          <a:bodyPr wrap="square" lIns="0" tIns="0" rIns="0" bIns="0" rtlCol="0" anchor="t"/>
          <a:lstStyle/>
          <a:p>
            <a:pPr indent="0" marL="0">
              <a:lnSpc>
                <a:spcPts val="1400"/>
              </a:lnSpc>
              <a:buNone/>
            </a:pPr>
            <a:r>
              <a:rPr lang="en-US" sz="1000" dirty="0">
                <a:solidFill>
                  <a:srgbClr val="6E6A85"/>
                </a:solidFill>
                <a:latin typeface="Calibri" pitchFamily="34" charset="0"/>
                <a:ea typeface="Calibri" pitchFamily="34" charset="-122"/>
                <a:cs typeface="Calibri" pitchFamily="34" charset="-120"/>
              </a:rPr>
              <a:t>GPU inference, run_code, scanpy, VEP, LIRICAL, report render — all Singularity-contained Slurm jobs, never silently on the web host.</a:t>
            </a:r>
            <a:endParaRPr lang="en-US" sz="1000" dirty="0"/>
          </a:p>
        </p:txBody>
      </p:sp>
      <p:sp>
        <p:nvSpPr>
          <p:cNvPr id="26" name="Shape 24"/>
          <p:cNvSpPr/>
          <p:nvPr/>
        </p:nvSpPr>
        <p:spPr>
          <a:xfrm>
            <a:off x="7955280" y="4041648"/>
            <a:ext cx="274320" cy="274320"/>
          </a:xfrm>
          <a:prstGeom prst="ellipse">
            <a:avLst/>
          </a:prstGeom>
          <a:solidFill>
            <a:srgbClr val="D9832B"/>
          </a:solidFill>
          <a:ln w="12700">
            <a:solidFill>
              <a:srgbClr val="D9832B"/>
            </a:solidFill>
            <a:prstDash val="solid"/>
          </a:ln>
        </p:spPr>
      </p:sp>
      <p:sp>
        <p:nvSpPr>
          <p:cNvPr id="27" name="Text 25"/>
          <p:cNvSpPr/>
          <p:nvPr/>
        </p:nvSpPr>
        <p:spPr>
          <a:xfrm>
            <a:off x="7955280" y="40416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8" name="Text 26"/>
          <p:cNvSpPr/>
          <p:nvPr/>
        </p:nvSpPr>
        <p:spPr>
          <a:xfrm>
            <a:off x="8321040" y="4023360"/>
            <a:ext cx="3063240" cy="292608"/>
          </a:xfrm>
          <a:prstGeom prst="rect">
            <a:avLst/>
          </a:prstGeom>
          <a:noFill/>
          <a:ln/>
        </p:spPr>
        <p:txBody>
          <a:bodyPr wrap="square" lIns="0" tIns="0" rIns="0" bIns="0" rtlCol="0" anchor="ctr"/>
          <a:lstStyle/>
          <a:p>
            <a:pPr indent="0" marL="0">
              <a:buNone/>
            </a:pPr>
            <a:r>
              <a:rPr lang="en-US" sz="1200" b="1" dirty="0">
                <a:solidFill>
                  <a:srgbClr val="1E1B33"/>
                </a:solidFill>
                <a:latin typeface="Calibri" pitchFamily="34" charset="0"/>
                <a:ea typeface="Calibri" pitchFamily="34" charset="-122"/>
                <a:cs typeface="Calibri" pitchFamily="34" charset="-120"/>
              </a:rPr>
              <a:t>Honest over impressive</a:t>
            </a:r>
            <a:endParaRPr lang="en-US" sz="1200" dirty="0"/>
          </a:p>
        </p:txBody>
      </p:sp>
      <p:sp>
        <p:nvSpPr>
          <p:cNvPr id="29" name="Text 27"/>
          <p:cNvSpPr/>
          <p:nvPr/>
        </p:nvSpPr>
        <p:spPr>
          <a:xfrm>
            <a:off x="7955280" y="4389120"/>
            <a:ext cx="3429000" cy="1097280"/>
          </a:xfrm>
          <a:prstGeom prst="rect">
            <a:avLst/>
          </a:prstGeom>
          <a:noFill/>
          <a:ln/>
        </p:spPr>
        <p:txBody>
          <a:bodyPr wrap="square" lIns="0" tIns="0" rIns="0" bIns="0" rtlCol="0" anchor="t"/>
          <a:lstStyle/>
          <a:p>
            <a:pPr indent="0" marL="0">
              <a:lnSpc>
                <a:spcPts val="1400"/>
              </a:lnSpc>
              <a:buNone/>
            </a:pPr>
            <a:r>
              <a:rPr lang="en-US" sz="1000" dirty="0">
                <a:solidFill>
                  <a:srgbClr val="6E6A85"/>
                </a:solidFill>
                <a:latin typeface="Calibri" pitchFamily="34" charset="0"/>
                <a:ea typeface="Calibri" pitchFamily="34" charset="-122"/>
                <a:cs typeface="Calibri" pitchFamily="34" charset="-120"/>
              </a:rPr>
              <a:t>Tools report failures instead of faking success; a deterministic guard refuses to let the Critic accept a step whose tool run errored.</a:t>
            </a:r>
            <a:endParaRPr lang="en-US" sz="1000" dirty="0"/>
          </a:p>
        </p:txBody>
      </p:sp>
      <p:sp>
        <p:nvSpPr>
          <p:cNvPr id="30" name="Text 28"/>
          <p:cNvSpPr/>
          <p:nvPr/>
        </p:nvSpPr>
        <p:spPr>
          <a:xfrm>
            <a:off x="548640" y="6382512"/>
            <a:ext cx="9144000" cy="274320"/>
          </a:xfrm>
          <a:prstGeom prst="rect">
            <a:avLst/>
          </a:prstGeom>
          <a:noFill/>
          <a:ln/>
        </p:spPr>
        <p:txBody>
          <a:bodyPr wrap="square" lIns="0" tIns="0" rIns="0" bIns="0" rtlCol="0" anchor="ctr"/>
          <a:lstStyle/>
          <a:p>
            <a:pPr indent="0" marL="0">
              <a:buNone/>
            </a:pPr>
            <a:r>
              <a:rPr lang="en-US" sz="900" dirty="0">
                <a:solidFill>
                  <a:srgbClr val="A6A2B8"/>
                </a:solidFill>
                <a:latin typeface="Calibri" pitchFamily="34" charset="0"/>
                <a:ea typeface="Calibri" pitchFamily="34" charset="-122"/>
                <a:cs typeface="Calibri" pitchFamily="34" charset="-120"/>
              </a:rPr>
              <a:t>AiScientist · Technical Specification · v0.2.0</a:t>
            </a:r>
            <a:endParaRPr lang="en-US" sz="900" dirty="0"/>
          </a:p>
        </p:txBody>
      </p:sp>
      <p:sp>
        <p:nvSpPr>
          <p:cNvPr id="31" name="Text 29"/>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A6A2B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10896"/>
            <a:ext cx="11091672" cy="502920"/>
          </a:xfrm>
          <a:prstGeom prst="rect">
            <a:avLst/>
          </a:prstGeom>
          <a:noFill/>
          <a:ln/>
        </p:spPr>
        <p:txBody>
          <a:bodyPr wrap="square" lIns="0" tIns="0" rIns="0" bIns="0" rtlCol="0" anchor="ctr"/>
          <a:lstStyle/>
          <a:p>
            <a:pPr algn="l" indent="0" marL="0">
              <a:buNone/>
            </a:pPr>
            <a:r>
              <a:rPr lang="en-US" sz="2700" b="1" dirty="0">
                <a:solidFill>
                  <a:srgbClr val="1E1B33"/>
                </a:solidFill>
                <a:latin typeface="Cambria" pitchFamily="34" charset="0"/>
                <a:ea typeface="Cambria" pitchFamily="34" charset="-122"/>
                <a:cs typeface="Cambria" pitchFamily="34" charset="-120"/>
              </a:rPr>
              <a:t>Two tiers, decoupled by SSH</a:t>
            </a:r>
            <a:endParaRPr lang="en-US" sz="2700" dirty="0"/>
          </a:p>
        </p:txBody>
      </p:sp>
      <p:sp>
        <p:nvSpPr>
          <p:cNvPr id="3" name="Text 1"/>
          <p:cNvSpPr/>
          <p:nvPr/>
        </p:nvSpPr>
        <p:spPr>
          <a:xfrm>
            <a:off x="548640" y="841248"/>
            <a:ext cx="11091672" cy="329184"/>
          </a:xfrm>
          <a:prstGeom prst="rect">
            <a:avLst/>
          </a:prstGeom>
          <a:noFill/>
          <a:ln/>
        </p:spPr>
        <p:txBody>
          <a:bodyPr wrap="square" lIns="0" tIns="0" rIns="0" bIns="0" rtlCol="0" anchor="t"/>
          <a:lstStyle/>
          <a:p>
            <a:pPr algn="l" indent="0" marL="0">
              <a:buNone/>
            </a:pPr>
            <a:r>
              <a:rPr lang="en-US" sz="1200" dirty="0">
                <a:solidFill>
                  <a:srgbClr val="6E6A85"/>
                </a:solidFill>
                <a:latin typeface="Calibri" pitchFamily="34" charset="0"/>
                <a:ea typeface="Calibri" pitchFamily="34" charset="-122"/>
                <a:cs typeface="Calibri" pitchFamily="34" charset="-120"/>
              </a:rPr>
              <a:t>The web console holds no GPU and no persistent copy of a dataset</a:t>
            </a:r>
            <a:endParaRPr lang="en-US" sz="1200" dirty="0"/>
          </a:p>
        </p:txBody>
      </p:sp>
      <p:sp>
        <p:nvSpPr>
          <p:cNvPr id="4" name="Shape 2"/>
          <p:cNvSpPr/>
          <p:nvPr/>
        </p:nvSpPr>
        <p:spPr>
          <a:xfrm>
            <a:off x="548640" y="1371600"/>
            <a:ext cx="3200400" cy="1280160"/>
          </a:xfrm>
          <a:prstGeom prst="roundRect">
            <a:avLst>
              <a:gd name="adj" fmla="val 5000"/>
            </a:avLst>
          </a:prstGeom>
          <a:solidFill>
            <a:srgbClr val="F3F2F8"/>
          </a:solidFill>
          <a:ln w="12700">
            <a:solidFill>
              <a:srgbClr val="DDDAE8"/>
            </a:solidFill>
            <a:prstDash val="solid"/>
          </a:ln>
        </p:spPr>
      </p:sp>
      <p:sp>
        <p:nvSpPr>
          <p:cNvPr id="5" name="Text 3"/>
          <p:cNvSpPr/>
          <p:nvPr/>
        </p:nvSpPr>
        <p:spPr>
          <a:xfrm>
            <a:off x="731520" y="1481328"/>
            <a:ext cx="2834640" cy="292608"/>
          </a:xfrm>
          <a:prstGeom prst="rect">
            <a:avLst/>
          </a:prstGeom>
          <a:noFill/>
          <a:ln/>
        </p:spPr>
        <p:txBody>
          <a:bodyPr wrap="square" lIns="0" tIns="0" rIns="0" bIns="0" rtlCol="0" anchor="ctr"/>
          <a:lstStyle/>
          <a:p>
            <a:pPr indent="0" marL="0">
              <a:buNone/>
            </a:pPr>
            <a:r>
              <a:rPr lang="en-US" sz="1300" b="1" dirty="0">
                <a:solidFill>
                  <a:srgbClr val="1E1B33"/>
                </a:solidFill>
                <a:latin typeface="Calibri" pitchFamily="34" charset="0"/>
                <a:ea typeface="Calibri" pitchFamily="34" charset="-122"/>
                <a:cs typeface="Calibri" pitchFamily="34" charset="-120"/>
              </a:rPr>
              <a:t>Browser</a:t>
            </a:r>
            <a:endParaRPr lang="en-US" sz="1300" dirty="0"/>
          </a:p>
        </p:txBody>
      </p:sp>
      <p:sp>
        <p:nvSpPr>
          <p:cNvPr id="6" name="Text 4"/>
          <p:cNvSpPr/>
          <p:nvPr/>
        </p:nvSpPr>
        <p:spPr>
          <a:xfrm>
            <a:off x="731520" y="1792224"/>
            <a:ext cx="2834640" cy="822960"/>
          </a:xfrm>
          <a:prstGeom prst="rect">
            <a:avLst/>
          </a:prstGeom>
          <a:noFill/>
          <a:ln/>
        </p:spPr>
        <p:txBody>
          <a:bodyPr wrap="square" lIns="0" tIns="0" rIns="0" bIns="0" rtlCol="0" anchor="t"/>
          <a:lstStyle/>
          <a:p>
            <a:pPr indent="0" marL="0">
              <a:lnSpc>
                <a:spcPts val="1300"/>
              </a:lnSpc>
              <a:buNone/>
            </a:pPr>
            <a:r>
              <a:rPr lang="en-US" sz="1000" dirty="0">
                <a:solidFill>
                  <a:srgbClr val="6E6A85"/>
                </a:solidFill>
                <a:latin typeface="Calibri" pitchFamily="34" charset="0"/>
                <a:ea typeface="Calibri" pitchFamily="34" charset="-122"/>
                <a:cs typeface="Calibri" pitchFamily="34" charset="-120"/>
              </a:rPr>
              <a:t>Console UI · WebSocket event stream · plan-mode review · Stop</a:t>
            </a:r>
            <a:endParaRPr lang="en-US" sz="1000" dirty="0"/>
          </a:p>
        </p:txBody>
      </p:sp>
      <p:sp>
        <p:nvSpPr>
          <p:cNvPr id="7" name="Shape 5"/>
          <p:cNvSpPr/>
          <p:nvPr/>
        </p:nvSpPr>
        <p:spPr>
          <a:xfrm>
            <a:off x="4160520" y="1371600"/>
            <a:ext cx="3840480" cy="1280160"/>
          </a:xfrm>
          <a:prstGeom prst="roundRect">
            <a:avLst>
              <a:gd name="adj" fmla="val 5000"/>
            </a:avLst>
          </a:prstGeom>
          <a:solidFill>
            <a:srgbClr val="2A2551"/>
          </a:solidFill>
          <a:ln w="6350">
            <a:solidFill>
              <a:srgbClr val="2A2551"/>
            </a:solidFill>
            <a:prstDash val="solid"/>
          </a:ln>
        </p:spPr>
      </p:sp>
      <p:sp>
        <p:nvSpPr>
          <p:cNvPr id="8" name="Text 6"/>
          <p:cNvSpPr/>
          <p:nvPr/>
        </p:nvSpPr>
        <p:spPr>
          <a:xfrm>
            <a:off x="4343400" y="1481328"/>
            <a:ext cx="347472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eyeserver — FastAPI gateway</a:t>
            </a:r>
            <a:endParaRPr lang="en-US" sz="1300" dirty="0"/>
          </a:p>
        </p:txBody>
      </p:sp>
      <p:sp>
        <p:nvSpPr>
          <p:cNvPr id="9" name="Text 7"/>
          <p:cNvSpPr/>
          <p:nvPr/>
        </p:nvSpPr>
        <p:spPr>
          <a:xfrm>
            <a:off x="4343400" y="1792224"/>
            <a:ext cx="3474720" cy="822960"/>
          </a:xfrm>
          <a:prstGeom prst="rect">
            <a:avLst/>
          </a:prstGeom>
          <a:noFill/>
          <a:ln/>
        </p:spPr>
        <p:txBody>
          <a:bodyPr wrap="square" lIns="0" tIns="0" rIns="0" bIns="0" rtlCol="0" anchor="t"/>
          <a:lstStyle/>
          <a:p>
            <a:pPr indent="0" marL="0">
              <a:lnSpc>
                <a:spcPts val="1300"/>
              </a:lnSpc>
              <a:buNone/>
            </a:pPr>
            <a:r>
              <a:rPr lang="en-US" sz="1000" dirty="0">
                <a:solidFill>
                  <a:srgbClr val="C3BEE0"/>
                </a:solidFill>
                <a:latin typeface="Calibri" pitchFamily="34" charset="0"/>
                <a:ea typeface="Calibri" pitchFamily="34" charset="-122"/>
                <a:cs typeface="Calibri" pitchFamily="34" charset="-120"/>
              </a:rPr>
              <a:t>accounts · chat history · uploads · orchestration · report assembly · Postgres</a:t>
            </a:r>
            <a:endParaRPr lang="en-US" sz="1000" dirty="0"/>
          </a:p>
        </p:txBody>
      </p:sp>
      <p:sp>
        <p:nvSpPr>
          <p:cNvPr id="10" name="Shape 8"/>
          <p:cNvSpPr/>
          <p:nvPr/>
        </p:nvSpPr>
        <p:spPr>
          <a:xfrm>
            <a:off x="8412480" y="1371600"/>
            <a:ext cx="3227832" cy="1280160"/>
          </a:xfrm>
          <a:prstGeom prst="roundRect">
            <a:avLst>
              <a:gd name="adj" fmla="val 5000"/>
            </a:avLst>
          </a:prstGeom>
          <a:solidFill>
            <a:srgbClr val="F3F2F8"/>
          </a:solidFill>
          <a:ln w="12700">
            <a:solidFill>
              <a:srgbClr val="DDDAE8"/>
            </a:solidFill>
            <a:prstDash val="solid"/>
          </a:ln>
        </p:spPr>
      </p:sp>
      <p:sp>
        <p:nvSpPr>
          <p:cNvPr id="11" name="Text 9"/>
          <p:cNvSpPr/>
          <p:nvPr/>
        </p:nvSpPr>
        <p:spPr>
          <a:xfrm>
            <a:off x="8595360" y="1481328"/>
            <a:ext cx="2834640" cy="292608"/>
          </a:xfrm>
          <a:prstGeom prst="rect">
            <a:avLst/>
          </a:prstGeom>
          <a:noFill/>
          <a:ln/>
        </p:spPr>
        <p:txBody>
          <a:bodyPr wrap="square" lIns="0" tIns="0" rIns="0" bIns="0" rtlCol="0" anchor="ctr"/>
          <a:lstStyle/>
          <a:p>
            <a:pPr indent="0" marL="0">
              <a:buNone/>
            </a:pPr>
            <a:r>
              <a:rPr lang="en-US" sz="1300" b="1" dirty="0">
                <a:solidFill>
                  <a:srgbClr val="1E1B33"/>
                </a:solidFill>
                <a:latin typeface="Calibri" pitchFamily="34" charset="0"/>
                <a:ea typeface="Calibri" pitchFamily="34" charset="-122"/>
                <a:cs typeface="Calibri" pitchFamily="34" charset="-120"/>
              </a:rPr>
              <a:t>UCI HPC3 — Slurm</a:t>
            </a:r>
            <a:endParaRPr lang="en-US" sz="1300" dirty="0"/>
          </a:p>
        </p:txBody>
      </p:sp>
      <p:sp>
        <p:nvSpPr>
          <p:cNvPr id="12" name="Text 10"/>
          <p:cNvSpPr/>
          <p:nvPr/>
        </p:nvSpPr>
        <p:spPr>
          <a:xfrm>
            <a:off x="8595360" y="1792224"/>
            <a:ext cx="2834640" cy="777240"/>
          </a:xfrm>
          <a:prstGeom prst="rect">
            <a:avLst/>
          </a:prstGeom>
          <a:noFill/>
          <a:ln/>
        </p:spPr>
        <p:txBody>
          <a:bodyPr wrap="square" lIns="0" tIns="0" rIns="0" bIns="0" rtlCol="0" anchor="t"/>
          <a:lstStyle/>
          <a:p>
            <a:pPr indent="0" marL="0">
              <a:lnSpc>
                <a:spcPts val="1300"/>
              </a:lnSpc>
              <a:buNone/>
            </a:pPr>
            <a:r>
              <a:rPr lang="en-US" sz="1000" dirty="0">
                <a:solidFill>
                  <a:srgbClr val="6E6A85"/>
                </a:solidFill>
                <a:latin typeface="Calibri" pitchFamily="34" charset="0"/>
                <a:ea typeface="Calibri" pitchFamily="34" charset="-122"/>
                <a:cs typeface="Calibri" pitchFamily="34" charset="-120"/>
              </a:rPr>
              <a:t>vLLM GPU serve · run_code · scanpy · VEP · LIRICAL · scGPT · pandoc render</a:t>
            </a:r>
            <a:endParaRPr lang="en-US" sz="1000" dirty="0"/>
          </a:p>
        </p:txBody>
      </p:sp>
      <p:sp>
        <p:nvSpPr>
          <p:cNvPr id="13" name="Shape 11"/>
          <p:cNvSpPr/>
          <p:nvPr/>
        </p:nvSpPr>
        <p:spPr>
          <a:xfrm>
            <a:off x="3794760" y="2011680"/>
            <a:ext cx="320040" cy="0"/>
          </a:xfrm>
          <a:prstGeom prst="line">
            <a:avLst/>
          </a:prstGeom>
          <a:noFill/>
          <a:ln w="19050">
            <a:solidFill>
              <a:srgbClr val="6E63B8"/>
            </a:solidFill>
            <a:prstDash val="solid"/>
            <a:tailEnd type="triangle"/>
          </a:ln>
        </p:spPr>
      </p:sp>
      <p:sp>
        <p:nvSpPr>
          <p:cNvPr id="14" name="Shape 12"/>
          <p:cNvSpPr/>
          <p:nvPr/>
        </p:nvSpPr>
        <p:spPr>
          <a:xfrm>
            <a:off x="8046720" y="2011680"/>
            <a:ext cx="320040" cy="0"/>
          </a:xfrm>
          <a:prstGeom prst="line">
            <a:avLst/>
          </a:prstGeom>
          <a:noFill/>
          <a:ln w="19050">
            <a:solidFill>
              <a:srgbClr val="6E63B8"/>
            </a:solidFill>
            <a:prstDash val="solid"/>
            <a:tailEnd type="triangle"/>
          </a:ln>
        </p:spPr>
      </p:sp>
      <p:sp>
        <p:nvSpPr>
          <p:cNvPr id="15" name="Text 13"/>
          <p:cNvSpPr/>
          <p:nvPr/>
        </p:nvSpPr>
        <p:spPr>
          <a:xfrm>
            <a:off x="3273552" y="2688336"/>
            <a:ext cx="1417320" cy="237744"/>
          </a:xfrm>
          <a:prstGeom prst="rect">
            <a:avLst/>
          </a:prstGeom>
          <a:noFill/>
          <a:ln/>
        </p:spPr>
        <p:txBody>
          <a:bodyPr wrap="square" lIns="0" tIns="0" rIns="0" bIns="0" rtlCol="0" anchor="ctr"/>
          <a:lstStyle/>
          <a:p>
            <a:pPr algn="ctr" indent="0" marL="0">
              <a:buNone/>
            </a:pPr>
            <a:r>
              <a:rPr lang="en-US" sz="850" dirty="0">
                <a:solidFill>
                  <a:srgbClr val="6E6A85"/>
                </a:solidFill>
                <a:latin typeface="Calibri" pitchFamily="34" charset="0"/>
                <a:ea typeface="Calibri" pitchFamily="34" charset="-122"/>
                <a:cs typeface="Calibri" pitchFamily="34" charset="-120"/>
              </a:rPr>
              <a:t>HTTPS / WSS</a:t>
            </a:r>
            <a:endParaRPr lang="en-US" sz="850" dirty="0"/>
          </a:p>
        </p:txBody>
      </p:sp>
      <p:sp>
        <p:nvSpPr>
          <p:cNvPr id="16" name="Text 14"/>
          <p:cNvSpPr/>
          <p:nvPr/>
        </p:nvSpPr>
        <p:spPr>
          <a:xfrm>
            <a:off x="7525512" y="2688336"/>
            <a:ext cx="1417320" cy="237744"/>
          </a:xfrm>
          <a:prstGeom prst="rect">
            <a:avLst/>
          </a:prstGeom>
          <a:noFill/>
          <a:ln/>
        </p:spPr>
        <p:txBody>
          <a:bodyPr wrap="square" lIns="0" tIns="0" rIns="0" bIns="0" rtlCol="0" anchor="ctr"/>
          <a:lstStyle/>
          <a:p>
            <a:pPr algn="ctr" indent="0" marL="0">
              <a:buNone/>
            </a:pPr>
            <a:r>
              <a:rPr lang="en-US" sz="850" dirty="0">
                <a:solidFill>
                  <a:srgbClr val="6E6A85"/>
                </a:solidFill>
                <a:latin typeface="Calibri" pitchFamily="34" charset="0"/>
                <a:ea typeface="Calibri" pitchFamily="34" charset="-122"/>
                <a:cs typeface="Calibri" pitchFamily="34" charset="-120"/>
              </a:rPr>
              <a:t>SSH + Duo</a:t>
            </a:r>
            <a:endParaRPr lang="en-US" sz="8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090672"/>
          <a:ext cx="11091672" cy="914400"/>
        </p:xfrm>
        <a:graphic>
          <a:graphicData uri="http://schemas.openxmlformats.org/drawingml/2006/table">
            <a:tbl>
              <a:tblPr/>
              <a:tblGrid>
                <a:gridCol w="2011680"/>
                <a:gridCol w="4023360"/>
                <a:gridCol w="5056632"/>
              </a:tblGrid>
              <a:tr h="45720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Channel</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crosses it</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Implementation</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r>
              <a:tr h="457200">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Command channel</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shell commands, sbatch, squeue/sacct, file staging</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paramiko SSHExecutor · RemoteExecutor protocol</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Inference tunnel</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chat + tool calls + exact token counts + streamed tokens</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per-session local port forward to the GPU node; vLLM speaks the OpenAI wire API (POST /v1/chat/completions, GET /v1/models, plus its own /tokenize), so no vendor SDK is involved and the endpoint is swappable</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457200">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Data plane</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resumable chunked upload streamed straight to dfs3b</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SFTP put_file — the gateway keeps no copy</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Result plane</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figures / tables synced back; checkpoints stay on DFS</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get_file + BIOAGENT_RESULT_JSON stdout marker</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bl>
          </a:graphicData>
        </a:graphic>
      </p:graphicFrame>
      <p:sp>
        <p:nvSpPr>
          <p:cNvPr id="18" name="Text 15"/>
          <p:cNvSpPr/>
          <p:nvPr/>
        </p:nvSpPr>
        <p:spPr>
          <a:xfrm>
            <a:off x="548640" y="5532120"/>
            <a:ext cx="11091672" cy="566928"/>
          </a:xfrm>
          <a:prstGeom prst="rect">
            <a:avLst/>
          </a:prstGeom>
          <a:noFill/>
          <a:ln/>
        </p:spPr>
        <p:txBody>
          <a:bodyPr wrap="square" lIns="0" tIns="0" rIns="0" bIns="0" rtlCol="0" anchor="t"/>
          <a:lstStyle/>
          <a:p>
            <a:pPr indent="0" marL="0">
              <a:lnSpc>
                <a:spcPts val="1400"/>
              </a:lnSpc>
              <a:buNone/>
            </a:pPr>
            <a:r>
              <a:rPr lang="en-US" sz="1050" i="1" dirty="0">
                <a:solidFill>
                  <a:srgbClr val="6E6A85"/>
                </a:solidFill>
                <a:latin typeface="Calibri" pitchFamily="34" charset="0"/>
                <a:ea typeface="Calibri" pitchFamily="34" charset="-122"/>
                <a:cs typeface="Calibri" pitchFamily="34" charset="-120"/>
              </a:rPr>
              <a:t>Everything the gateway does to HPC3 goes through one RemoteExecutor interface — implemented by the real SSH session and by an in-process MockExecutor, which is why the entire flow runs offline in tests.</a:t>
            </a:r>
            <a:endParaRPr lang="en-US" sz="1050" dirty="0"/>
          </a:p>
        </p:txBody>
      </p:sp>
      <p:sp>
        <p:nvSpPr>
          <p:cNvPr id="19" name="Text 16"/>
          <p:cNvSpPr/>
          <p:nvPr/>
        </p:nvSpPr>
        <p:spPr>
          <a:xfrm>
            <a:off x="548640" y="6382512"/>
            <a:ext cx="9144000" cy="274320"/>
          </a:xfrm>
          <a:prstGeom prst="rect">
            <a:avLst/>
          </a:prstGeom>
          <a:noFill/>
          <a:ln/>
        </p:spPr>
        <p:txBody>
          <a:bodyPr wrap="square" lIns="0" tIns="0" rIns="0" bIns="0" rtlCol="0" anchor="ctr"/>
          <a:lstStyle/>
          <a:p>
            <a:pPr indent="0" marL="0">
              <a:buNone/>
            </a:pPr>
            <a:r>
              <a:rPr lang="en-US" sz="900" dirty="0">
                <a:solidFill>
                  <a:srgbClr val="A6A2B8"/>
                </a:solidFill>
                <a:latin typeface="Calibri" pitchFamily="34" charset="0"/>
                <a:ea typeface="Calibri" pitchFamily="34" charset="-122"/>
                <a:cs typeface="Calibri" pitchFamily="34" charset="-120"/>
              </a:rPr>
              <a:t>AiScientist · Technical Specification · v0.2.0</a:t>
            </a:r>
            <a:endParaRPr lang="en-US" sz="900" dirty="0"/>
          </a:p>
        </p:txBody>
      </p:sp>
      <p:sp>
        <p:nvSpPr>
          <p:cNvPr id="20" name="Text 17"/>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A6A2B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42B"/>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211D42"/>
          </a:solidFill>
          <a:ln w="12700">
            <a:solidFill>
              <a:srgbClr val="333333"/>
            </a:solidFill>
            <a:prstDash val="solid"/>
          </a:ln>
        </p:spPr>
      </p:sp>
      <p:sp>
        <p:nvSpPr>
          <p:cNvPr id="3" name="Shape 1"/>
          <p:cNvSpPr/>
          <p:nvPr/>
        </p:nvSpPr>
        <p:spPr>
          <a:xfrm>
            <a:off x="10881360" y="4114800"/>
            <a:ext cx="2377440" cy="2377440"/>
          </a:xfrm>
          <a:prstGeom prst="ellipse">
            <a:avLst/>
          </a:prstGeom>
          <a:solidFill>
            <a:srgbClr val="1D1A38"/>
          </a:solidFill>
          <a:ln w="12700">
            <a:solidFill>
              <a:srgbClr val="333333"/>
            </a:solidFill>
            <a:prstDash val="solid"/>
          </a:ln>
        </p:spPr>
      </p:sp>
      <p:sp>
        <p:nvSpPr>
          <p:cNvPr id="4" name="Text 2"/>
          <p:cNvSpPr/>
          <p:nvPr/>
        </p:nvSpPr>
        <p:spPr>
          <a:xfrm>
            <a:off x="548640" y="2084832"/>
            <a:ext cx="1828800" cy="822960"/>
          </a:xfrm>
          <a:prstGeom prst="rect">
            <a:avLst/>
          </a:prstGeom>
          <a:noFill/>
          <a:ln/>
        </p:spPr>
        <p:txBody>
          <a:bodyPr wrap="square" lIns="0" tIns="0" rIns="0" bIns="0" rtlCol="0" anchor="ctr"/>
          <a:lstStyle/>
          <a:p>
            <a:pPr indent="0" marL="0">
              <a:buNone/>
            </a:pPr>
            <a:r>
              <a:rPr lang="en-US" sz="5800" b="1" dirty="0">
                <a:solidFill>
                  <a:srgbClr val="17B8A6"/>
                </a:solidFill>
                <a:latin typeface="Cambria" pitchFamily="34" charset="0"/>
                <a:ea typeface="Cambria" pitchFamily="34" charset="-122"/>
                <a:cs typeface="Cambria" pitchFamily="34" charset="-120"/>
              </a:rPr>
              <a:t>01</a:t>
            </a:r>
            <a:endParaRPr lang="en-US" sz="5800" dirty="0"/>
          </a:p>
        </p:txBody>
      </p:sp>
      <p:sp>
        <p:nvSpPr>
          <p:cNvPr id="5" name="Text 3"/>
          <p:cNvSpPr/>
          <p:nvPr/>
        </p:nvSpPr>
        <p:spPr>
          <a:xfrm>
            <a:off x="548640" y="2907792"/>
            <a:ext cx="8595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Job state design</a:t>
            </a:r>
            <a:endParaRPr lang="en-US" sz="3400" dirty="0"/>
          </a:p>
        </p:txBody>
      </p:sp>
      <p:sp>
        <p:nvSpPr>
          <p:cNvPr id="6" name="Text 4"/>
          <p:cNvSpPr/>
          <p:nvPr/>
        </p:nvSpPr>
        <p:spPr>
          <a:xfrm>
            <a:off x="548640" y="3712464"/>
            <a:ext cx="8229600" cy="822960"/>
          </a:xfrm>
          <a:prstGeom prst="rect">
            <a:avLst/>
          </a:prstGeom>
          <a:noFill/>
          <a:ln/>
        </p:spPr>
        <p:txBody>
          <a:bodyPr wrap="square" lIns="0" tIns="0" rIns="0" bIns="0" rtlCol="0" anchor="ctr"/>
          <a:lstStyle/>
          <a:p>
            <a:pPr indent="0" marL="0">
              <a:buNone/>
            </a:pPr>
            <a:r>
              <a:rPr lang="en-US" sz="1350" dirty="0">
                <a:solidFill>
                  <a:srgbClr val="B9B4D6"/>
                </a:solidFill>
                <a:latin typeface="Calibri" pitchFamily="34" charset="0"/>
                <a:ea typeface="Calibri" pitchFamily="34" charset="-122"/>
                <a:cs typeface="Calibri" pitchFamily="34" charset="-120"/>
              </a:rPr>
              <a:t>Seven state objects, four lifetimes, one resumable run</a:t>
            </a:r>
            <a:endParaRPr lang="en-US" sz="1350" dirty="0"/>
          </a:p>
        </p:txBody>
      </p:sp>
      <p:sp>
        <p:nvSpPr>
          <p:cNvPr id="7" name="Text 5"/>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6E6A9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10896"/>
            <a:ext cx="11091672" cy="502920"/>
          </a:xfrm>
          <a:prstGeom prst="rect">
            <a:avLst/>
          </a:prstGeom>
          <a:noFill/>
          <a:ln/>
        </p:spPr>
        <p:txBody>
          <a:bodyPr wrap="square" lIns="0" tIns="0" rIns="0" bIns="0" rtlCol="0" anchor="ctr"/>
          <a:lstStyle/>
          <a:p>
            <a:pPr algn="l" indent="0" marL="0">
              <a:buNone/>
            </a:pPr>
            <a:r>
              <a:rPr lang="en-US" sz="2700" b="1" dirty="0">
                <a:solidFill>
                  <a:srgbClr val="1E1B33"/>
                </a:solidFill>
                <a:latin typeface="Cambria" pitchFamily="34" charset="0"/>
                <a:ea typeface="Cambria" pitchFamily="34" charset="-122"/>
                <a:cs typeface="Cambria" pitchFamily="34" charset="-120"/>
              </a:rPr>
              <a:t>The state objects of one job</a:t>
            </a:r>
            <a:endParaRPr lang="en-US" sz="2700" dirty="0"/>
          </a:p>
        </p:txBody>
      </p:sp>
      <p:sp>
        <p:nvSpPr>
          <p:cNvPr id="3" name="Text 1"/>
          <p:cNvSpPr/>
          <p:nvPr/>
        </p:nvSpPr>
        <p:spPr>
          <a:xfrm>
            <a:off x="548640" y="841248"/>
            <a:ext cx="11091672" cy="329184"/>
          </a:xfrm>
          <a:prstGeom prst="rect">
            <a:avLst/>
          </a:prstGeom>
          <a:noFill/>
          <a:ln/>
        </p:spPr>
        <p:txBody>
          <a:bodyPr wrap="square" lIns="0" tIns="0" rIns="0" bIns="0" rtlCol="0" anchor="t"/>
          <a:lstStyle/>
          <a:p>
            <a:pPr algn="l" indent="0" marL="0">
              <a:buNone/>
            </a:pPr>
            <a:r>
              <a:rPr lang="en-US" sz="1200" dirty="0">
                <a:solidFill>
                  <a:srgbClr val="6E6A85"/>
                </a:solidFill>
                <a:latin typeface="Calibri" pitchFamily="34" charset="0"/>
                <a:ea typeface="Calibri" pitchFamily="34" charset="-122"/>
                <a:cs typeface="Calibri" pitchFamily="34" charset="-120"/>
              </a:rPr>
              <a:t>State is deliberately layered by LIFETIME — not stuffed into one blob</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61872"/>
          <a:ext cx="11091672" cy="914400"/>
        </p:xfrm>
        <a:graphic>
          <a:graphicData uri="http://schemas.openxmlformats.org/drawingml/2006/table">
            <a:tbl>
              <a:tblPr/>
              <a:tblGrid>
                <a:gridCol w="1691640"/>
                <a:gridCol w="5074920"/>
                <a:gridCol w="1417320"/>
                <a:gridCol w="1993392"/>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Object</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Holds</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Lifetime</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Where it lives</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r>
              <a:tr h="502920">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Connection</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SSH executor, GPU allocation, tunnel port, model, event log, subscribers, per-conversation chat memory</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one login</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gateway RAM</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502920">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RunState</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run_id, conversation_id, chat_stop event, plan_event / plan_value, engine kind</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one run</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gateway RAM</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502920">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HarnessContext</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decisions dict (dataset), workspace path, tunnel port, model — threaded into every tool</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one step</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gateway RAM</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502920">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LabRound</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round_no, step_index, step text, specialist, HarnessResult, CriticVerdict</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one step</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in LabResult</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502920">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LabResult</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question, agenda, all rounds, converged, accepted_steps, final_answer</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one run</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RAM → JSON</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502920">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run_state.json</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LabResult + guidance + dataset paths + case note — the resume record</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permanent</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artifacts/process/</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502920">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JobRecord</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job_id, kind, owner, Slurm state — written the instant sbatch returns</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until terminal</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atomic JSON registry</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502920">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Postgres rows</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User / Dataset / Run / Conversation / Message — metadata in DB, blobs on disk</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permanent</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00" dirty="0">
                          <a:solidFill>
                            <a:srgbClr val="1E1B33"/>
                          </a:solidFill>
                          <a:latin typeface="Calibri" pitchFamily="34" charset="0"/>
                          <a:ea typeface="Calibri" pitchFamily="34" charset="-122"/>
                          <a:cs typeface="Calibri" pitchFamily="34" charset="-120"/>
                        </a:rPr>
                        <a:t>eyeserver Postgres</a:t>
                      </a:r>
                      <a:endParaRPr lang="en-US" sz="9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bl>
          </a:graphicData>
        </a:graphic>
      </p:graphicFrame>
      <p:sp>
        <p:nvSpPr>
          <p:cNvPr id="5" name="Text 2"/>
          <p:cNvSpPr/>
          <p:nvPr/>
        </p:nvSpPr>
        <p:spPr>
          <a:xfrm>
            <a:off x="548640" y="5870448"/>
            <a:ext cx="11091672" cy="457200"/>
          </a:xfrm>
          <a:prstGeom prst="rect">
            <a:avLst/>
          </a:prstGeom>
          <a:noFill/>
          <a:ln/>
        </p:spPr>
        <p:txBody>
          <a:bodyPr wrap="square" lIns="0" tIns="0" rIns="0" bIns="0" rtlCol="0" anchor="ctr"/>
          <a:lstStyle/>
          <a:p>
            <a:pPr indent="0" marL="0">
              <a:buNone/>
            </a:pPr>
            <a:r>
              <a:rPr lang="en-US" sz="1000" i="1" dirty="0">
                <a:solidFill>
                  <a:srgbClr val="6E6A85"/>
                </a:solidFill>
                <a:latin typeface="Calibri" pitchFamily="34" charset="0"/>
                <a:ea typeface="Calibri" pitchFamily="34" charset="-122"/>
                <a:cs typeface="Calibri" pitchFamily="34" charset="-120"/>
              </a:rPr>
              <a:t>Checkpoints (work/adata_*.h5ad, annotated TSVs) never come back to the gateway — they accumulate in place on shared DFS so the next step's Slurm job reads them without a round trip.</a:t>
            </a:r>
            <a:endParaRPr lang="en-US" sz="1000" dirty="0"/>
          </a:p>
        </p:txBody>
      </p:sp>
      <p:sp>
        <p:nvSpPr>
          <p:cNvPr id="6" name="Text 3"/>
          <p:cNvSpPr/>
          <p:nvPr/>
        </p:nvSpPr>
        <p:spPr>
          <a:xfrm>
            <a:off x="548640" y="6382512"/>
            <a:ext cx="9144000" cy="274320"/>
          </a:xfrm>
          <a:prstGeom prst="rect">
            <a:avLst/>
          </a:prstGeom>
          <a:noFill/>
          <a:ln/>
        </p:spPr>
        <p:txBody>
          <a:bodyPr wrap="square" lIns="0" tIns="0" rIns="0" bIns="0" rtlCol="0" anchor="ctr"/>
          <a:lstStyle/>
          <a:p>
            <a:pPr indent="0" marL="0">
              <a:buNone/>
            </a:pPr>
            <a:r>
              <a:rPr lang="en-US" sz="900" dirty="0">
                <a:solidFill>
                  <a:srgbClr val="A6A2B8"/>
                </a:solidFill>
                <a:latin typeface="Calibri" pitchFamily="34" charset="0"/>
                <a:ea typeface="Calibri" pitchFamily="34" charset="-122"/>
                <a:cs typeface="Calibri" pitchFamily="34" charset="-120"/>
              </a:rPr>
              <a:t>AiScientist · Technical Specification · v0.2.0</a:t>
            </a:r>
            <a:endParaRPr lang="en-US" sz="900" dirty="0"/>
          </a:p>
        </p:txBody>
      </p:sp>
      <p:sp>
        <p:nvSpPr>
          <p:cNvPr id="7" name="Text 4"/>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A6A2B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10896"/>
            <a:ext cx="11091672" cy="502920"/>
          </a:xfrm>
          <a:prstGeom prst="rect">
            <a:avLst/>
          </a:prstGeom>
          <a:noFill/>
          <a:ln/>
        </p:spPr>
        <p:txBody>
          <a:bodyPr wrap="square" lIns="0" tIns="0" rIns="0" bIns="0" rtlCol="0" anchor="ctr"/>
          <a:lstStyle/>
          <a:p>
            <a:pPr algn="l" indent="0" marL="0">
              <a:buNone/>
            </a:pPr>
            <a:r>
              <a:rPr lang="en-US" sz="2700" b="1" dirty="0">
                <a:solidFill>
                  <a:srgbClr val="1E1B33"/>
                </a:solidFill>
                <a:latin typeface="Cambria" pitchFamily="34" charset="0"/>
                <a:ea typeface="Cambria" pitchFamily="34" charset="-122"/>
                <a:cs typeface="Cambria" pitchFamily="34" charset="-120"/>
              </a:rPr>
              <a:t>The lifecycle of one job</a:t>
            </a:r>
            <a:endParaRPr lang="en-US" sz="2700" dirty="0"/>
          </a:p>
        </p:txBody>
      </p:sp>
      <p:sp>
        <p:nvSpPr>
          <p:cNvPr id="3" name="Text 1"/>
          <p:cNvSpPr/>
          <p:nvPr/>
        </p:nvSpPr>
        <p:spPr>
          <a:xfrm>
            <a:off x="548640" y="841248"/>
            <a:ext cx="11091672" cy="329184"/>
          </a:xfrm>
          <a:prstGeom prst="rect">
            <a:avLst/>
          </a:prstGeom>
          <a:noFill/>
          <a:ln/>
        </p:spPr>
        <p:txBody>
          <a:bodyPr wrap="square" lIns="0" tIns="0" rIns="0" bIns="0" rtlCol="0" anchor="t"/>
          <a:lstStyle/>
          <a:p>
            <a:pPr algn="l" indent="0" marL="0">
              <a:buNone/>
            </a:pPr>
            <a:r>
              <a:rPr lang="en-US" sz="1200" dirty="0">
                <a:solidFill>
                  <a:srgbClr val="6E6A85"/>
                </a:solidFill>
                <a:latin typeface="Calibri" pitchFamily="34" charset="0"/>
                <a:ea typeface="Calibri" pitchFamily="34" charset="-122"/>
                <a:cs typeface="Calibri" pitchFamily="34" charset="-120"/>
              </a:rPr>
              <a:t>Two human-in-the-loop gates: the Duo push, and plan-mode review</a:t>
            </a:r>
            <a:endParaRPr lang="en-US" sz="1200" dirty="0"/>
          </a:p>
        </p:txBody>
      </p:sp>
      <p:sp>
        <p:nvSpPr>
          <p:cNvPr id="4" name="Shape 2"/>
          <p:cNvSpPr/>
          <p:nvPr/>
        </p:nvSpPr>
        <p:spPr>
          <a:xfrm>
            <a:off x="548640" y="1371600"/>
            <a:ext cx="1737360" cy="3657600"/>
          </a:xfrm>
          <a:prstGeom prst="roundRect">
            <a:avLst>
              <a:gd name="adj" fmla="val 3684"/>
            </a:avLst>
          </a:prstGeom>
          <a:solidFill>
            <a:srgbClr val="F3F2F8"/>
          </a:solidFill>
          <a:ln w="12700">
            <a:solidFill>
              <a:srgbClr val="DDDAE8"/>
            </a:solidFill>
            <a:prstDash val="solid"/>
          </a:ln>
        </p:spPr>
      </p:sp>
      <p:sp>
        <p:nvSpPr>
          <p:cNvPr id="5" name="Shape 3"/>
          <p:cNvSpPr/>
          <p:nvPr/>
        </p:nvSpPr>
        <p:spPr>
          <a:xfrm>
            <a:off x="676656" y="1517904"/>
            <a:ext cx="292608" cy="292608"/>
          </a:xfrm>
          <a:prstGeom prst="ellipse">
            <a:avLst/>
          </a:prstGeom>
          <a:solidFill>
            <a:srgbClr val="17B8A6"/>
          </a:solidFill>
          <a:ln w="12700">
            <a:solidFill>
              <a:srgbClr val="17B8A6"/>
            </a:solidFill>
            <a:prstDash val="solid"/>
          </a:ln>
        </p:spPr>
      </p:sp>
      <p:sp>
        <p:nvSpPr>
          <p:cNvPr id="6" name="Text 4"/>
          <p:cNvSpPr/>
          <p:nvPr/>
        </p:nvSpPr>
        <p:spPr>
          <a:xfrm>
            <a:off x="676656" y="151790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658368" y="1901952"/>
            <a:ext cx="1517904" cy="310896"/>
          </a:xfrm>
          <a:prstGeom prst="rect">
            <a:avLst/>
          </a:prstGeom>
          <a:noFill/>
          <a:ln/>
        </p:spPr>
        <p:txBody>
          <a:bodyPr wrap="square" lIns="0" tIns="0" rIns="0" bIns="0" rtlCol="0" anchor="ctr"/>
          <a:lstStyle/>
          <a:p>
            <a:pPr indent="0" marL="0">
              <a:buNone/>
            </a:pPr>
            <a:r>
              <a:rPr lang="en-US" sz="1250" b="1" dirty="0">
                <a:solidFill>
                  <a:srgbClr val="1E1B33"/>
                </a:solidFill>
                <a:latin typeface="Calibri" pitchFamily="34" charset="0"/>
                <a:ea typeface="Calibri" pitchFamily="34" charset="-122"/>
                <a:cs typeface="Calibri" pitchFamily="34" charset="-120"/>
              </a:rPr>
              <a:t>Connect</a:t>
            </a:r>
            <a:endParaRPr lang="en-US" sz="1250" dirty="0"/>
          </a:p>
        </p:txBody>
      </p:sp>
      <p:sp>
        <p:nvSpPr>
          <p:cNvPr id="8" name="Text 6"/>
          <p:cNvSpPr/>
          <p:nvPr/>
        </p:nvSpPr>
        <p:spPr>
          <a:xfrm>
            <a:off x="658368" y="2231136"/>
            <a:ext cx="1517904" cy="2651760"/>
          </a:xfrm>
          <a:prstGeom prst="rect">
            <a:avLst/>
          </a:prstGeom>
          <a:noFill/>
          <a:ln/>
        </p:spPr>
        <p:txBody>
          <a:bodyPr wrap="square" lIns="0" tIns="0" rIns="0" bIns="0" rtlCol="0" anchor="t"/>
          <a:lstStyle/>
          <a:p>
            <a:pPr indent="0" marL="0">
              <a:lnSpc>
                <a:spcPts val="1250"/>
              </a:lnSpc>
              <a:buNone/>
            </a:pPr>
            <a:r>
              <a:rPr lang="en-US" sz="950" dirty="0">
                <a:solidFill>
                  <a:srgbClr val="6E6A85"/>
                </a:solidFill>
                <a:latin typeface="Calibri" pitchFamily="34" charset="0"/>
                <a:ea typeface="Calibri" pitchFamily="34" charset="-122"/>
                <a:cs typeface="Calibri" pitchFamily="34" charset="-120"/>
              </a:rPr>
              <a:t>SSH + Duo, then one-shot GPU provisioning: connecting → provisioning → ready. A session is never handed back with SSH up but no model.</a:t>
            </a:r>
            <a:endParaRPr lang="en-US" sz="950" dirty="0"/>
          </a:p>
        </p:txBody>
      </p:sp>
      <p:sp>
        <p:nvSpPr>
          <p:cNvPr id="9" name="Shape 7"/>
          <p:cNvSpPr/>
          <p:nvPr/>
        </p:nvSpPr>
        <p:spPr>
          <a:xfrm>
            <a:off x="2304288" y="3200400"/>
            <a:ext cx="146304" cy="0"/>
          </a:xfrm>
          <a:prstGeom prst="line">
            <a:avLst/>
          </a:prstGeom>
          <a:noFill/>
          <a:ln w="19050">
            <a:solidFill>
              <a:srgbClr val="6E63B8"/>
            </a:solidFill>
            <a:prstDash val="solid"/>
            <a:tailEnd type="triangle"/>
          </a:ln>
        </p:spPr>
      </p:sp>
      <p:sp>
        <p:nvSpPr>
          <p:cNvPr id="10" name="Shape 8"/>
          <p:cNvSpPr/>
          <p:nvPr/>
        </p:nvSpPr>
        <p:spPr>
          <a:xfrm>
            <a:off x="2414016" y="1371600"/>
            <a:ext cx="1737360" cy="3657600"/>
          </a:xfrm>
          <a:prstGeom prst="roundRect">
            <a:avLst>
              <a:gd name="adj" fmla="val 3684"/>
            </a:avLst>
          </a:prstGeom>
          <a:solidFill>
            <a:srgbClr val="FFFFFF"/>
          </a:solidFill>
          <a:ln w="12700">
            <a:solidFill>
              <a:srgbClr val="DDDAE8"/>
            </a:solidFill>
            <a:prstDash val="solid"/>
          </a:ln>
        </p:spPr>
      </p:sp>
      <p:sp>
        <p:nvSpPr>
          <p:cNvPr id="11" name="Shape 9"/>
          <p:cNvSpPr/>
          <p:nvPr/>
        </p:nvSpPr>
        <p:spPr>
          <a:xfrm>
            <a:off x="2542032" y="1517904"/>
            <a:ext cx="292608" cy="292608"/>
          </a:xfrm>
          <a:prstGeom prst="ellipse">
            <a:avLst/>
          </a:prstGeom>
          <a:solidFill>
            <a:srgbClr val="17B8A6"/>
          </a:solidFill>
          <a:ln w="12700">
            <a:solidFill>
              <a:srgbClr val="17B8A6"/>
            </a:solidFill>
            <a:prstDash val="solid"/>
          </a:ln>
        </p:spPr>
      </p:sp>
      <p:sp>
        <p:nvSpPr>
          <p:cNvPr id="12" name="Text 10"/>
          <p:cNvSpPr/>
          <p:nvPr/>
        </p:nvSpPr>
        <p:spPr>
          <a:xfrm>
            <a:off x="2542032" y="151790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p:nvPr/>
        </p:nvSpPr>
        <p:spPr>
          <a:xfrm>
            <a:off x="2523744" y="1901952"/>
            <a:ext cx="1517904" cy="310896"/>
          </a:xfrm>
          <a:prstGeom prst="rect">
            <a:avLst/>
          </a:prstGeom>
          <a:noFill/>
          <a:ln/>
        </p:spPr>
        <p:txBody>
          <a:bodyPr wrap="square" lIns="0" tIns="0" rIns="0" bIns="0" rtlCol="0" anchor="ctr"/>
          <a:lstStyle/>
          <a:p>
            <a:pPr indent="0" marL="0">
              <a:buNone/>
            </a:pPr>
            <a:r>
              <a:rPr lang="en-US" sz="1250" b="1" dirty="0">
                <a:solidFill>
                  <a:srgbClr val="1E1B33"/>
                </a:solidFill>
                <a:latin typeface="Calibri" pitchFamily="34" charset="0"/>
                <a:ea typeface="Calibri" pitchFamily="34" charset="-122"/>
                <a:cs typeface="Calibri" pitchFamily="34" charset="-120"/>
              </a:rPr>
              <a:t>Plan</a:t>
            </a:r>
            <a:endParaRPr lang="en-US" sz="1250" dirty="0"/>
          </a:p>
        </p:txBody>
      </p:sp>
      <p:sp>
        <p:nvSpPr>
          <p:cNvPr id="14" name="Text 12"/>
          <p:cNvSpPr/>
          <p:nvPr/>
        </p:nvSpPr>
        <p:spPr>
          <a:xfrm>
            <a:off x="2523744" y="2231136"/>
            <a:ext cx="1517904" cy="2651760"/>
          </a:xfrm>
          <a:prstGeom prst="rect">
            <a:avLst/>
          </a:prstGeom>
          <a:noFill/>
          <a:ln/>
        </p:spPr>
        <p:txBody>
          <a:bodyPr wrap="square" lIns="0" tIns="0" rIns="0" bIns="0" rtlCol="0" anchor="t"/>
          <a:lstStyle/>
          <a:p>
            <a:pPr indent="0" marL="0">
              <a:lnSpc>
                <a:spcPts val="1250"/>
              </a:lnSpc>
              <a:buNone/>
            </a:pPr>
            <a:r>
              <a:rPr lang="en-US" sz="950" dirty="0">
                <a:solidFill>
                  <a:srgbClr val="6E6A85"/>
                </a:solidFill>
                <a:latin typeface="Calibri" pitchFamily="34" charset="0"/>
                <a:ea typeface="Calibri" pitchFamily="34" charset="-122"/>
                <a:cs typeface="Calibri" pitchFamily="34" charset="-120"/>
              </a:rPr>
              <a:t>The PI turns the question into an ordered agenda (≤20 steps). Plan mode pauses on plan_event until the user approves or edits it.</a:t>
            </a:r>
            <a:endParaRPr lang="en-US" sz="950" dirty="0"/>
          </a:p>
        </p:txBody>
      </p:sp>
      <p:sp>
        <p:nvSpPr>
          <p:cNvPr id="15" name="Shape 13"/>
          <p:cNvSpPr/>
          <p:nvPr/>
        </p:nvSpPr>
        <p:spPr>
          <a:xfrm>
            <a:off x="4169664" y="3200400"/>
            <a:ext cx="146304" cy="0"/>
          </a:xfrm>
          <a:prstGeom prst="line">
            <a:avLst/>
          </a:prstGeom>
          <a:noFill/>
          <a:ln w="19050">
            <a:solidFill>
              <a:srgbClr val="6E63B8"/>
            </a:solidFill>
            <a:prstDash val="solid"/>
            <a:tailEnd type="triangle"/>
          </a:ln>
        </p:spPr>
      </p:sp>
      <p:sp>
        <p:nvSpPr>
          <p:cNvPr id="16" name="Shape 14"/>
          <p:cNvSpPr/>
          <p:nvPr/>
        </p:nvSpPr>
        <p:spPr>
          <a:xfrm>
            <a:off x="4279392" y="1371600"/>
            <a:ext cx="1737360" cy="3657600"/>
          </a:xfrm>
          <a:prstGeom prst="roundRect">
            <a:avLst>
              <a:gd name="adj" fmla="val 3684"/>
            </a:avLst>
          </a:prstGeom>
          <a:solidFill>
            <a:srgbClr val="F3F2F8"/>
          </a:solidFill>
          <a:ln w="12700">
            <a:solidFill>
              <a:srgbClr val="DDDAE8"/>
            </a:solidFill>
            <a:prstDash val="solid"/>
          </a:ln>
        </p:spPr>
      </p:sp>
      <p:sp>
        <p:nvSpPr>
          <p:cNvPr id="17" name="Shape 15"/>
          <p:cNvSpPr/>
          <p:nvPr/>
        </p:nvSpPr>
        <p:spPr>
          <a:xfrm>
            <a:off x="4407408" y="1517904"/>
            <a:ext cx="292608" cy="292608"/>
          </a:xfrm>
          <a:prstGeom prst="ellipse">
            <a:avLst/>
          </a:prstGeom>
          <a:solidFill>
            <a:srgbClr val="3F3684"/>
          </a:solidFill>
          <a:ln w="12700">
            <a:solidFill>
              <a:srgbClr val="3F3684"/>
            </a:solidFill>
            <a:prstDash val="solid"/>
          </a:ln>
        </p:spPr>
      </p:sp>
      <p:sp>
        <p:nvSpPr>
          <p:cNvPr id="18" name="Text 16"/>
          <p:cNvSpPr/>
          <p:nvPr/>
        </p:nvSpPr>
        <p:spPr>
          <a:xfrm>
            <a:off x="4407408" y="151790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9" name="Text 17"/>
          <p:cNvSpPr/>
          <p:nvPr/>
        </p:nvSpPr>
        <p:spPr>
          <a:xfrm>
            <a:off x="4389120" y="1901952"/>
            <a:ext cx="1517904" cy="310896"/>
          </a:xfrm>
          <a:prstGeom prst="rect">
            <a:avLst/>
          </a:prstGeom>
          <a:noFill/>
          <a:ln/>
        </p:spPr>
        <p:txBody>
          <a:bodyPr wrap="square" lIns="0" tIns="0" rIns="0" bIns="0" rtlCol="0" anchor="ctr"/>
          <a:lstStyle/>
          <a:p>
            <a:pPr indent="0" marL="0">
              <a:buNone/>
            </a:pPr>
            <a:r>
              <a:rPr lang="en-US" sz="1250" b="1" dirty="0">
                <a:solidFill>
                  <a:srgbClr val="1E1B33"/>
                </a:solidFill>
                <a:latin typeface="Calibri" pitchFamily="34" charset="0"/>
                <a:ea typeface="Calibri" pitchFamily="34" charset="-122"/>
                <a:cs typeface="Calibri" pitchFamily="34" charset="-120"/>
              </a:rPr>
              <a:t>Execute</a:t>
            </a:r>
            <a:endParaRPr lang="en-US" sz="1250" dirty="0"/>
          </a:p>
        </p:txBody>
      </p:sp>
      <p:sp>
        <p:nvSpPr>
          <p:cNvPr id="20" name="Text 18"/>
          <p:cNvSpPr/>
          <p:nvPr/>
        </p:nvSpPr>
        <p:spPr>
          <a:xfrm>
            <a:off x="4389120" y="2231136"/>
            <a:ext cx="1517904" cy="2651760"/>
          </a:xfrm>
          <a:prstGeom prst="rect">
            <a:avLst/>
          </a:prstGeom>
          <a:noFill/>
          <a:ln/>
        </p:spPr>
        <p:txBody>
          <a:bodyPr wrap="square" lIns="0" tIns="0" rIns="0" bIns="0" rtlCol="0" anchor="t"/>
          <a:lstStyle/>
          <a:p>
            <a:pPr indent="0" marL="0">
              <a:lnSpc>
                <a:spcPts val="1250"/>
              </a:lnSpc>
              <a:buNone/>
            </a:pPr>
            <a:r>
              <a:rPr lang="en-US" sz="950" dirty="0">
                <a:solidFill>
                  <a:srgbClr val="6E6A85"/>
                </a:solidFill>
                <a:latin typeface="Calibri" pitchFamily="34" charset="0"/>
                <a:ea typeface="Calibri" pitchFamily="34" charset="-122"/>
                <a:cs typeface="Calibri" pitchFamily="34" charset="-120"/>
              </a:rPr>
              <a:t>Per step: pre-flight gate → Scientist calls tools → Critic returns accept | revise + score. A deterministic guard blocks accepting a failed tool run.</a:t>
            </a:r>
            <a:endParaRPr lang="en-US" sz="950" dirty="0"/>
          </a:p>
        </p:txBody>
      </p:sp>
      <p:sp>
        <p:nvSpPr>
          <p:cNvPr id="21" name="Shape 19"/>
          <p:cNvSpPr/>
          <p:nvPr/>
        </p:nvSpPr>
        <p:spPr>
          <a:xfrm>
            <a:off x="6035040" y="3200400"/>
            <a:ext cx="146304" cy="0"/>
          </a:xfrm>
          <a:prstGeom prst="line">
            <a:avLst/>
          </a:prstGeom>
          <a:noFill/>
          <a:ln w="19050">
            <a:solidFill>
              <a:srgbClr val="6E63B8"/>
            </a:solidFill>
            <a:prstDash val="solid"/>
            <a:tailEnd type="triangle"/>
          </a:ln>
        </p:spPr>
      </p:sp>
      <p:sp>
        <p:nvSpPr>
          <p:cNvPr id="22" name="Shape 20"/>
          <p:cNvSpPr/>
          <p:nvPr/>
        </p:nvSpPr>
        <p:spPr>
          <a:xfrm>
            <a:off x="6144768" y="1371600"/>
            <a:ext cx="1737360" cy="3657600"/>
          </a:xfrm>
          <a:prstGeom prst="roundRect">
            <a:avLst>
              <a:gd name="adj" fmla="val 3684"/>
            </a:avLst>
          </a:prstGeom>
          <a:solidFill>
            <a:srgbClr val="FFFFFF"/>
          </a:solidFill>
          <a:ln w="12700">
            <a:solidFill>
              <a:srgbClr val="DDDAE8"/>
            </a:solidFill>
            <a:prstDash val="solid"/>
          </a:ln>
        </p:spPr>
      </p:sp>
      <p:sp>
        <p:nvSpPr>
          <p:cNvPr id="23" name="Shape 21"/>
          <p:cNvSpPr/>
          <p:nvPr/>
        </p:nvSpPr>
        <p:spPr>
          <a:xfrm>
            <a:off x="6272784" y="1517904"/>
            <a:ext cx="292608" cy="292608"/>
          </a:xfrm>
          <a:prstGeom prst="ellipse">
            <a:avLst/>
          </a:prstGeom>
          <a:solidFill>
            <a:srgbClr val="3F3684"/>
          </a:solidFill>
          <a:ln w="12700">
            <a:solidFill>
              <a:srgbClr val="3F3684"/>
            </a:solidFill>
            <a:prstDash val="solid"/>
          </a:ln>
        </p:spPr>
      </p:sp>
      <p:sp>
        <p:nvSpPr>
          <p:cNvPr id="24" name="Text 22"/>
          <p:cNvSpPr/>
          <p:nvPr/>
        </p:nvSpPr>
        <p:spPr>
          <a:xfrm>
            <a:off x="6272784" y="151790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5" name="Text 23"/>
          <p:cNvSpPr/>
          <p:nvPr/>
        </p:nvSpPr>
        <p:spPr>
          <a:xfrm>
            <a:off x="6254496" y="1901952"/>
            <a:ext cx="1517904" cy="310896"/>
          </a:xfrm>
          <a:prstGeom prst="rect">
            <a:avLst/>
          </a:prstGeom>
          <a:noFill/>
          <a:ln/>
        </p:spPr>
        <p:txBody>
          <a:bodyPr wrap="square" lIns="0" tIns="0" rIns="0" bIns="0" rtlCol="0" anchor="ctr"/>
          <a:lstStyle/>
          <a:p>
            <a:pPr indent="0" marL="0">
              <a:buNone/>
            </a:pPr>
            <a:r>
              <a:rPr lang="en-US" sz="1250" b="1" dirty="0">
                <a:solidFill>
                  <a:srgbClr val="1E1B33"/>
                </a:solidFill>
                <a:latin typeface="Calibri" pitchFamily="34" charset="0"/>
                <a:ea typeface="Calibri" pitchFamily="34" charset="-122"/>
                <a:cs typeface="Calibri" pitchFamily="34" charset="-120"/>
              </a:rPr>
              <a:t>Converge</a:t>
            </a:r>
            <a:endParaRPr lang="en-US" sz="1250" dirty="0"/>
          </a:p>
        </p:txBody>
      </p:sp>
      <p:sp>
        <p:nvSpPr>
          <p:cNvPr id="26" name="Text 24"/>
          <p:cNvSpPr/>
          <p:nvPr/>
        </p:nvSpPr>
        <p:spPr>
          <a:xfrm>
            <a:off x="6254496" y="2231136"/>
            <a:ext cx="1517904" cy="2651760"/>
          </a:xfrm>
          <a:prstGeom prst="rect">
            <a:avLst/>
          </a:prstGeom>
          <a:noFill/>
          <a:ln/>
        </p:spPr>
        <p:txBody>
          <a:bodyPr wrap="square" lIns="0" tIns="0" rIns="0" bIns="0" rtlCol="0" anchor="t"/>
          <a:lstStyle/>
          <a:p>
            <a:pPr indent="0" marL="0">
              <a:lnSpc>
                <a:spcPts val="1250"/>
              </a:lnSpc>
              <a:buNone/>
            </a:pPr>
            <a:r>
              <a:rPr lang="en-US" sz="950" dirty="0">
                <a:solidFill>
                  <a:srgbClr val="6E6A85"/>
                </a:solidFill>
                <a:latin typeface="Calibri" pitchFamily="34" charset="0"/>
                <a:ea typeface="Calibri" pitchFamily="34" charset="-122"/>
                <a:cs typeface="Calibri" pitchFamily="34" charset="-120"/>
              </a:rPr>
              <a:t>Round budget derives from the agenda so every planned step runs; each step is capped at max_revisions before force-advance.</a:t>
            </a:r>
            <a:endParaRPr lang="en-US" sz="950" dirty="0"/>
          </a:p>
        </p:txBody>
      </p:sp>
      <p:sp>
        <p:nvSpPr>
          <p:cNvPr id="27" name="Shape 25"/>
          <p:cNvSpPr/>
          <p:nvPr/>
        </p:nvSpPr>
        <p:spPr>
          <a:xfrm>
            <a:off x="7900416" y="3200400"/>
            <a:ext cx="146304" cy="0"/>
          </a:xfrm>
          <a:prstGeom prst="line">
            <a:avLst/>
          </a:prstGeom>
          <a:noFill/>
          <a:ln w="19050">
            <a:solidFill>
              <a:srgbClr val="6E63B8"/>
            </a:solidFill>
            <a:prstDash val="solid"/>
            <a:tailEnd type="triangle"/>
          </a:ln>
        </p:spPr>
      </p:sp>
      <p:sp>
        <p:nvSpPr>
          <p:cNvPr id="28" name="Shape 26"/>
          <p:cNvSpPr/>
          <p:nvPr/>
        </p:nvSpPr>
        <p:spPr>
          <a:xfrm>
            <a:off x="8010144" y="1371600"/>
            <a:ext cx="1737360" cy="3657600"/>
          </a:xfrm>
          <a:prstGeom prst="roundRect">
            <a:avLst>
              <a:gd name="adj" fmla="val 3684"/>
            </a:avLst>
          </a:prstGeom>
          <a:solidFill>
            <a:srgbClr val="F3F2F8"/>
          </a:solidFill>
          <a:ln w="12700">
            <a:solidFill>
              <a:srgbClr val="DDDAE8"/>
            </a:solidFill>
            <a:prstDash val="solid"/>
          </a:ln>
        </p:spPr>
      </p:sp>
      <p:sp>
        <p:nvSpPr>
          <p:cNvPr id="29" name="Shape 27"/>
          <p:cNvSpPr/>
          <p:nvPr/>
        </p:nvSpPr>
        <p:spPr>
          <a:xfrm>
            <a:off x="8138160" y="1517904"/>
            <a:ext cx="292608" cy="292608"/>
          </a:xfrm>
          <a:prstGeom prst="ellipse">
            <a:avLst/>
          </a:prstGeom>
          <a:solidFill>
            <a:srgbClr val="D9832B"/>
          </a:solidFill>
          <a:ln w="12700">
            <a:solidFill>
              <a:srgbClr val="D9832B"/>
            </a:solidFill>
            <a:prstDash val="solid"/>
          </a:ln>
        </p:spPr>
      </p:sp>
      <p:sp>
        <p:nvSpPr>
          <p:cNvPr id="30" name="Text 28"/>
          <p:cNvSpPr/>
          <p:nvPr/>
        </p:nvSpPr>
        <p:spPr>
          <a:xfrm>
            <a:off x="8138160" y="151790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1" name="Text 29"/>
          <p:cNvSpPr/>
          <p:nvPr/>
        </p:nvSpPr>
        <p:spPr>
          <a:xfrm>
            <a:off x="8119872" y="1901952"/>
            <a:ext cx="1517904" cy="310896"/>
          </a:xfrm>
          <a:prstGeom prst="rect">
            <a:avLst/>
          </a:prstGeom>
          <a:noFill/>
          <a:ln/>
        </p:spPr>
        <p:txBody>
          <a:bodyPr wrap="square" lIns="0" tIns="0" rIns="0" bIns="0" rtlCol="0" anchor="ctr"/>
          <a:lstStyle/>
          <a:p>
            <a:pPr indent="0" marL="0">
              <a:buNone/>
            </a:pPr>
            <a:r>
              <a:rPr lang="en-US" sz="1250" b="1" dirty="0">
                <a:solidFill>
                  <a:srgbClr val="1E1B33"/>
                </a:solidFill>
                <a:latin typeface="Calibri" pitchFamily="34" charset="0"/>
                <a:ea typeface="Calibri" pitchFamily="34" charset="-122"/>
                <a:cs typeface="Calibri" pitchFamily="34" charset="-120"/>
              </a:rPr>
              <a:t>Report</a:t>
            </a:r>
            <a:endParaRPr lang="en-US" sz="1250" dirty="0"/>
          </a:p>
        </p:txBody>
      </p:sp>
      <p:sp>
        <p:nvSpPr>
          <p:cNvPr id="32" name="Text 30"/>
          <p:cNvSpPr/>
          <p:nvPr/>
        </p:nvSpPr>
        <p:spPr>
          <a:xfrm>
            <a:off x="8119872" y="2231136"/>
            <a:ext cx="1517904" cy="2651760"/>
          </a:xfrm>
          <a:prstGeom prst="rect">
            <a:avLst/>
          </a:prstGeom>
          <a:noFill/>
          <a:ln/>
        </p:spPr>
        <p:txBody>
          <a:bodyPr wrap="square" lIns="0" tIns="0" rIns="0" bIns="0" rtlCol="0" anchor="t"/>
          <a:lstStyle/>
          <a:p>
            <a:pPr indent="0" marL="0">
              <a:lnSpc>
                <a:spcPts val="1250"/>
              </a:lnSpc>
              <a:buNone/>
            </a:pPr>
            <a:r>
              <a:rPr lang="en-US" sz="950" dirty="0">
                <a:solidFill>
                  <a:srgbClr val="6E6A85"/>
                </a:solidFill>
                <a:latin typeface="Calibri" pitchFamily="34" charset="0"/>
                <a:ea typeface="Calibri" pitchFamily="34" charset="-122"/>
                <a:cs typeface="Calibri" pitchFamily="34" charset="-120"/>
              </a:rPr>
              <a:t>A deterministic, no-AI assembly (pandoc → PDF/DOCX) embeds the exact figures and tables the tools produced.</a:t>
            </a:r>
            <a:endParaRPr lang="en-US" sz="950" dirty="0"/>
          </a:p>
        </p:txBody>
      </p:sp>
      <p:sp>
        <p:nvSpPr>
          <p:cNvPr id="33" name="Shape 31"/>
          <p:cNvSpPr/>
          <p:nvPr/>
        </p:nvSpPr>
        <p:spPr>
          <a:xfrm>
            <a:off x="9765792" y="3200400"/>
            <a:ext cx="146304" cy="0"/>
          </a:xfrm>
          <a:prstGeom prst="line">
            <a:avLst/>
          </a:prstGeom>
          <a:noFill/>
          <a:ln w="19050">
            <a:solidFill>
              <a:srgbClr val="6E63B8"/>
            </a:solidFill>
            <a:prstDash val="solid"/>
            <a:tailEnd type="triangle"/>
          </a:ln>
        </p:spPr>
      </p:sp>
      <p:sp>
        <p:nvSpPr>
          <p:cNvPr id="34" name="Shape 32"/>
          <p:cNvSpPr/>
          <p:nvPr/>
        </p:nvSpPr>
        <p:spPr>
          <a:xfrm>
            <a:off x="9875520" y="1371600"/>
            <a:ext cx="1737360" cy="3657600"/>
          </a:xfrm>
          <a:prstGeom prst="roundRect">
            <a:avLst>
              <a:gd name="adj" fmla="val 3684"/>
            </a:avLst>
          </a:prstGeom>
          <a:solidFill>
            <a:srgbClr val="FFFFFF"/>
          </a:solidFill>
          <a:ln w="12700">
            <a:solidFill>
              <a:srgbClr val="DDDAE8"/>
            </a:solidFill>
            <a:prstDash val="solid"/>
          </a:ln>
        </p:spPr>
      </p:sp>
      <p:sp>
        <p:nvSpPr>
          <p:cNvPr id="35" name="Shape 33"/>
          <p:cNvSpPr/>
          <p:nvPr/>
        </p:nvSpPr>
        <p:spPr>
          <a:xfrm>
            <a:off x="10003536" y="1517904"/>
            <a:ext cx="292608" cy="292608"/>
          </a:xfrm>
          <a:prstGeom prst="ellipse">
            <a:avLst/>
          </a:prstGeom>
          <a:solidFill>
            <a:srgbClr val="D9832B"/>
          </a:solidFill>
          <a:ln w="12700">
            <a:solidFill>
              <a:srgbClr val="D9832B"/>
            </a:solidFill>
            <a:prstDash val="solid"/>
          </a:ln>
        </p:spPr>
      </p:sp>
      <p:sp>
        <p:nvSpPr>
          <p:cNvPr id="36" name="Text 34"/>
          <p:cNvSpPr/>
          <p:nvPr/>
        </p:nvSpPr>
        <p:spPr>
          <a:xfrm>
            <a:off x="10003536" y="151790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7" name="Text 35"/>
          <p:cNvSpPr/>
          <p:nvPr/>
        </p:nvSpPr>
        <p:spPr>
          <a:xfrm>
            <a:off x="9985248" y="1901952"/>
            <a:ext cx="1517904" cy="310896"/>
          </a:xfrm>
          <a:prstGeom prst="rect">
            <a:avLst/>
          </a:prstGeom>
          <a:noFill/>
          <a:ln/>
        </p:spPr>
        <p:txBody>
          <a:bodyPr wrap="square" lIns="0" tIns="0" rIns="0" bIns="0" rtlCol="0" anchor="ctr"/>
          <a:lstStyle/>
          <a:p>
            <a:pPr indent="0" marL="0">
              <a:buNone/>
            </a:pPr>
            <a:r>
              <a:rPr lang="en-US" sz="1250" b="1" dirty="0">
                <a:solidFill>
                  <a:srgbClr val="1E1B33"/>
                </a:solidFill>
                <a:latin typeface="Calibri" pitchFamily="34" charset="0"/>
                <a:ea typeface="Calibri" pitchFamily="34" charset="-122"/>
                <a:cs typeface="Calibri" pitchFamily="34" charset="-120"/>
              </a:rPr>
              <a:t>Persist</a:t>
            </a:r>
            <a:endParaRPr lang="en-US" sz="1250" dirty="0"/>
          </a:p>
        </p:txBody>
      </p:sp>
      <p:sp>
        <p:nvSpPr>
          <p:cNvPr id="38" name="Text 36"/>
          <p:cNvSpPr/>
          <p:nvPr/>
        </p:nvSpPr>
        <p:spPr>
          <a:xfrm>
            <a:off x="9985248" y="2231136"/>
            <a:ext cx="1517904" cy="2651760"/>
          </a:xfrm>
          <a:prstGeom prst="rect">
            <a:avLst/>
          </a:prstGeom>
          <a:noFill/>
          <a:ln/>
        </p:spPr>
        <p:txBody>
          <a:bodyPr wrap="square" lIns="0" tIns="0" rIns="0" bIns="0" rtlCol="0" anchor="t"/>
          <a:lstStyle/>
          <a:p>
            <a:pPr indent="0" marL="0">
              <a:lnSpc>
                <a:spcPts val="1250"/>
              </a:lnSpc>
              <a:buNone/>
            </a:pPr>
            <a:r>
              <a:rPr lang="en-US" sz="950" dirty="0">
                <a:solidFill>
                  <a:srgbClr val="6E6A85"/>
                </a:solidFill>
                <a:latin typeface="Calibri" pitchFamily="34" charset="0"/>
                <a:ea typeface="Calibri" pitchFamily="34" charset="-122"/>
                <a:cs typeface="Calibri" pitchFamily="34" charset="-120"/>
              </a:rPr>
              <a:t>run_state.json is written so the run can be resumed, or its report regenerated, without re-running the analysis.</a:t>
            </a:r>
            <a:endParaRPr lang="en-US" sz="950" dirty="0"/>
          </a:p>
        </p:txBody>
      </p:sp>
      <p:sp>
        <p:nvSpPr>
          <p:cNvPr id="39" name="Shape 37"/>
          <p:cNvSpPr/>
          <p:nvPr/>
        </p:nvSpPr>
        <p:spPr>
          <a:xfrm>
            <a:off x="548640" y="5230368"/>
            <a:ext cx="11091672" cy="877824"/>
          </a:xfrm>
          <a:prstGeom prst="roundRect">
            <a:avLst>
              <a:gd name="adj" fmla="val 7292"/>
            </a:avLst>
          </a:prstGeom>
          <a:solidFill>
            <a:srgbClr val="E9E7F3"/>
          </a:solidFill>
          <a:ln w="6350">
            <a:solidFill>
              <a:srgbClr val="E9E7F3"/>
            </a:solidFill>
            <a:prstDash val="solid"/>
          </a:ln>
        </p:spPr>
      </p:sp>
      <p:sp>
        <p:nvSpPr>
          <p:cNvPr id="40" name="Text 38"/>
          <p:cNvSpPr/>
          <p:nvPr/>
        </p:nvSpPr>
        <p:spPr>
          <a:xfrm>
            <a:off x="768096" y="5340096"/>
            <a:ext cx="10652760" cy="676656"/>
          </a:xfrm>
          <a:prstGeom prst="rect">
            <a:avLst/>
          </a:prstGeom>
          <a:noFill/>
          <a:ln/>
        </p:spPr>
        <p:txBody>
          <a:bodyPr wrap="square" lIns="0" tIns="0" rIns="0" bIns="0" rtlCol="0" anchor="t"/>
          <a:lstStyle/>
          <a:p>
            <a:pPr indent="0" marL="0">
              <a:lnSpc>
                <a:spcPts val="1400"/>
              </a:lnSpc>
              <a:buNone/>
            </a:pPr>
            <a:r>
              <a:rPr lang="en-US" sz="1050" b="1" dirty="0">
                <a:solidFill>
                  <a:srgbClr val="1E1B33"/>
                </a:solidFill>
                <a:latin typeface="Calibri" pitchFamily="34" charset="0"/>
                <a:ea typeface="Calibri" pitchFamily="34" charset="-122"/>
                <a:cs typeface="Calibri" pitchFamily="34" charset="-120"/>
              </a:rPr>
              <a:t>Resume without re-planning  </a:t>
            </a:r>
            <a:pPr indent="0" marL="0">
              <a:lnSpc>
                <a:spcPts val="1400"/>
              </a:lnSpc>
              <a:buNone/>
            </a:pPr>
            <a:r>
              <a:rPr lang="en-US" sz="1050" dirty="0">
                <a:solidFill>
                  <a:srgbClr val="6E6A85"/>
                </a:solidFill>
                <a:latin typeface="Calibri" pitchFamily="34" charset="0"/>
                <a:ea typeface="Calibri" pitchFamily="34" charset="-122"/>
                <a:cs typeface="Calibri" pitchFamily="34" charset="-120"/>
              </a:rPr>
              <a:t>ResumeState.from_run_state loads the persisted run, keeps every ACCEPTED round as a read-only finding, always re-runs the changed step, and then lets the PI evaluate which LATER steps actually depend on the change — an independent literature step is kept, a downstream DE step is re-run. Checkpoints on DFS make this cheap.</a:t>
            </a:r>
            <a:endParaRPr lang="en-US" sz="1050" dirty="0"/>
          </a:p>
        </p:txBody>
      </p:sp>
      <p:sp>
        <p:nvSpPr>
          <p:cNvPr id="41" name="Text 39"/>
          <p:cNvSpPr/>
          <p:nvPr/>
        </p:nvSpPr>
        <p:spPr>
          <a:xfrm>
            <a:off x="548640" y="6382512"/>
            <a:ext cx="9144000" cy="274320"/>
          </a:xfrm>
          <a:prstGeom prst="rect">
            <a:avLst/>
          </a:prstGeom>
          <a:noFill/>
          <a:ln/>
        </p:spPr>
        <p:txBody>
          <a:bodyPr wrap="square" lIns="0" tIns="0" rIns="0" bIns="0" rtlCol="0" anchor="ctr"/>
          <a:lstStyle/>
          <a:p>
            <a:pPr indent="0" marL="0">
              <a:buNone/>
            </a:pPr>
            <a:r>
              <a:rPr lang="en-US" sz="900" dirty="0">
                <a:solidFill>
                  <a:srgbClr val="A6A2B8"/>
                </a:solidFill>
                <a:latin typeface="Calibri" pitchFamily="34" charset="0"/>
                <a:ea typeface="Calibri" pitchFamily="34" charset="-122"/>
                <a:cs typeface="Calibri" pitchFamily="34" charset="-120"/>
              </a:rPr>
              <a:t>AiScientist · Technical Specification · v0.2.0</a:t>
            </a:r>
            <a:endParaRPr lang="en-US" sz="900" dirty="0"/>
          </a:p>
        </p:txBody>
      </p:sp>
      <p:sp>
        <p:nvSpPr>
          <p:cNvPr id="42" name="Text 40"/>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A6A2B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10896"/>
            <a:ext cx="11091672" cy="502920"/>
          </a:xfrm>
          <a:prstGeom prst="rect">
            <a:avLst/>
          </a:prstGeom>
          <a:noFill/>
          <a:ln/>
        </p:spPr>
        <p:txBody>
          <a:bodyPr wrap="square" lIns="0" tIns="0" rIns="0" bIns="0" rtlCol="0" anchor="ctr"/>
          <a:lstStyle/>
          <a:p>
            <a:pPr algn="l" indent="0" marL="0">
              <a:buNone/>
            </a:pPr>
            <a:r>
              <a:rPr lang="en-US" sz="2700" b="1" dirty="0">
                <a:solidFill>
                  <a:srgbClr val="1E1B33"/>
                </a:solidFill>
                <a:latin typeface="Cambria" pitchFamily="34" charset="0"/>
                <a:ea typeface="Cambria" pitchFamily="34" charset="-122"/>
                <a:cs typeface="Cambria" pitchFamily="34" charset="-120"/>
              </a:rPr>
              <a:t>Isolation, cancellation, durability</a:t>
            </a:r>
            <a:endParaRPr lang="en-US" sz="2700" dirty="0"/>
          </a:p>
        </p:txBody>
      </p:sp>
      <p:sp>
        <p:nvSpPr>
          <p:cNvPr id="3" name="Text 1"/>
          <p:cNvSpPr/>
          <p:nvPr/>
        </p:nvSpPr>
        <p:spPr>
          <a:xfrm>
            <a:off x="548640" y="841248"/>
            <a:ext cx="11091672" cy="329184"/>
          </a:xfrm>
          <a:prstGeom prst="rect">
            <a:avLst/>
          </a:prstGeom>
          <a:noFill/>
          <a:ln/>
        </p:spPr>
        <p:txBody>
          <a:bodyPr wrap="square" lIns="0" tIns="0" rIns="0" bIns="0" rtlCol="0" anchor="t"/>
          <a:lstStyle/>
          <a:p>
            <a:pPr algn="l" indent="0" marL="0">
              <a:buNone/>
            </a:pPr>
            <a:r>
              <a:rPr lang="en-US" sz="1200" dirty="0">
                <a:solidFill>
                  <a:srgbClr val="6E6A85"/>
                </a:solidFill>
                <a:latin typeface="Calibri" pitchFamily="34" charset="0"/>
                <a:ea typeface="Calibri" pitchFamily="34" charset="-122"/>
                <a:cs typeface="Calibri" pitchFamily="34" charset="-120"/>
              </a:rPr>
              <a:t>Why run state is per-RUN and not per-connection</a:t>
            </a:r>
            <a:endParaRPr lang="en-US" sz="1200" dirty="0"/>
          </a:p>
        </p:txBody>
      </p:sp>
      <p:sp>
        <p:nvSpPr>
          <p:cNvPr id="4" name="Shape 2"/>
          <p:cNvSpPr/>
          <p:nvPr/>
        </p:nvSpPr>
        <p:spPr>
          <a:xfrm>
            <a:off x="548640" y="1335024"/>
            <a:ext cx="3538728" cy="4114800"/>
          </a:xfrm>
          <a:prstGeom prst="roundRect">
            <a:avLst>
              <a:gd name="adj" fmla="val 1809"/>
            </a:avLst>
          </a:prstGeom>
          <a:solidFill>
            <a:srgbClr val="FFFFFF"/>
          </a:solidFill>
          <a:ln w="12700">
            <a:solidFill>
              <a:srgbClr val="DDDAE8"/>
            </a:solidFill>
            <a:prstDash val="solid"/>
          </a:ln>
        </p:spPr>
      </p:sp>
      <p:sp>
        <p:nvSpPr>
          <p:cNvPr id="5" name="Shape 3"/>
          <p:cNvSpPr/>
          <p:nvPr/>
        </p:nvSpPr>
        <p:spPr>
          <a:xfrm>
            <a:off x="548640" y="1335024"/>
            <a:ext cx="3538728" cy="457200"/>
          </a:xfrm>
          <a:prstGeom prst="roundRect">
            <a:avLst>
              <a:gd name="adj" fmla="val 14000"/>
            </a:avLst>
          </a:prstGeom>
          <a:solidFill>
            <a:srgbClr val="17B8A6"/>
          </a:solidFill>
          <a:ln w="12700">
            <a:solidFill>
              <a:srgbClr val="17B8A6"/>
            </a:solidFill>
            <a:prstDash val="solid"/>
          </a:ln>
        </p:spPr>
      </p:sp>
      <p:sp>
        <p:nvSpPr>
          <p:cNvPr id="6" name="Shape 4"/>
          <p:cNvSpPr/>
          <p:nvPr/>
        </p:nvSpPr>
        <p:spPr>
          <a:xfrm>
            <a:off x="548640" y="1627632"/>
            <a:ext cx="3538728" cy="164592"/>
          </a:xfrm>
          <a:prstGeom prst="rect">
            <a:avLst/>
          </a:prstGeom>
          <a:solidFill>
            <a:srgbClr val="17B8A6"/>
          </a:solidFill>
          <a:ln w="12700">
            <a:solidFill>
              <a:srgbClr val="17B8A6"/>
            </a:solidFill>
            <a:prstDash val="solid"/>
          </a:ln>
        </p:spPr>
      </p:sp>
      <p:sp>
        <p:nvSpPr>
          <p:cNvPr id="7" name="Text 5"/>
          <p:cNvSpPr/>
          <p:nvPr/>
        </p:nvSpPr>
        <p:spPr>
          <a:xfrm>
            <a:off x="731520" y="1371600"/>
            <a:ext cx="3172968"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Per-run isolation</a:t>
            </a:r>
            <a:endParaRPr lang="en-US" sz="1300" dirty="0"/>
          </a:p>
        </p:txBody>
      </p:sp>
      <p:sp>
        <p:nvSpPr>
          <p:cNvPr id="8" name="Text 6"/>
          <p:cNvSpPr/>
          <p:nvPr/>
        </p:nvSpPr>
        <p:spPr>
          <a:xfrm>
            <a:off x="731520" y="1956816"/>
            <a:ext cx="3172968" cy="3291840"/>
          </a:xfrm>
          <a:prstGeom prst="rect">
            <a:avLst/>
          </a:prstGeom>
          <a:noFill/>
          <a:ln/>
        </p:spPr>
        <p:txBody>
          <a:bodyPr wrap="square" lIns="0" tIns="0" rIns="0" bIns="0" rtlCol="0" anchor="t"/>
          <a:lstStyle/>
          <a:p>
            <a:pPr marL="342900" indent="-342900">
              <a:lnSpc>
                <a:spcPts val="1400"/>
              </a:lnSpc>
              <a:spcAft>
                <a:spcPts val="800"/>
              </a:spcAft>
              <a:buSzPct val="100000"/>
              <a:buChar char="•"/>
            </a:pPr>
            <a:r>
              <a:rPr lang="en-US" sz="1050" dirty="0">
                <a:solidFill>
                  <a:srgbClr val="1E1B33"/>
                </a:solidFill>
                <a:latin typeface="Calibri" pitchFamily="34" charset="0"/>
                <a:ea typeface="Calibri" pitchFamily="34" charset="-122"/>
                <a:cs typeface="Calibri" pitchFamily="34" charset="-120"/>
              </a:rPr>
              <a:t>One SSH/GPU Connection is shared across a user's windows, tabs and conversations.</a:t>
            </a:r>
            <a:endParaRPr lang="en-US" sz="1050" dirty="0"/>
          </a:p>
          <a:p>
            <a:pPr marL="342900" indent="-342900">
              <a:lnSpc>
                <a:spcPts val="1400"/>
              </a:lnSpc>
              <a:spcAft>
                <a:spcPts val="800"/>
              </a:spcAft>
              <a:buSzPct val="100000"/>
              <a:buChar char="•"/>
            </a:pPr>
            <a:r>
              <a:rPr lang="en-US" sz="1050" dirty="0">
                <a:solidFill>
                  <a:srgbClr val="1E1B33"/>
                </a:solidFill>
                <a:latin typeface="Calibri" pitchFamily="34" charset="0"/>
                <a:ea typeface="Calibri" pitchFamily="34" charset="-122"/>
                <a:cs typeface="Calibri" pitchFamily="34" charset="-120"/>
              </a:rPr>
              <a:t>Each RUN gets its own cancel + plan-review events and its own identity (run_id + conversation_id).</a:t>
            </a:r>
            <a:endParaRPr lang="en-US" sz="1050" dirty="0"/>
          </a:p>
          <a:p>
            <a:pPr marL="342900" indent="-342900">
              <a:lnSpc>
                <a:spcPts val="1400"/>
              </a:lnSpc>
              <a:spcAft>
                <a:spcPts val="800"/>
              </a:spcAft>
              <a:buSzPct val="100000"/>
              <a:buChar char="•"/>
            </a:pPr>
            <a:r>
              <a:rPr lang="en-US" sz="1050" dirty="0">
                <a:solidFill>
                  <a:srgbClr val="1E1B33"/>
                </a:solidFill>
                <a:latin typeface="Calibri" pitchFamily="34" charset="0"/>
                <a:ea typeface="Calibri" pitchFamily="34" charset="-122"/>
                <a:cs typeface="Calibri" pitchFamily="34" charset="-120"/>
              </a:rPr>
              <a:t>Every streamed WS event is tagged, so the client demuxes it into the OWNING conversation bubble.</a:t>
            </a:r>
            <a:endParaRPr lang="en-US" sz="1050" dirty="0"/>
          </a:p>
        </p:txBody>
      </p:sp>
      <p:sp>
        <p:nvSpPr>
          <p:cNvPr id="9" name="Shape 7"/>
          <p:cNvSpPr/>
          <p:nvPr/>
        </p:nvSpPr>
        <p:spPr>
          <a:xfrm>
            <a:off x="4233672" y="1335024"/>
            <a:ext cx="3538728" cy="4114800"/>
          </a:xfrm>
          <a:prstGeom prst="roundRect">
            <a:avLst>
              <a:gd name="adj" fmla="val 1809"/>
            </a:avLst>
          </a:prstGeom>
          <a:solidFill>
            <a:srgbClr val="FFFFFF"/>
          </a:solidFill>
          <a:ln w="12700">
            <a:solidFill>
              <a:srgbClr val="DDDAE8"/>
            </a:solidFill>
            <a:prstDash val="solid"/>
          </a:ln>
        </p:spPr>
      </p:sp>
      <p:sp>
        <p:nvSpPr>
          <p:cNvPr id="10" name="Shape 8"/>
          <p:cNvSpPr/>
          <p:nvPr/>
        </p:nvSpPr>
        <p:spPr>
          <a:xfrm>
            <a:off x="4233672" y="1335024"/>
            <a:ext cx="3538728" cy="457200"/>
          </a:xfrm>
          <a:prstGeom prst="roundRect">
            <a:avLst>
              <a:gd name="adj" fmla="val 14000"/>
            </a:avLst>
          </a:prstGeom>
          <a:solidFill>
            <a:srgbClr val="3F3684"/>
          </a:solidFill>
          <a:ln w="12700">
            <a:solidFill>
              <a:srgbClr val="3F3684"/>
            </a:solidFill>
            <a:prstDash val="solid"/>
          </a:ln>
        </p:spPr>
      </p:sp>
      <p:sp>
        <p:nvSpPr>
          <p:cNvPr id="11" name="Shape 9"/>
          <p:cNvSpPr/>
          <p:nvPr/>
        </p:nvSpPr>
        <p:spPr>
          <a:xfrm>
            <a:off x="4233672" y="1627632"/>
            <a:ext cx="3538728" cy="164592"/>
          </a:xfrm>
          <a:prstGeom prst="rect">
            <a:avLst/>
          </a:prstGeom>
          <a:solidFill>
            <a:srgbClr val="3F3684"/>
          </a:solidFill>
          <a:ln w="12700">
            <a:solidFill>
              <a:srgbClr val="3F3684"/>
            </a:solidFill>
            <a:prstDash val="solid"/>
          </a:ln>
        </p:spPr>
      </p:sp>
      <p:sp>
        <p:nvSpPr>
          <p:cNvPr id="12" name="Text 10"/>
          <p:cNvSpPr/>
          <p:nvPr/>
        </p:nvSpPr>
        <p:spPr>
          <a:xfrm>
            <a:off x="4416552" y="1371600"/>
            <a:ext cx="3172968"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Cancellation that actually lands</a:t>
            </a:r>
            <a:endParaRPr lang="en-US" sz="1300" dirty="0"/>
          </a:p>
        </p:txBody>
      </p:sp>
      <p:sp>
        <p:nvSpPr>
          <p:cNvPr id="13" name="Text 11"/>
          <p:cNvSpPr/>
          <p:nvPr/>
        </p:nvSpPr>
        <p:spPr>
          <a:xfrm>
            <a:off x="4416552" y="1956816"/>
            <a:ext cx="3172968" cy="3291840"/>
          </a:xfrm>
          <a:prstGeom prst="rect">
            <a:avLst/>
          </a:prstGeom>
          <a:noFill/>
          <a:ln/>
        </p:spPr>
        <p:txBody>
          <a:bodyPr wrap="square" lIns="0" tIns="0" rIns="0" bIns="0" rtlCol="0" anchor="t"/>
          <a:lstStyle/>
          <a:p>
            <a:pPr marL="342900" indent="-342900">
              <a:lnSpc>
                <a:spcPts val="1400"/>
              </a:lnSpc>
              <a:spcAft>
                <a:spcPts val="800"/>
              </a:spcAft>
              <a:buSzPct val="100000"/>
              <a:buChar char="•"/>
            </a:pPr>
            <a:r>
              <a:rPr lang="en-US" sz="1050" dirty="0">
                <a:solidFill>
                  <a:srgbClr val="1E1B33"/>
                </a:solidFill>
                <a:latin typeface="Calibri" pitchFamily="34" charset="0"/>
                <a:ea typeface="Calibri" pitchFamily="34" charset="-122"/>
                <a:cs typeface="Calibri" pitchFamily="34" charset="-120"/>
              </a:rPr>
              <a:t>Runs on one connection are serialized — /api/lab returns 409 while a run is live.</a:t>
            </a:r>
            <a:endParaRPr lang="en-US" sz="1050" dirty="0"/>
          </a:p>
          <a:p>
            <a:pPr marL="342900" indent="-342900">
              <a:lnSpc>
                <a:spcPts val="1400"/>
              </a:lnSpc>
              <a:spcAft>
                <a:spcPts val="800"/>
              </a:spcAft>
              <a:buSzPct val="100000"/>
              <a:buChar char="•"/>
            </a:pPr>
            <a:r>
              <a:rPr lang="en-US" sz="1050" dirty="0">
                <a:solidFill>
                  <a:srgbClr val="1E1B33"/>
                </a:solidFill>
                <a:latin typeface="Calibri" pitchFamily="34" charset="0"/>
                <a:ea typeface="Calibri" pitchFamily="34" charset="-122"/>
                <a:cs typeface="Calibri" pitchFamily="34" charset="-120"/>
              </a:rPr>
              <a:t>Stop sets the run's own chat_stop; streaming loops and the step callback poll it, and the in-flight Slurm job is scancel-led.</a:t>
            </a:r>
            <a:endParaRPr lang="en-US" sz="1050" dirty="0"/>
          </a:p>
          <a:p>
            <a:pPr marL="342900" indent="-342900">
              <a:lnSpc>
                <a:spcPts val="1400"/>
              </a:lnSpc>
              <a:spcAft>
                <a:spcPts val="800"/>
              </a:spcAft>
              <a:buSzPct val="100000"/>
              <a:buChar char="•"/>
            </a:pPr>
            <a:r>
              <a:rPr lang="en-US" sz="1050" dirty="0">
                <a:solidFill>
                  <a:srgbClr val="1E1B33"/>
                </a:solidFill>
                <a:latin typeface="Calibri" pitchFamily="34" charset="0"/>
                <a:ea typeface="Calibri" pitchFamily="34" charset="-122"/>
                <a:cs typeface="Calibri" pitchFamily="34" charset="-120"/>
              </a:rPr>
              <a:t>A stale approve/cancel naming a finished run resolves to a no-op instead of hitting whatever run is live now.</a:t>
            </a:r>
            <a:endParaRPr lang="en-US" sz="1050" dirty="0"/>
          </a:p>
        </p:txBody>
      </p:sp>
      <p:sp>
        <p:nvSpPr>
          <p:cNvPr id="14" name="Shape 12"/>
          <p:cNvSpPr/>
          <p:nvPr/>
        </p:nvSpPr>
        <p:spPr>
          <a:xfrm>
            <a:off x="7918704" y="1335024"/>
            <a:ext cx="3538728" cy="4114800"/>
          </a:xfrm>
          <a:prstGeom prst="roundRect">
            <a:avLst>
              <a:gd name="adj" fmla="val 1809"/>
            </a:avLst>
          </a:prstGeom>
          <a:solidFill>
            <a:srgbClr val="FFFFFF"/>
          </a:solidFill>
          <a:ln w="12700">
            <a:solidFill>
              <a:srgbClr val="DDDAE8"/>
            </a:solidFill>
            <a:prstDash val="solid"/>
          </a:ln>
        </p:spPr>
      </p:sp>
      <p:sp>
        <p:nvSpPr>
          <p:cNvPr id="15" name="Shape 13"/>
          <p:cNvSpPr/>
          <p:nvPr/>
        </p:nvSpPr>
        <p:spPr>
          <a:xfrm>
            <a:off x="7918704" y="1335024"/>
            <a:ext cx="3538728" cy="457200"/>
          </a:xfrm>
          <a:prstGeom prst="roundRect">
            <a:avLst>
              <a:gd name="adj" fmla="val 14000"/>
            </a:avLst>
          </a:prstGeom>
          <a:solidFill>
            <a:srgbClr val="D9832B"/>
          </a:solidFill>
          <a:ln w="12700">
            <a:solidFill>
              <a:srgbClr val="D9832B"/>
            </a:solidFill>
            <a:prstDash val="solid"/>
          </a:ln>
        </p:spPr>
      </p:sp>
      <p:sp>
        <p:nvSpPr>
          <p:cNvPr id="16" name="Shape 14"/>
          <p:cNvSpPr/>
          <p:nvPr/>
        </p:nvSpPr>
        <p:spPr>
          <a:xfrm>
            <a:off x="7918704" y="1627632"/>
            <a:ext cx="3538728" cy="164592"/>
          </a:xfrm>
          <a:prstGeom prst="rect">
            <a:avLst/>
          </a:prstGeom>
          <a:solidFill>
            <a:srgbClr val="D9832B"/>
          </a:solidFill>
          <a:ln w="12700">
            <a:solidFill>
              <a:srgbClr val="D9832B"/>
            </a:solidFill>
            <a:prstDash val="solid"/>
          </a:ln>
        </p:spPr>
      </p:sp>
      <p:sp>
        <p:nvSpPr>
          <p:cNvPr id="17" name="Text 15"/>
          <p:cNvSpPr/>
          <p:nvPr/>
        </p:nvSpPr>
        <p:spPr>
          <a:xfrm>
            <a:off x="8101584" y="1371600"/>
            <a:ext cx="3172968"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Surviving a restart</a:t>
            </a:r>
            <a:endParaRPr lang="en-US" sz="1300" dirty="0"/>
          </a:p>
        </p:txBody>
      </p:sp>
      <p:sp>
        <p:nvSpPr>
          <p:cNvPr id="18" name="Text 16"/>
          <p:cNvSpPr/>
          <p:nvPr/>
        </p:nvSpPr>
        <p:spPr>
          <a:xfrm>
            <a:off x="8101584" y="1956816"/>
            <a:ext cx="3172968" cy="3291840"/>
          </a:xfrm>
          <a:prstGeom prst="rect">
            <a:avLst/>
          </a:prstGeom>
          <a:noFill/>
          <a:ln/>
        </p:spPr>
        <p:txBody>
          <a:bodyPr wrap="square" lIns="0" tIns="0" rIns="0" bIns="0" rtlCol="0" anchor="t"/>
          <a:lstStyle/>
          <a:p>
            <a:pPr marL="342900" indent="-342900">
              <a:lnSpc>
                <a:spcPts val="1400"/>
              </a:lnSpc>
              <a:spcAft>
                <a:spcPts val="800"/>
              </a:spcAft>
              <a:buSzPct val="100000"/>
              <a:buChar char="•"/>
            </a:pPr>
            <a:r>
              <a:rPr lang="en-US" sz="1050" dirty="0">
                <a:solidFill>
                  <a:srgbClr val="1E1B33"/>
                </a:solidFill>
                <a:latin typeface="Calibri" pitchFamily="34" charset="0"/>
                <a:ea typeface="Calibri" pitchFamily="34" charset="-122"/>
                <a:cs typeface="Calibri" pitchFamily="34" charset="-120"/>
              </a:rPr>
              <a:t>Slurm owns the job the moment sbatch returns — the compute keeps running even if the gateway process dies.</a:t>
            </a:r>
            <a:endParaRPr lang="en-US" sz="1050" dirty="0"/>
          </a:p>
          <a:p>
            <a:pPr marL="342900" indent="-342900">
              <a:lnSpc>
                <a:spcPts val="1400"/>
              </a:lnSpc>
              <a:spcAft>
                <a:spcPts val="800"/>
              </a:spcAft>
              <a:buSzPct val="100000"/>
              <a:buChar char="•"/>
            </a:pPr>
            <a:r>
              <a:rPr lang="en-US" sz="1050" dirty="0">
                <a:solidFill>
                  <a:srgbClr val="1E1B33"/>
                </a:solidFill>
                <a:latin typeface="Calibri" pitchFamily="34" charset="0"/>
                <a:ea typeface="Calibri" pitchFamily="34" charset="-122"/>
                <a:cs typeface="Calibri" pitchFamily="34" charset="-120"/>
              </a:rPr>
              <a:t>Every submission is written to an atomic JSON registry the instant the job_id is known.</a:t>
            </a:r>
            <a:endParaRPr lang="en-US" sz="1050" dirty="0"/>
          </a:p>
          <a:p>
            <a:pPr marL="342900" indent="-342900">
              <a:lnSpc>
                <a:spcPts val="1400"/>
              </a:lnSpc>
              <a:spcAft>
                <a:spcPts val="800"/>
              </a:spcAft>
              <a:buSzPct val="100000"/>
              <a:buChar char="•"/>
            </a:pPr>
            <a:r>
              <a:rPr lang="en-US" sz="1050" dirty="0">
                <a:solidFill>
                  <a:srgbClr val="1E1B33"/>
                </a:solidFill>
                <a:latin typeface="Calibri" pitchFamily="34" charset="0"/>
                <a:ea typeface="Calibri" pitchFamily="34" charset="-122"/>
                <a:cs typeface="Calibri" pitchFamily="34" charset="-120"/>
              </a:rPr>
              <a:t>A reconnecting session looks up its still-incomplete jobs and reattaches — reattach is ownership-guarded.</a:t>
            </a:r>
            <a:endParaRPr lang="en-US" sz="1050" dirty="0"/>
          </a:p>
        </p:txBody>
      </p:sp>
      <p:sp>
        <p:nvSpPr>
          <p:cNvPr id="19" name="Text 17"/>
          <p:cNvSpPr/>
          <p:nvPr/>
        </p:nvSpPr>
        <p:spPr>
          <a:xfrm>
            <a:off x="548640" y="5623560"/>
            <a:ext cx="11091672" cy="457200"/>
          </a:xfrm>
          <a:prstGeom prst="rect">
            <a:avLst/>
          </a:prstGeom>
          <a:noFill/>
          <a:ln/>
        </p:spPr>
        <p:txBody>
          <a:bodyPr wrap="square" lIns="0" tIns="0" rIns="0" bIns="0" rtlCol="0" anchor="ctr"/>
          <a:lstStyle/>
          <a:p>
            <a:pPr indent="0" marL="0">
              <a:buNone/>
            </a:pPr>
            <a:r>
              <a:rPr lang="en-US" sz="1050" i="1" dirty="0">
                <a:solidFill>
                  <a:srgbClr val="6E6A85"/>
                </a:solidFill>
                <a:latin typeface="Calibri" pitchFamily="34" charset="0"/>
                <a:ea typeface="Calibri" pitchFamily="34" charset="-122"/>
                <a:cs typeface="Calibri" pitchFamily="34" charset="-120"/>
              </a:rPr>
              <a:t>The isolation refactor came out of a real defect: run state keyed only by connection_id produced cross-window plan leaks, cross-cancels and stale replans.</a:t>
            </a:r>
            <a:endParaRPr lang="en-US" sz="1050" dirty="0"/>
          </a:p>
        </p:txBody>
      </p:sp>
      <p:sp>
        <p:nvSpPr>
          <p:cNvPr id="20" name="Text 18"/>
          <p:cNvSpPr/>
          <p:nvPr/>
        </p:nvSpPr>
        <p:spPr>
          <a:xfrm>
            <a:off x="548640" y="6382512"/>
            <a:ext cx="9144000" cy="274320"/>
          </a:xfrm>
          <a:prstGeom prst="rect">
            <a:avLst/>
          </a:prstGeom>
          <a:noFill/>
          <a:ln/>
        </p:spPr>
        <p:txBody>
          <a:bodyPr wrap="square" lIns="0" tIns="0" rIns="0" bIns="0" rtlCol="0" anchor="ctr"/>
          <a:lstStyle/>
          <a:p>
            <a:pPr indent="0" marL="0">
              <a:buNone/>
            </a:pPr>
            <a:r>
              <a:rPr lang="en-US" sz="900" dirty="0">
                <a:solidFill>
                  <a:srgbClr val="A6A2B8"/>
                </a:solidFill>
                <a:latin typeface="Calibri" pitchFamily="34" charset="0"/>
                <a:ea typeface="Calibri" pitchFamily="34" charset="-122"/>
                <a:cs typeface="Calibri" pitchFamily="34" charset="-120"/>
              </a:rPr>
              <a:t>AiScientist · Technical Specification · v0.2.0</a:t>
            </a:r>
            <a:endParaRPr lang="en-US" sz="900" dirty="0"/>
          </a:p>
        </p:txBody>
      </p:sp>
      <p:sp>
        <p:nvSpPr>
          <p:cNvPr id="21" name="Text 19"/>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A6A2B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42B"/>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211D42"/>
          </a:solidFill>
          <a:ln w="12700">
            <a:solidFill>
              <a:srgbClr val="333333"/>
            </a:solidFill>
            <a:prstDash val="solid"/>
          </a:ln>
        </p:spPr>
      </p:sp>
      <p:sp>
        <p:nvSpPr>
          <p:cNvPr id="3" name="Shape 1"/>
          <p:cNvSpPr/>
          <p:nvPr/>
        </p:nvSpPr>
        <p:spPr>
          <a:xfrm>
            <a:off x="10881360" y="4114800"/>
            <a:ext cx="2377440" cy="2377440"/>
          </a:xfrm>
          <a:prstGeom prst="ellipse">
            <a:avLst/>
          </a:prstGeom>
          <a:solidFill>
            <a:srgbClr val="1D1A38"/>
          </a:solidFill>
          <a:ln w="12700">
            <a:solidFill>
              <a:srgbClr val="333333"/>
            </a:solidFill>
            <a:prstDash val="solid"/>
          </a:ln>
        </p:spPr>
      </p:sp>
      <p:sp>
        <p:nvSpPr>
          <p:cNvPr id="4" name="Text 2"/>
          <p:cNvSpPr/>
          <p:nvPr/>
        </p:nvSpPr>
        <p:spPr>
          <a:xfrm>
            <a:off x="548640" y="2084832"/>
            <a:ext cx="1828800" cy="822960"/>
          </a:xfrm>
          <a:prstGeom prst="rect">
            <a:avLst/>
          </a:prstGeom>
          <a:noFill/>
          <a:ln/>
        </p:spPr>
        <p:txBody>
          <a:bodyPr wrap="square" lIns="0" tIns="0" rIns="0" bIns="0" rtlCol="0" anchor="ctr"/>
          <a:lstStyle/>
          <a:p>
            <a:pPr indent="0" marL="0">
              <a:buNone/>
            </a:pPr>
            <a:r>
              <a:rPr lang="en-US" sz="5800" b="1" dirty="0">
                <a:solidFill>
                  <a:srgbClr val="17B8A6"/>
                </a:solidFill>
                <a:latin typeface="Cambria" pitchFamily="34" charset="0"/>
                <a:ea typeface="Cambria" pitchFamily="34" charset="-122"/>
                <a:cs typeface="Cambria" pitchFamily="34" charset="-120"/>
              </a:rPr>
              <a:t>02</a:t>
            </a:r>
            <a:endParaRPr lang="en-US" sz="5800" dirty="0"/>
          </a:p>
        </p:txBody>
      </p:sp>
      <p:sp>
        <p:nvSpPr>
          <p:cNvPr id="5" name="Text 3"/>
          <p:cNvSpPr/>
          <p:nvPr/>
        </p:nvSpPr>
        <p:spPr>
          <a:xfrm>
            <a:off x="548640" y="2907792"/>
            <a:ext cx="8595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Context management</a:t>
            </a:r>
            <a:endParaRPr lang="en-US" sz="3400" dirty="0"/>
          </a:p>
        </p:txBody>
      </p:sp>
      <p:sp>
        <p:nvSpPr>
          <p:cNvPr id="6" name="Text 4"/>
          <p:cNvSpPr/>
          <p:nvPr/>
        </p:nvSpPr>
        <p:spPr>
          <a:xfrm>
            <a:off x="548640" y="3712464"/>
            <a:ext cx="8229600" cy="822960"/>
          </a:xfrm>
          <a:prstGeom prst="rect">
            <a:avLst/>
          </a:prstGeom>
          <a:noFill/>
          <a:ln/>
        </p:spPr>
        <p:txBody>
          <a:bodyPr wrap="square" lIns="0" tIns="0" rIns="0" bIns="0" rtlCol="0" anchor="ctr"/>
          <a:lstStyle/>
          <a:p>
            <a:pPr indent="0" marL="0">
              <a:buNone/>
            </a:pPr>
            <a:r>
              <a:rPr lang="en-US" sz="1350" dirty="0">
                <a:solidFill>
                  <a:srgbClr val="B9B4D6"/>
                </a:solidFill>
                <a:latin typeface="Calibri" pitchFamily="34" charset="0"/>
                <a:ea typeface="Calibri" pitchFamily="34" charset="-122"/>
                <a:cs typeface="Calibri" pitchFamily="34" charset="-120"/>
              </a:rPr>
              <a:t>Two paths, one budget discipline, total degradation</a:t>
            </a:r>
            <a:endParaRPr lang="en-US" sz="1350" dirty="0"/>
          </a:p>
        </p:txBody>
      </p:sp>
      <p:sp>
        <p:nvSpPr>
          <p:cNvPr id="7" name="Text 5"/>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6E6A9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10896"/>
            <a:ext cx="11091672" cy="502920"/>
          </a:xfrm>
          <a:prstGeom prst="rect">
            <a:avLst/>
          </a:prstGeom>
          <a:noFill/>
          <a:ln/>
        </p:spPr>
        <p:txBody>
          <a:bodyPr wrap="square" lIns="0" tIns="0" rIns="0" bIns="0" rtlCol="0" anchor="ctr"/>
          <a:lstStyle/>
          <a:p>
            <a:pPr algn="l" indent="0" marL="0">
              <a:buNone/>
            </a:pPr>
            <a:r>
              <a:rPr lang="en-US" sz="2700" b="1" dirty="0">
                <a:solidFill>
                  <a:srgbClr val="1E1B33"/>
                </a:solidFill>
                <a:latin typeface="Cambria" pitchFamily="34" charset="0"/>
                <a:ea typeface="Cambria" pitchFamily="34" charset="-122"/>
                <a:cs typeface="Cambria" pitchFamily="34" charset="-120"/>
              </a:rPr>
              <a:t>Two context paths, one estimator</a:t>
            </a:r>
            <a:endParaRPr lang="en-US" sz="2700" dirty="0"/>
          </a:p>
        </p:txBody>
      </p:sp>
      <p:sp>
        <p:nvSpPr>
          <p:cNvPr id="3" name="Text 1"/>
          <p:cNvSpPr/>
          <p:nvPr/>
        </p:nvSpPr>
        <p:spPr>
          <a:xfrm>
            <a:off x="548640" y="841248"/>
            <a:ext cx="11091672" cy="329184"/>
          </a:xfrm>
          <a:prstGeom prst="rect">
            <a:avLst/>
          </a:prstGeom>
          <a:noFill/>
          <a:ln/>
        </p:spPr>
        <p:txBody>
          <a:bodyPr wrap="square" lIns="0" tIns="0" rIns="0" bIns="0" rtlCol="0" anchor="t"/>
          <a:lstStyle/>
          <a:p>
            <a:pPr algn="l" indent="0" marL="0">
              <a:buNone/>
            </a:pPr>
            <a:r>
              <a:rPr lang="en-US" sz="1200" dirty="0">
                <a:solidFill>
                  <a:srgbClr val="6E6A85"/>
                </a:solidFill>
                <a:latin typeface="Calibri" pitchFamily="34" charset="0"/>
                <a:ea typeface="Calibri" pitchFamily="34" charset="-122"/>
                <a:cs typeface="Calibri" pitchFamily="34" charset="-120"/>
              </a:rPr>
              <a:t>A research step can afford prefill latency; a chat turn cannot</a:t>
            </a:r>
            <a:endParaRPr lang="en-US" sz="1200" dirty="0"/>
          </a:p>
        </p:txBody>
      </p:sp>
      <p:sp>
        <p:nvSpPr>
          <p:cNvPr id="4" name="Shape 2"/>
          <p:cNvSpPr/>
          <p:nvPr/>
        </p:nvSpPr>
        <p:spPr>
          <a:xfrm>
            <a:off x="548640" y="1316736"/>
            <a:ext cx="5468112" cy="4160520"/>
          </a:xfrm>
          <a:prstGeom prst="roundRect">
            <a:avLst>
              <a:gd name="adj" fmla="val 1538"/>
            </a:avLst>
          </a:prstGeom>
          <a:solidFill>
            <a:srgbClr val="FFFFFF"/>
          </a:solidFill>
          <a:ln w="12700">
            <a:solidFill>
              <a:srgbClr val="DDDAE8"/>
            </a:solidFill>
            <a:prstDash val="solid"/>
          </a:ln>
        </p:spPr>
      </p:sp>
      <p:sp>
        <p:nvSpPr>
          <p:cNvPr id="5" name="Shape 3"/>
          <p:cNvSpPr/>
          <p:nvPr/>
        </p:nvSpPr>
        <p:spPr>
          <a:xfrm>
            <a:off x="548640" y="1316736"/>
            <a:ext cx="5468112" cy="457200"/>
          </a:xfrm>
          <a:prstGeom prst="roundRect">
            <a:avLst>
              <a:gd name="adj" fmla="val 14000"/>
            </a:avLst>
          </a:prstGeom>
          <a:solidFill>
            <a:srgbClr val="3F3684"/>
          </a:solidFill>
          <a:ln w="12700">
            <a:solidFill>
              <a:srgbClr val="3F3684"/>
            </a:solidFill>
            <a:prstDash val="solid"/>
          </a:ln>
        </p:spPr>
      </p:sp>
      <p:sp>
        <p:nvSpPr>
          <p:cNvPr id="6" name="Shape 4"/>
          <p:cNvSpPr/>
          <p:nvPr/>
        </p:nvSpPr>
        <p:spPr>
          <a:xfrm>
            <a:off x="548640" y="1609344"/>
            <a:ext cx="5468112" cy="164592"/>
          </a:xfrm>
          <a:prstGeom prst="rect">
            <a:avLst/>
          </a:prstGeom>
          <a:solidFill>
            <a:srgbClr val="3F3684"/>
          </a:solidFill>
          <a:ln w="12700">
            <a:solidFill>
              <a:srgbClr val="3F3684"/>
            </a:solidFill>
            <a:prstDash val="solid"/>
          </a:ln>
        </p:spPr>
      </p:sp>
      <p:sp>
        <p:nvSpPr>
          <p:cNvPr id="7" name="Text 5"/>
          <p:cNvSpPr/>
          <p:nvPr/>
        </p:nvSpPr>
        <p:spPr>
          <a:xfrm>
            <a:off x="749808" y="1353312"/>
            <a:ext cx="5065776"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Research path — research_harness</a:t>
            </a:r>
            <a:endParaRPr lang="en-US" sz="1300" dirty="0"/>
          </a:p>
        </p:txBody>
      </p:sp>
      <p:sp>
        <p:nvSpPr>
          <p:cNvPr id="8" name="Text 6"/>
          <p:cNvSpPr/>
          <p:nvPr/>
        </p:nvSpPr>
        <p:spPr>
          <a:xfrm>
            <a:off x="749808" y="1920240"/>
            <a:ext cx="1417320" cy="822960"/>
          </a:xfrm>
          <a:prstGeom prst="rect">
            <a:avLst/>
          </a:prstGeom>
          <a:noFill/>
          <a:ln/>
        </p:spPr>
        <p:txBody>
          <a:bodyPr wrap="square" lIns="0" tIns="0" rIns="0" bIns="0" rtlCol="0" anchor="t"/>
          <a:lstStyle/>
          <a:p>
            <a:pPr indent="0" marL="0">
              <a:buNone/>
            </a:pPr>
            <a:r>
              <a:rPr lang="en-US" sz="1000" b="1" dirty="0">
                <a:solidFill>
                  <a:srgbClr val="3F3684"/>
                </a:solidFill>
                <a:latin typeface="Calibri" pitchFamily="34" charset="0"/>
                <a:ea typeface="Calibri" pitchFamily="34" charset="-122"/>
                <a:cs typeface="Calibri" pitchFamily="34" charset="-120"/>
              </a:rPr>
              <a:t>Prompt shape</a:t>
            </a:r>
            <a:endParaRPr lang="en-US" sz="1000" dirty="0"/>
          </a:p>
        </p:txBody>
      </p:sp>
      <p:sp>
        <p:nvSpPr>
          <p:cNvPr id="9" name="Text 7"/>
          <p:cNvSpPr/>
          <p:nvPr/>
        </p:nvSpPr>
        <p:spPr>
          <a:xfrm>
            <a:off x="2212848" y="1920240"/>
            <a:ext cx="3602736" cy="841248"/>
          </a:xfrm>
          <a:prstGeom prst="rect">
            <a:avLst/>
          </a:prstGeom>
          <a:noFill/>
          <a:ln/>
        </p:spPr>
        <p:txBody>
          <a:bodyPr wrap="square" lIns="0" tIns="0" rIns="0" bIns="0" rtlCol="0" anchor="t"/>
          <a:lstStyle/>
          <a:p>
            <a:pPr indent="0" marL="0">
              <a:lnSpc>
                <a:spcPts val="1250"/>
              </a:lnSpc>
              <a:buNone/>
            </a:pPr>
            <a:r>
              <a:rPr lang="en-US" sz="980" dirty="0">
                <a:solidFill>
                  <a:srgbClr val="1E1B33"/>
                </a:solidFill>
                <a:latin typeface="Calibri" pitchFamily="34" charset="0"/>
                <a:ea typeface="Calibri" pitchFamily="34" charset="-122"/>
                <a:cs typeface="Calibri" pitchFamily="34" charset="-120"/>
              </a:rPr>
              <a:t>system + tool schemas + running tool-call transcript</a:t>
            </a:r>
            <a:endParaRPr lang="en-US" sz="980" dirty="0"/>
          </a:p>
        </p:txBody>
      </p:sp>
      <p:sp>
        <p:nvSpPr>
          <p:cNvPr id="10" name="Text 8"/>
          <p:cNvSpPr/>
          <p:nvPr/>
        </p:nvSpPr>
        <p:spPr>
          <a:xfrm>
            <a:off x="749808" y="2816352"/>
            <a:ext cx="1417320" cy="822960"/>
          </a:xfrm>
          <a:prstGeom prst="rect">
            <a:avLst/>
          </a:prstGeom>
          <a:noFill/>
          <a:ln/>
        </p:spPr>
        <p:txBody>
          <a:bodyPr wrap="square" lIns="0" tIns="0" rIns="0" bIns="0" rtlCol="0" anchor="t"/>
          <a:lstStyle/>
          <a:p>
            <a:pPr indent="0" marL="0">
              <a:buNone/>
            </a:pPr>
            <a:r>
              <a:rPr lang="en-US" sz="1000" b="1" dirty="0">
                <a:solidFill>
                  <a:srgbClr val="3F3684"/>
                </a:solidFill>
                <a:latin typeface="Calibri" pitchFamily="34" charset="0"/>
                <a:ea typeface="Calibri" pitchFamily="34" charset="-122"/>
                <a:cs typeface="Calibri" pitchFamily="34" charset="-120"/>
              </a:rPr>
              <a:t>Budget</a:t>
            </a:r>
            <a:endParaRPr lang="en-US" sz="1000" dirty="0"/>
          </a:p>
        </p:txBody>
      </p:sp>
      <p:sp>
        <p:nvSpPr>
          <p:cNvPr id="11" name="Text 9"/>
          <p:cNvSpPr/>
          <p:nvPr/>
        </p:nvSpPr>
        <p:spPr>
          <a:xfrm>
            <a:off x="2212848" y="2816352"/>
            <a:ext cx="3602736" cy="841248"/>
          </a:xfrm>
          <a:prstGeom prst="rect">
            <a:avLst/>
          </a:prstGeom>
          <a:noFill/>
          <a:ln/>
        </p:spPr>
        <p:txBody>
          <a:bodyPr wrap="square" lIns="0" tIns="0" rIns="0" bIns="0" rtlCol="0" anchor="t"/>
          <a:lstStyle/>
          <a:p>
            <a:pPr indent="0" marL="0">
              <a:lnSpc>
                <a:spcPts val="1250"/>
              </a:lnSpc>
              <a:buNone/>
            </a:pPr>
            <a:r>
              <a:rPr lang="en-US" sz="980" dirty="0">
                <a:solidFill>
                  <a:srgbClr val="1E1B33"/>
                </a:solidFill>
                <a:latin typeface="Calibri" pitchFamily="34" charset="0"/>
                <a:ea typeface="Calibri" pitchFamily="34" charset="-122"/>
                <a:cs typeface="Calibri" pitchFamily="34" charset="-120"/>
              </a:rPr>
              <a:t>the FULL served window (BIOAGENT_VLLM_MAX_MODEL_LEN, 131072 in prod) − 2048 output reserve − 2048 safety margin</a:t>
            </a:r>
            <a:endParaRPr lang="en-US" sz="980" dirty="0"/>
          </a:p>
        </p:txBody>
      </p:sp>
      <p:sp>
        <p:nvSpPr>
          <p:cNvPr id="12" name="Text 10"/>
          <p:cNvSpPr/>
          <p:nvPr/>
        </p:nvSpPr>
        <p:spPr>
          <a:xfrm>
            <a:off x="749808" y="3712464"/>
            <a:ext cx="1417320" cy="822960"/>
          </a:xfrm>
          <a:prstGeom prst="rect">
            <a:avLst/>
          </a:prstGeom>
          <a:noFill/>
          <a:ln/>
        </p:spPr>
        <p:txBody>
          <a:bodyPr wrap="square" lIns="0" tIns="0" rIns="0" bIns="0" rtlCol="0" anchor="t"/>
          <a:lstStyle/>
          <a:p>
            <a:pPr indent="0" marL="0">
              <a:buNone/>
            </a:pPr>
            <a:r>
              <a:rPr lang="en-US" sz="1000" b="1" dirty="0">
                <a:solidFill>
                  <a:srgbClr val="3F3684"/>
                </a:solidFill>
                <a:latin typeface="Calibri" pitchFamily="34" charset="0"/>
                <a:ea typeface="Calibri" pitchFamily="34" charset="-122"/>
                <a:cs typeface="Calibri" pitchFamily="34" charset="-120"/>
              </a:rPr>
              <a:t>Counting</a:t>
            </a:r>
            <a:endParaRPr lang="en-US" sz="1000" dirty="0"/>
          </a:p>
        </p:txBody>
      </p:sp>
      <p:sp>
        <p:nvSpPr>
          <p:cNvPr id="13" name="Text 11"/>
          <p:cNvSpPr/>
          <p:nvPr/>
        </p:nvSpPr>
        <p:spPr>
          <a:xfrm>
            <a:off x="2212848" y="3712464"/>
            <a:ext cx="3602736" cy="841248"/>
          </a:xfrm>
          <a:prstGeom prst="rect">
            <a:avLst/>
          </a:prstGeom>
          <a:noFill/>
          <a:ln/>
        </p:spPr>
        <p:txBody>
          <a:bodyPr wrap="square" lIns="0" tIns="0" rIns="0" bIns="0" rtlCol="0" anchor="t"/>
          <a:lstStyle/>
          <a:p>
            <a:pPr indent="0" marL="0">
              <a:lnSpc>
                <a:spcPts val="1250"/>
              </a:lnSpc>
              <a:buNone/>
            </a:pPr>
            <a:r>
              <a:rPr lang="en-US" sz="980" dirty="0">
                <a:solidFill>
                  <a:srgbClr val="1E1B33"/>
                </a:solidFill>
                <a:latin typeface="Calibri" pitchFamily="34" charset="0"/>
                <a:ea typeface="Calibri" pitchFamily="34" charset="-122"/>
                <a:cs typeface="Calibri" pitchFamily="34" charset="-120"/>
              </a:rPr>
              <a:t>exact count from vLLM /tokenize on the GPU node when available; else a char heuristic at 2.6 chars/token — deliberately an OVERCOUNT</a:t>
            </a:r>
            <a:endParaRPr lang="en-US" sz="980" dirty="0"/>
          </a:p>
        </p:txBody>
      </p:sp>
      <p:sp>
        <p:nvSpPr>
          <p:cNvPr id="14" name="Text 12"/>
          <p:cNvSpPr/>
          <p:nvPr/>
        </p:nvSpPr>
        <p:spPr>
          <a:xfrm>
            <a:off x="749808" y="4608576"/>
            <a:ext cx="1417320" cy="822960"/>
          </a:xfrm>
          <a:prstGeom prst="rect">
            <a:avLst/>
          </a:prstGeom>
          <a:noFill/>
          <a:ln/>
        </p:spPr>
        <p:txBody>
          <a:bodyPr wrap="square" lIns="0" tIns="0" rIns="0" bIns="0" rtlCol="0" anchor="t"/>
          <a:lstStyle/>
          <a:p>
            <a:pPr indent="0" marL="0">
              <a:buNone/>
            </a:pPr>
            <a:r>
              <a:rPr lang="en-US" sz="1000" b="1" dirty="0">
                <a:solidFill>
                  <a:srgbClr val="3F3684"/>
                </a:solidFill>
                <a:latin typeface="Calibri" pitchFamily="34" charset="0"/>
                <a:ea typeface="Calibri" pitchFamily="34" charset="-122"/>
                <a:cs typeface="Calibri" pitchFamily="34" charset="-120"/>
              </a:rPr>
              <a:t>Overflow</a:t>
            </a:r>
            <a:endParaRPr lang="en-US" sz="1000" dirty="0"/>
          </a:p>
        </p:txBody>
      </p:sp>
      <p:sp>
        <p:nvSpPr>
          <p:cNvPr id="15" name="Text 13"/>
          <p:cNvSpPr/>
          <p:nvPr/>
        </p:nvSpPr>
        <p:spPr>
          <a:xfrm>
            <a:off x="2212848" y="4608576"/>
            <a:ext cx="3602736" cy="841248"/>
          </a:xfrm>
          <a:prstGeom prst="rect">
            <a:avLst/>
          </a:prstGeom>
          <a:noFill/>
          <a:ln/>
        </p:spPr>
        <p:txBody>
          <a:bodyPr wrap="square" lIns="0" tIns="0" rIns="0" bIns="0" rtlCol="0" anchor="t"/>
          <a:lstStyle/>
          <a:p>
            <a:pPr indent="0" marL="0">
              <a:lnSpc>
                <a:spcPts val="1250"/>
              </a:lnSpc>
              <a:buNone/>
            </a:pPr>
            <a:r>
              <a:rPr lang="en-US" sz="980" dirty="0">
                <a:solidFill>
                  <a:srgbClr val="1E1B33"/>
                </a:solidFill>
                <a:latin typeface="Calibri" pitchFamily="34" charset="0"/>
                <a:ea typeface="Calibri" pitchFamily="34" charset="-122"/>
                <a:cs typeface="Calibri" pitchFamily="34" charset="-120"/>
              </a:rPr>
              <a:t>reactive self-compaction: when vLLM returns an HTTP 400 for context length, re-trim with +3072 extra reserve and retry, up to 3 times</a:t>
            </a:r>
            <a:endParaRPr lang="en-US" sz="980" dirty="0"/>
          </a:p>
        </p:txBody>
      </p:sp>
      <p:sp>
        <p:nvSpPr>
          <p:cNvPr id="16" name="Shape 14"/>
          <p:cNvSpPr/>
          <p:nvPr/>
        </p:nvSpPr>
        <p:spPr>
          <a:xfrm>
            <a:off x="6172200" y="1316736"/>
            <a:ext cx="5468112" cy="4160520"/>
          </a:xfrm>
          <a:prstGeom prst="roundRect">
            <a:avLst>
              <a:gd name="adj" fmla="val 1538"/>
            </a:avLst>
          </a:prstGeom>
          <a:solidFill>
            <a:srgbClr val="FFFFFF"/>
          </a:solidFill>
          <a:ln w="12700">
            <a:solidFill>
              <a:srgbClr val="DDDAE8"/>
            </a:solidFill>
            <a:prstDash val="solid"/>
          </a:ln>
        </p:spPr>
      </p:sp>
      <p:sp>
        <p:nvSpPr>
          <p:cNvPr id="17" name="Shape 15"/>
          <p:cNvSpPr/>
          <p:nvPr/>
        </p:nvSpPr>
        <p:spPr>
          <a:xfrm>
            <a:off x="6172200" y="1316736"/>
            <a:ext cx="5468112" cy="457200"/>
          </a:xfrm>
          <a:prstGeom prst="roundRect">
            <a:avLst>
              <a:gd name="adj" fmla="val 14000"/>
            </a:avLst>
          </a:prstGeom>
          <a:solidFill>
            <a:srgbClr val="17B8A6"/>
          </a:solidFill>
          <a:ln w="12700">
            <a:solidFill>
              <a:srgbClr val="17B8A6"/>
            </a:solidFill>
            <a:prstDash val="solid"/>
          </a:ln>
        </p:spPr>
      </p:sp>
      <p:sp>
        <p:nvSpPr>
          <p:cNvPr id="18" name="Shape 16"/>
          <p:cNvSpPr/>
          <p:nvPr/>
        </p:nvSpPr>
        <p:spPr>
          <a:xfrm>
            <a:off x="6172200" y="1609344"/>
            <a:ext cx="5468112" cy="164592"/>
          </a:xfrm>
          <a:prstGeom prst="rect">
            <a:avLst/>
          </a:prstGeom>
          <a:solidFill>
            <a:srgbClr val="17B8A6"/>
          </a:solidFill>
          <a:ln w="12700">
            <a:solidFill>
              <a:srgbClr val="17B8A6"/>
            </a:solidFill>
            <a:prstDash val="solid"/>
          </a:ln>
        </p:spPr>
      </p:sp>
      <p:sp>
        <p:nvSpPr>
          <p:cNvPr id="19" name="Text 17"/>
          <p:cNvSpPr/>
          <p:nvPr/>
        </p:nvSpPr>
        <p:spPr>
          <a:xfrm>
            <a:off x="6373368" y="1353312"/>
            <a:ext cx="5065776"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Fast chat path — chat_context</a:t>
            </a:r>
            <a:endParaRPr lang="en-US" sz="1300" dirty="0"/>
          </a:p>
        </p:txBody>
      </p:sp>
      <p:sp>
        <p:nvSpPr>
          <p:cNvPr id="20" name="Text 18"/>
          <p:cNvSpPr/>
          <p:nvPr/>
        </p:nvSpPr>
        <p:spPr>
          <a:xfrm>
            <a:off x="6373368" y="1920240"/>
            <a:ext cx="1417320" cy="822960"/>
          </a:xfrm>
          <a:prstGeom prst="rect">
            <a:avLst/>
          </a:prstGeom>
          <a:noFill/>
          <a:ln/>
        </p:spPr>
        <p:txBody>
          <a:bodyPr wrap="square" lIns="0" tIns="0" rIns="0" bIns="0" rtlCol="0" anchor="t"/>
          <a:lstStyle/>
          <a:p>
            <a:pPr indent="0" marL="0">
              <a:buNone/>
            </a:pPr>
            <a:r>
              <a:rPr lang="en-US" sz="1000" b="1" dirty="0">
                <a:solidFill>
                  <a:srgbClr val="0E8577"/>
                </a:solidFill>
                <a:latin typeface="Calibri" pitchFamily="34" charset="0"/>
                <a:ea typeface="Calibri" pitchFamily="34" charset="-122"/>
                <a:cs typeface="Calibri" pitchFamily="34" charset="-120"/>
              </a:rPr>
              <a:t>Prompt shape</a:t>
            </a:r>
            <a:endParaRPr lang="en-US" sz="1000" dirty="0"/>
          </a:p>
        </p:txBody>
      </p:sp>
      <p:sp>
        <p:nvSpPr>
          <p:cNvPr id="21" name="Text 19"/>
          <p:cNvSpPr/>
          <p:nvPr/>
        </p:nvSpPr>
        <p:spPr>
          <a:xfrm>
            <a:off x="7836408" y="1920240"/>
            <a:ext cx="3602736" cy="841248"/>
          </a:xfrm>
          <a:prstGeom prst="rect">
            <a:avLst/>
          </a:prstGeom>
          <a:noFill/>
          <a:ln/>
        </p:spPr>
        <p:txBody>
          <a:bodyPr wrap="square" lIns="0" tIns="0" rIns="0" bIns="0" rtlCol="0" anchor="t"/>
          <a:lstStyle/>
          <a:p>
            <a:pPr indent="0" marL="0">
              <a:lnSpc>
                <a:spcPts val="1250"/>
              </a:lnSpc>
              <a:buNone/>
            </a:pPr>
            <a:r>
              <a:rPr lang="en-US" sz="980" dirty="0">
                <a:solidFill>
                  <a:srgbClr val="1E1B33"/>
                </a:solidFill>
                <a:latin typeface="Calibri" pitchFamily="34" charset="0"/>
                <a:ea typeface="Calibri" pitchFamily="34" charset="-122"/>
                <a:cs typeface="Calibri" pitchFamily="34" charset="-120"/>
              </a:rPr>
              <a:t>system + rolling summary of older turns + last 6 exchanges VERBATIM + question</a:t>
            </a:r>
            <a:endParaRPr lang="en-US" sz="980" dirty="0"/>
          </a:p>
        </p:txBody>
      </p:sp>
      <p:sp>
        <p:nvSpPr>
          <p:cNvPr id="22" name="Text 20"/>
          <p:cNvSpPr/>
          <p:nvPr/>
        </p:nvSpPr>
        <p:spPr>
          <a:xfrm>
            <a:off x="6373368" y="2816352"/>
            <a:ext cx="1417320" cy="822960"/>
          </a:xfrm>
          <a:prstGeom prst="rect">
            <a:avLst/>
          </a:prstGeom>
          <a:noFill/>
          <a:ln/>
        </p:spPr>
        <p:txBody>
          <a:bodyPr wrap="square" lIns="0" tIns="0" rIns="0" bIns="0" rtlCol="0" anchor="t"/>
          <a:lstStyle/>
          <a:p>
            <a:pPr indent="0" marL="0">
              <a:buNone/>
            </a:pPr>
            <a:r>
              <a:rPr lang="en-US" sz="1000" b="1" dirty="0">
                <a:solidFill>
                  <a:srgbClr val="0E8577"/>
                </a:solidFill>
                <a:latin typeface="Calibri" pitchFamily="34" charset="0"/>
                <a:ea typeface="Calibri" pitchFamily="34" charset="-122"/>
                <a:cs typeface="Calibri" pitchFamily="34" charset="-120"/>
              </a:rPr>
              <a:t>Budget</a:t>
            </a:r>
            <a:endParaRPr lang="en-US" sz="1000" dirty="0"/>
          </a:p>
        </p:txBody>
      </p:sp>
      <p:sp>
        <p:nvSpPr>
          <p:cNvPr id="23" name="Text 21"/>
          <p:cNvSpPr/>
          <p:nvPr/>
        </p:nvSpPr>
        <p:spPr>
          <a:xfrm>
            <a:off x="7836408" y="2816352"/>
            <a:ext cx="3602736" cy="841248"/>
          </a:xfrm>
          <a:prstGeom prst="rect">
            <a:avLst/>
          </a:prstGeom>
          <a:noFill/>
          <a:ln/>
        </p:spPr>
        <p:txBody>
          <a:bodyPr wrap="square" lIns="0" tIns="0" rIns="0" bIns="0" rtlCol="0" anchor="t"/>
          <a:lstStyle/>
          <a:p>
            <a:pPr indent="0" marL="0">
              <a:lnSpc>
                <a:spcPts val="1250"/>
              </a:lnSpc>
              <a:buNone/>
            </a:pPr>
            <a:r>
              <a:rPr lang="en-US" sz="980" dirty="0">
                <a:solidFill>
                  <a:srgbClr val="1E1B33"/>
                </a:solidFill>
                <a:latin typeface="Calibri" pitchFamily="34" charset="0"/>
                <a:ea typeface="Calibri" pitchFamily="34" charset="-122"/>
                <a:cs typeface="Calibri" pitchFamily="34" charset="-120"/>
              </a:rPr>
              <a:t>a SELF-IMPOSED 24K ceiling, not the 131K window — prefill scales with prompt length and would destroy first-token latency</a:t>
            </a:r>
            <a:endParaRPr lang="en-US" sz="980" dirty="0"/>
          </a:p>
        </p:txBody>
      </p:sp>
      <p:sp>
        <p:nvSpPr>
          <p:cNvPr id="24" name="Text 22"/>
          <p:cNvSpPr/>
          <p:nvPr/>
        </p:nvSpPr>
        <p:spPr>
          <a:xfrm>
            <a:off x="6373368" y="3712464"/>
            <a:ext cx="1417320" cy="822960"/>
          </a:xfrm>
          <a:prstGeom prst="rect">
            <a:avLst/>
          </a:prstGeom>
          <a:noFill/>
          <a:ln/>
        </p:spPr>
        <p:txBody>
          <a:bodyPr wrap="square" lIns="0" tIns="0" rIns="0" bIns="0" rtlCol="0" anchor="t"/>
          <a:lstStyle/>
          <a:p>
            <a:pPr indent="0" marL="0">
              <a:buNone/>
            </a:pPr>
            <a:r>
              <a:rPr lang="en-US" sz="1000" b="1" dirty="0">
                <a:solidFill>
                  <a:srgbClr val="0E8577"/>
                </a:solidFill>
                <a:latin typeface="Calibri" pitchFamily="34" charset="0"/>
                <a:ea typeface="Calibri" pitchFamily="34" charset="-122"/>
                <a:cs typeface="Calibri" pitchFamily="34" charset="-120"/>
              </a:rPr>
              <a:t>Compaction</a:t>
            </a:r>
            <a:endParaRPr lang="en-US" sz="1000" dirty="0"/>
          </a:p>
        </p:txBody>
      </p:sp>
      <p:sp>
        <p:nvSpPr>
          <p:cNvPr id="25" name="Text 23"/>
          <p:cNvSpPr/>
          <p:nvPr/>
        </p:nvSpPr>
        <p:spPr>
          <a:xfrm>
            <a:off x="7836408" y="3712464"/>
            <a:ext cx="3602736" cy="841248"/>
          </a:xfrm>
          <a:prstGeom prst="rect">
            <a:avLst/>
          </a:prstGeom>
          <a:noFill/>
          <a:ln/>
        </p:spPr>
        <p:txBody>
          <a:bodyPr wrap="square" lIns="0" tIns="0" rIns="0" bIns="0" rtlCol="0" anchor="t"/>
          <a:lstStyle/>
          <a:p>
            <a:pPr indent="0" marL="0">
              <a:lnSpc>
                <a:spcPts val="1250"/>
              </a:lnSpc>
              <a:buNone/>
            </a:pPr>
            <a:r>
              <a:rPr lang="en-US" sz="980" dirty="0">
                <a:solidFill>
                  <a:srgbClr val="1E1B33"/>
                </a:solidFill>
                <a:latin typeface="Calibri" pitchFamily="34" charset="0"/>
                <a:ea typeface="Calibri" pitchFamily="34" charset="-122"/>
                <a:cs typeface="Calibri" pitchFamily="34" charset="-120"/>
              </a:rPr>
              <a:t>evicted turns are SUMMARIZED, not dropped; re-summarization is INCREMENTAL (prior summary + only newly-evicted turns) so cost stays flat</a:t>
            </a:r>
            <a:endParaRPr lang="en-US" sz="980" dirty="0"/>
          </a:p>
        </p:txBody>
      </p:sp>
      <p:sp>
        <p:nvSpPr>
          <p:cNvPr id="26" name="Text 24"/>
          <p:cNvSpPr/>
          <p:nvPr/>
        </p:nvSpPr>
        <p:spPr>
          <a:xfrm>
            <a:off x="6373368" y="4608576"/>
            <a:ext cx="1417320" cy="822960"/>
          </a:xfrm>
          <a:prstGeom prst="rect">
            <a:avLst/>
          </a:prstGeom>
          <a:noFill/>
          <a:ln/>
        </p:spPr>
        <p:txBody>
          <a:bodyPr wrap="square" lIns="0" tIns="0" rIns="0" bIns="0" rtlCol="0" anchor="t"/>
          <a:lstStyle/>
          <a:p>
            <a:pPr indent="0" marL="0">
              <a:buNone/>
            </a:pPr>
            <a:r>
              <a:rPr lang="en-US" sz="1000" b="1" dirty="0">
                <a:solidFill>
                  <a:srgbClr val="0E8577"/>
                </a:solidFill>
                <a:latin typeface="Calibri" pitchFamily="34" charset="0"/>
                <a:ea typeface="Calibri" pitchFamily="34" charset="-122"/>
                <a:cs typeface="Calibri" pitchFamily="34" charset="-120"/>
              </a:rPr>
              <a:t>Placement</a:t>
            </a:r>
            <a:endParaRPr lang="en-US" sz="1000" dirty="0"/>
          </a:p>
        </p:txBody>
      </p:sp>
      <p:sp>
        <p:nvSpPr>
          <p:cNvPr id="27" name="Text 25"/>
          <p:cNvSpPr/>
          <p:nvPr/>
        </p:nvSpPr>
        <p:spPr>
          <a:xfrm>
            <a:off x="7836408" y="4608576"/>
            <a:ext cx="3602736" cy="841248"/>
          </a:xfrm>
          <a:prstGeom prst="rect">
            <a:avLst/>
          </a:prstGeom>
          <a:noFill/>
          <a:ln/>
        </p:spPr>
        <p:txBody>
          <a:bodyPr wrap="square" lIns="0" tIns="0" rIns="0" bIns="0" rtlCol="0" anchor="t"/>
          <a:lstStyle/>
          <a:p>
            <a:pPr indent="0" marL="0">
              <a:lnSpc>
                <a:spcPts val="1250"/>
              </a:lnSpc>
              <a:buNone/>
            </a:pPr>
            <a:r>
              <a:rPr lang="en-US" sz="980" dirty="0">
                <a:solidFill>
                  <a:srgbClr val="1E1B33"/>
                </a:solidFill>
                <a:latin typeface="Calibri" pitchFamily="34" charset="0"/>
                <a:ea typeface="Calibri" pitchFamily="34" charset="-122"/>
                <a:cs typeface="Calibri" pitchFamily="34" charset="-120"/>
              </a:rPr>
              <a:t>memory is spliced INTO the system message — Qwen's chat template raises on a second system message, so vLLM rejects the whole turn with an HTTP 400 (verified by rendering the staged template both ways)</a:t>
            </a:r>
            <a:endParaRPr lang="en-US" sz="980" dirty="0"/>
          </a:p>
        </p:txBody>
      </p:sp>
      <p:sp>
        <p:nvSpPr>
          <p:cNvPr id="28" name="Text 26"/>
          <p:cNvSpPr/>
          <p:nvPr/>
        </p:nvSpPr>
        <p:spPr>
          <a:xfrm>
            <a:off x="548640" y="5596128"/>
            <a:ext cx="11091672" cy="658368"/>
          </a:xfrm>
          <a:prstGeom prst="rect">
            <a:avLst/>
          </a:prstGeom>
          <a:noFill/>
          <a:ln/>
        </p:spPr>
        <p:txBody>
          <a:bodyPr wrap="square" lIns="0" tIns="0" rIns="0" bIns="0" rtlCol="0" anchor="t"/>
          <a:lstStyle/>
          <a:p>
            <a:pPr indent="0" marL="0">
              <a:lnSpc>
                <a:spcPts val="1400"/>
              </a:lnSpc>
              <a:buNone/>
            </a:pPr>
            <a:r>
              <a:rPr lang="en-US" sz="1050" i="1" dirty="0">
                <a:solidFill>
                  <a:srgbClr val="6E6A85"/>
                </a:solidFill>
                <a:latin typeface="Calibri" pitchFamily="34" charset="0"/>
                <a:ea typeface="Calibri" pitchFamily="34" charset="-122"/>
                <a:cs typeface="Calibri" pitchFamily="34" charset="-120"/>
              </a:rPr>
              <a:t>Both paths emit the SAME event vocabulary — context_measured / context_trimmed — so one renderer serves both, and the console shows a live "18.4K / 24K" occupancy chip. Every failure mode of compaction (no summarizer, an exception, a junk reply, a token counter returning None) degrades to dropping the oldest turns: context management must never be the thing that breaks a turn.</a:t>
            </a:r>
            <a:endParaRPr lang="en-US" sz="1050" dirty="0"/>
          </a:p>
        </p:txBody>
      </p:sp>
      <p:sp>
        <p:nvSpPr>
          <p:cNvPr id="29" name="Text 27"/>
          <p:cNvSpPr/>
          <p:nvPr/>
        </p:nvSpPr>
        <p:spPr>
          <a:xfrm>
            <a:off x="548640" y="6382512"/>
            <a:ext cx="9144000" cy="274320"/>
          </a:xfrm>
          <a:prstGeom prst="rect">
            <a:avLst/>
          </a:prstGeom>
          <a:noFill/>
          <a:ln/>
        </p:spPr>
        <p:txBody>
          <a:bodyPr wrap="square" lIns="0" tIns="0" rIns="0" bIns="0" rtlCol="0" anchor="ctr"/>
          <a:lstStyle/>
          <a:p>
            <a:pPr indent="0" marL="0">
              <a:buNone/>
            </a:pPr>
            <a:r>
              <a:rPr lang="en-US" sz="900" dirty="0">
                <a:solidFill>
                  <a:srgbClr val="A6A2B8"/>
                </a:solidFill>
                <a:latin typeface="Calibri" pitchFamily="34" charset="0"/>
                <a:ea typeface="Calibri" pitchFamily="34" charset="-122"/>
                <a:cs typeface="Calibri" pitchFamily="34" charset="-120"/>
              </a:rPr>
              <a:t>AiScientist · Technical Specification · v0.2.0</a:t>
            </a:r>
            <a:endParaRPr lang="en-US" sz="900" dirty="0"/>
          </a:p>
        </p:txBody>
      </p:sp>
      <p:sp>
        <p:nvSpPr>
          <p:cNvPr id="30" name="Text 28"/>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A6A2B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10896"/>
            <a:ext cx="11091672" cy="502920"/>
          </a:xfrm>
          <a:prstGeom prst="rect">
            <a:avLst/>
          </a:prstGeom>
          <a:noFill/>
          <a:ln/>
        </p:spPr>
        <p:txBody>
          <a:bodyPr wrap="square" lIns="0" tIns="0" rIns="0" bIns="0" rtlCol="0" anchor="ctr"/>
          <a:lstStyle/>
          <a:p>
            <a:pPr algn="l" indent="0" marL="0">
              <a:buNone/>
            </a:pPr>
            <a:r>
              <a:rPr lang="en-US" sz="2700" b="1" dirty="0">
                <a:solidFill>
                  <a:srgbClr val="1E1B33"/>
                </a:solidFill>
                <a:latin typeface="Cambria" pitchFamily="34" charset="0"/>
                <a:ea typeface="Cambria" pitchFamily="34" charset="-122"/>
                <a:cs typeface="Cambria" pitchFamily="34" charset="-120"/>
              </a:rPr>
              <a:t>Beyond the window: what else controls context</a:t>
            </a:r>
            <a:endParaRPr lang="en-US" sz="2700" dirty="0"/>
          </a:p>
        </p:txBody>
      </p:sp>
      <p:sp>
        <p:nvSpPr>
          <p:cNvPr id="3" name="Text 1"/>
          <p:cNvSpPr/>
          <p:nvPr/>
        </p:nvSpPr>
        <p:spPr>
          <a:xfrm>
            <a:off x="548640" y="841248"/>
            <a:ext cx="11091672" cy="329184"/>
          </a:xfrm>
          <a:prstGeom prst="rect">
            <a:avLst/>
          </a:prstGeom>
          <a:noFill/>
          <a:ln/>
        </p:spPr>
        <p:txBody>
          <a:bodyPr wrap="square" lIns="0" tIns="0" rIns="0" bIns="0" rtlCol="0" anchor="t"/>
          <a:lstStyle/>
          <a:p>
            <a:pPr algn="l" indent="0" marL="0">
              <a:buNone/>
            </a:pPr>
            <a:r>
              <a:rPr lang="en-US" sz="1200" dirty="0">
                <a:solidFill>
                  <a:srgbClr val="6E6A85"/>
                </a:solidFill>
                <a:latin typeface="Calibri" pitchFamily="34" charset="0"/>
                <a:ea typeface="Calibri" pitchFamily="34" charset="-122"/>
                <a:cs typeface="Calibri" pitchFamily="34" charset="-120"/>
              </a:rPr>
              <a:t>Progressive disclosure, grounding, agent memory and the privacy boundary</a:t>
            </a:r>
            <a:endParaRPr lang="en-US" sz="1200" dirty="0"/>
          </a:p>
        </p:txBody>
      </p:sp>
      <p:sp>
        <p:nvSpPr>
          <p:cNvPr id="4" name="Shape 2"/>
          <p:cNvSpPr/>
          <p:nvPr/>
        </p:nvSpPr>
        <p:spPr>
          <a:xfrm>
            <a:off x="548640" y="1316736"/>
            <a:ext cx="3538728" cy="2103120"/>
          </a:xfrm>
          <a:prstGeom prst="roundRect">
            <a:avLst>
              <a:gd name="adj" fmla="val 3043"/>
            </a:avLst>
          </a:prstGeom>
          <a:solidFill>
            <a:srgbClr val="F3F2F8"/>
          </a:solidFill>
          <a:ln w="6350">
            <a:solidFill>
              <a:srgbClr val="F3F2F8"/>
            </a:solidFill>
            <a:prstDash val="solid"/>
          </a:ln>
        </p:spPr>
      </p:sp>
      <p:sp>
        <p:nvSpPr>
          <p:cNvPr id="5" name="Shape 3"/>
          <p:cNvSpPr/>
          <p:nvPr/>
        </p:nvSpPr>
        <p:spPr>
          <a:xfrm>
            <a:off x="713232" y="1499616"/>
            <a:ext cx="237744" cy="237744"/>
          </a:xfrm>
          <a:prstGeom prst="ellipse">
            <a:avLst/>
          </a:prstGeom>
          <a:solidFill>
            <a:srgbClr val="17B8A6"/>
          </a:solidFill>
          <a:ln w="12700">
            <a:solidFill>
              <a:srgbClr val="17B8A6"/>
            </a:solidFill>
            <a:prstDash val="solid"/>
          </a:ln>
        </p:spPr>
      </p:sp>
      <p:sp>
        <p:nvSpPr>
          <p:cNvPr id="6" name="Text 4"/>
          <p:cNvSpPr/>
          <p:nvPr/>
        </p:nvSpPr>
        <p:spPr>
          <a:xfrm>
            <a:off x="1042416" y="1444752"/>
            <a:ext cx="2862072" cy="365760"/>
          </a:xfrm>
          <a:prstGeom prst="rect">
            <a:avLst/>
          </a:prstGeom>
          <a:noFill/>
          <a:ln/>
        </p:spPr>
        <p:txBody>
          <a:bodyPr wrap="square" lIns="0" tIns="0" rIns="0" bIns="0" rtlCol="0" anchor="ctr"/>
          <a:lstStyle/>
          <a:p>
            <a:pPr indent="0" marL="0">
              <a:buNone/>
            </a:pPr>
            <a:r>
              <a:rPr lang="en-US" sz="1150" b="1" dirty="0">
                <a:solidFill>
                  <a:srgbClr val="1E1B33"/>
                </a:solidFill>
                <a:latin typeface="Calibri" pitchFamily="34" charset="0"/>
                <a:ea typeface="Calibri" pitchFamily="34" charset="-122"/>
                <a:cs typeface="Calibri" pitchFamily="34" charset="-120"/>
              </a:rPr>
              <a:t>Progressive disclosure of skills</a:t>
            </a:r>
            <a:endParaRPr lang="en-US" sz="1150" dirty="0"/>
          </a:p>
        </p:txBody>
      </p:sp>
      <p:sp>
        <p:nvSpPr>
          <p:cNvPr id="7" name="Text 5"/>
          <p:cNvSpPr/>
          <p:nvPr/>
        </p:nvSpPr>
        <p:spPr>
          <a:xfrm>
            <a:off x="713232" y="1865376"/>
            <a:ext cx="3209544" cy="1444752"/>
          </a:xfrm>
          <a:prstGeom prst="rect">
            <a:avLst/>
          </a:prstGeom>
          <a:noFill/>
          <a:ln/>
        </p:spPr>
        <p:txBody>
          <a:bodyPr wrap="square" lIns="0" tIns="0" rIns="0" bIns="0" rtlCol="0" anchor="t"/>
          <a:lstStyle/>
          <a:p>
            <a:pPr indent="0" marL="0">
              <a:lnSpc>
                <a:spcPts val="1250"/>
              </a:lnSpc>
              <a:buNone/>
            </a:pPr>
            <a:r>
              <a:rPr lang="en-US" sz="950" dirty="0">
                <a:solidFill>
                  <a:srgbClr val="6E6A85"/>
                </a:solidFill>
                <a:latin typeface="Calibri" pitchFamily="34" charset="0"/>
                <a:ea typeface="Calibri" pitchFamily="34" charset="-122"/>
                <a:cs typeface="Calibri" pitchFamily="34" charset="-120"/>
              </a:rPr>
              <a:t>The tool registry stays at ~10 always-visible tools. The 14 atomic skills are surfaced as a SHORT manifest (name + one line); the Scientist fetches the full body with read_skill_reference, and finds the right one with search_skills. Three levels: manifest → guidance → code.</a:t>
            </a:r>
            <a:endParaRPr lang="en-US" sz="950" dirty="0"/>
          </a:p>
        </p:txBody>
      </p:sp>
      <p:sp>
        <p:nvSpPr>
          <p:cNvPr id="8" name="Shape 6"/>
          <p:cNvSpPr/>
          <p:nvPr/>
        </p:nvSpPr>
        <p:spPr>
          <a:xfrm>
            <a:off x="4233672" y="1316736"/>
            <a:ext cx="3538728" cy="2103120"/>
          </a:xfrm>
          <a:prstGeom prst="roundRect">
            <a:avLst>
              <a:gd name="adj" fmla="val 3043"/>
            </a:avLst>
          </a:prstGeom>
          <a:solidFill>
            <a:srgbClr val="F3F2F8"/>
          </a:solidFill>
          <a:ln w="6350">
            <a:solidFill>
              <a:srgbClr val="F3F2F8"/>
            </a:solidFill>
            <a:prstDash val="solid"/>
          </a:ln>
        </p:spPr>
      </p:sp>
      <p:sp>
        <p:nvSpPr>
          <p:cNvPr id="9" name="Shape 7"/>
          <p:cNvSpPr/>
          <p:nvPr/>
        </p:nvSpPr>
        <p:spPr>
          <a:xfrm>
            <a:off x="4398264" y="1499616"/>
            <a:ext cx="237744" cy="237744"/>
          </a:xfrm>
          <a:prstGeom prst="ellipse">
            <a:avLst/>
          </a:prstGeom>
          <a:solidFill>
            <a:srgbClr val="3F3684"/>
          </a:solidFill>
          <a:ln w="12700">
            <a:solidFill>
              <a:srgbClr val="3F3684"/>
            </a:solidFill>
            <a:prstDash val="solid"/>
          </a:ln>
        </p:spPr>
      </p:sp>
      <p:sp>
        <p:nvSpPr>
          <p:cNvPr id="10" name="Text 8"/>
          <p:cNvSpPr/>
          <p:nvPr/>
        </p:nvSpPr>
        <p:spPr>
          <a:xfrm>
            <a:off x="4727448" y="1444752"/>
            <a:ext cx="2862072" cy="365760"/>
          </a:xfrm>
          <a:prstGeom prst="rect">
            <a:avLst/>
          </a:prstGeom>
          <a:noFill/>
          <a:ln/>
        </p:spPr>
        <p:txBody>
          <a:bodyPr wrap="square" lIns="0" tIns="0" rIns="0" bIns="0" rtlCol="0" anchor="ctr"/>
          <a:lstStyle/>
          <a:p>
            <a:pPr indent="0" marL="0">
              <a:buNone/>
            </a:pPr>
            <a:r>
              <a:rPr lang="en-US" sz="1150" b="1" dirty="0">
                <a:solidFill>
                  <a:srgbClr val="1E1B33"/>
                </a:solidFill>
                <a:latin typeface="Calibri" pitchFamily="34" charset="0"/>
                <a:ea typeface="Calibri" pitchFamily="34" charset="-122"/>
                <a:cs typeface="Calibri" pitchFamily="34" charset="-120"/>
              </a:rPr>
              <a:t>Scoped briefs (DAG planner)</a:t>
            </a:r>
            <a:endParaRPr lang="en-US" sz="1150" dirty="0"/>
          </a:p>
        </p:txBody>
      </p:sp>
      <p:sp>
        <p:nvSpPr>
          <p:cNvPr id="11" name="Text 9"/>
          <p:cNvSpPr/>
          <p:nvPr/>
        </p:nvSpPr>
        <p:spPr>
          <a:xfrm>
            <a:off x="4398264" y="1865376"/>
            <a:ext cx="3209544" cy="1444752"/>
          </a:xfrm>
          <a:prstGeom prst="rect">
            <a:avLst/>
          </a:prstGeom>
          <a:noFill/>
          <a:ln/>
        </p:spPr>
        <p:txBody>
          <a:bodyPr wrap="square" lIns="0" tIns="0" rIns="0" bIns="0" rtlCol="0" anchor="t"/>
          <a:lstStyle/>
          <a:p>
            <a:pPr indent="0" marL="0">
              <a:lnSpc>
                <a:spcPts val="1250"/>
              </a:lnSpc>
              <a:buNone/>
            </a:pPr>
            <a:r>
              <a:rPr lang="en-US" sz="950" dirty="0">
                <a:solidFill>
                  <a:srgbClr val="6E6A85"/>
                </a:solidFill>
                <a:latin typeface="Calibri" pitchFamily="34" charset="0"/>
                <a:ea typeface="Calibri" pitchFamily="34" charset="-122"/>
                <a:cs typeface="Calibri" pitchFamily="34" charset="-120"/>
              </a:rPr>
              <a:t>Under the DAG planner each node gets a brief scoped to ONE task — "do ONLY this task; earlier outputs already exist". That structurally cures the double-QC and step-1-runs-everything failure modes, and keeps each node's prompt small.</a:t>
            </a:r>
            <a:endParaRPr lang="en-US" sz="950" dirty="0"/>
          </a:p>
        </p:txBody>
      </p:sp>
      <p:sp>
        <p:nvSpPr>
          <p:cNvPr id="12" name="Shape 10"/>
          <p:cNvSpPr/>
          <p:nvPr/>
        </p:nvSpPr>
        <p:spPr>
          <a:xfrm>
            <a:off x="7918704" y="1316736"/>
            <a:ext cx="3538728" cy="2103120"/>
          </a:xfrm>
          <a:prstGeom prst="roundRect">
            <a:avLst>
              <a:gd name="adj" fmla="val 3043"/>
            </a:avLst>
          </a:prstGeom>
          <a:solidFill>
            <a:srgbClr val="F3F2F8"/>
          </a:solidFill>
          <a:ln w="6350">
            <a:solidFill>
              <a:srgbClr val="F3F2F8"/>
            </a:solidFill>
            <a:prstDash val="solid"/>
          </a:ln>
        </p:spPr>
      </p:sp>
      <p:sp>
        <p:nvSpPr>
          <p:cNvPr id="13" name="Shape 11"/>
          <p:cNvSpPr/>
          <p:nvPr/>
        </p:nvSpPr>
        <p:spPr>
          <a:xfrm>
            <a:off x="8083296" y="1499616"/>
            <a:ext cx="237744" cy="237744"/>
          </a:xfrm>
          <a:prstGeom prst="ellipse">
            <a:avLst/>
          </a:prstGeom>
          <a:solidFill>
            <a:srgbClr val="D9832B"/>
          </a:solidFill>
          <a:ln w="12700">
            <a:solidFill>
              <a:srgbClr val="D9832B"/>
            </a:solidFill>
            <a:prstDash val="solid"/>
          </a:ln>
        </p:spPr>
      </p:sp>
      <p:sp>
        <p:nvSpPr>
          <p:cNvPr id="14" name="Text 12"/>
          <p:cNvSpPr/>
          <p:nvPr/>
        </p:nvSpPr>
        <p:spPr>
          <a:xfrm>
            <a:off x="8412480" y="1444752"/>
            <a:ext cx="2862072" cy="365760"/>
          </a:xfrm>
          <a:prstGeom prst="rect">
            <a:avLst/>
          </a:prstGeom>
          <a:noFill/>
          <a:ln/>
        </p:spPr>
        <p:txBody>
          <a:bodyPr wrap="square" lIns="0" tIns="0" rIns="0" bIns="0" rtlCol="0" anchor="ctr"/>
          <a:lstStyle/>
          <a:p>
            <a:pPr indent="0" marL="0">
              <a:buNone/>
            </a:pPr>
            <a:r>
              <a:rPr lang="en-US" sz="1150" b="1" dirty="0">
                <a:solidFill>
                  <a:srgbClr val="1E1B33"/>
                </a:solidFill>
                <a:latin typeface="Calibri" pitchFamily="34" charset="0"/>
                <a:ea typeface="Calibri" pitchFamily="34" charset="-122"/>
                <a:cs typeface="Calibri" pitchFamily="34" charset="-120"/>
              </a:rPr>
              <a:t>Closed-set grounding</a:t>
            </a:r>
            <a:endParaRPr lang="en-US" sz="1150" dirty="0"/>
          </a:p>
        </p:txBody>
      </p:sp>
      <p:sp>
        <p:nvSpPr>
          <p:cNvPr id="15" name="Text 13"/>
          <p:cNvSpPr/>
          <p:nvPr/>
        </p:nvSpPr>
        <p:spPr>
          <a:xfrm>
            <a:off x="8083296" y="1865376"/>
            <a:ext cx="3209544" cy="1444752"/>
          </a:xfrm>
          <a:prstGeom prst="rect">
            <a:avLst/>
          </a:prstGeom>
          <a:noFill/>
          <a:ln/>
        </p:spPr>
        <p:txBody>
          <a:bodyPr wrap="square" lIns="0" tIns="0" rIns="0" bIns="0" rtlCol="0" anchor="t"/>
          <a:lstStyle/>
          <a:p>
            <a:pPr indent="0" marL="0">
              <a:lnSpc>
                <a:spcPts val="1250"/>
              </a:lnSpc>
              <a:buNone/>
            </a:pPr>
            <a:r>
              <a:rPr lang="en-US" sz="950" dirty="0">
                <a:solidFill>
                  <a:srgbClr val="6E6A85"/>
                </a:solidFill>
                <a:latin typeface="Calibri" pitchFamily="34" charset="0"/>
                <a:ea typeface="Calibri" pitchFamily="34" charset="-122"/>
                <a:cs typeface="Calibri" pitchFamily="34" charset="-120"/>
              </a:rPr>
              <a:t>Before the report is written the lab compiles a controlled vocabulary, the methods actually performed, and a fact table from accepted rounds. After generation, verify_report_facts deterministically corrects a wrong assembly or a fabricated "0 non-PASS" regardless of what the model wrote.</a:t>
            </a:r>
            <a:endParaRPr lang="en-US" sz="950" dirty="0"/>
          </a:p>
        </p:txBody>
      </p:sp>
      <p:sp>
        <p:nvSpPr>
          <p:cNvPr id="16" name="Shape 14"/>
          <p:cNvSpPr/>
          <p:nvPr/>
        </p:nvSpPr>
        <p:spPr>
          <a:xfrm>
            <a:off x="548640" y="3621024"/>
            <a:ext cx="3538728" cy="2103120"/>
          </a:xfrm>
          <a:prstGeom prst="roundRect">
            <a:avLst>
              <a:gd name="adj" fmla="val 3043"/>
            </a:avLst>
          </a:prstGeom>
          <a:solidFill>
            <a:srgbClr val="F3F2F8"/>
          </a:solidFill>
          <a:ln w="6350">
            <a:solidFill>
              <a:srgbClr val="F3F2F8"/>
            </a:solidFill>
            <a:prstDash val="solid"/>
          </a:ln>
        </p:spPr>
      </p:sp>
      <p:sp>
        <p:nvSpPr>
          <p:cNvPr id="17" name="Shape 15"/>
          <p:cNvSpPr/>
          <p:nvPr/>
        </p:nvSpPr>
        <p:spPr>
          <a:xfrm>
            <a:off x="713232" y="3803904"/>
            <a:ext cx="237744" cy="237744"/>
          </a:xfrm>
          <a:prstGeom prst="ellipse">
            <a:avLst/>
          </a:prstGeom>
          <a:solidFill>
            <a:srgbClr val="6E63B8"/>
          </a:solidFill>
          <a:ln w="12700">
            <a:solidFill>
              <a:srgbClr val="6E63B8"/>
            </a:solidFill>
            <a:prstDash val="solid"/>
          </a:ln>
        </p:spPr>
      </p:sp>
      <p:sp>
        <p:nvSpPr>
          <p:cNvPr id="18" name="Text 16"/>
          <p:cNvSpPr/>
          <p:nvPr/>
        </p:nvSpPr>
        <p:spPr>
          <a:xfrm>
            <a:off x="1042416" y="3749040"/>
            <a:ext cx="2862072" cy="365760"/>
          </a:xfrm>
          <a:prstGeom prst="rect">
            <a:avLst/>
          </a:prstGeom>
          <a:noFill/>
          <a:ln/>
        </p:spPr>
        <p:txBody>
          <a:bodyPr wrap="square" lIns="0" tIns="0" rIns="0" bIns="0" rtlCol="0" anchor="ctr"/>
          <a:lstStyle/>
          <a:p>
            <a:pPr indent="0" marL="0">
              <a:buNone/>
            </a:pPr>
            <a:r>
              <a:rPr lang="en-US" sz="1150" b="1" dirty="0">
                <a:solidFill>
                  <a:srgbClr val="1E1B33"/>
                </a:solidFill>
                <a:latin typeface="Calibri" pitchFamily="34" charset="0"/>
                <a:ea typeface="Calibri" pitchFamily="34" charset="-122"/>
                <a:cs typeface="Calibri" pitchFamily="34" charset="-120"/>
              </a:rPr>
              <a:t>Per-agent evolving memory  ·  OFF by default</a:t>
            </a:r>
            <a:endParaRPr lang="en-US" sz="1150" dirty="0"/>
          </a:p>
        </p:txBody>
      </p:sp>
      <p:sp>
        <p:nvSpPr>
          <p:cNvPr id="19" name="Text 17"/>
          <p:cNvSpPr/>
          <p:nvPr/>
        </p:nvSpPr>
        <p:spPr>
          <a:xfrm>
            <a:off x="713232" y="4169664"/>
            <a:ext cx="3209544" cy="1444752"/>
          </a:xfrm>
          <a:prstGeom prst="rect">
            <a:avLst/>
          </a:prstGeom>
          <a:noFill/>
          <a:ln/>
        </p:spPr>
        <p:txBody>
          <a:bodyPr wrap="square" lIns="0" tIns="0" rIns="0" bIns="0" rtlCol="0" anchor="t"/>
          <a:lstStyle/>
          <a:p>
            <a:pPr indent="0" marL="0">
              <a:lnSpc>
                <a:spcPts val="1250"/>
              </a:lnSpc>
              <a:buNone/>
            </a:pPr>
            <a:r>
              <a:rPr lang="en-US" sz="950" dirty="0">
                <a:solidFill>
                  <a:srgbClr val="6E6A85"/>
                </a:solidFill>
                <a:latin typeface="Calibri" pitchFamily="34" charset="0"/>
                <a:ea typeface="Calibri" pitchFamily="34" charset="-122"/>
                <a:cs typeface="Calibri" pitchFamily="34" charset="-120"/>
              </a:rPr>
              <a:t>Built and unit-tested (agents/agent_memory.py): a private, disk-backed store per specialist — episodes.jsonl plus a distilled lessons.md on the gateway disk, recalled into the brief and reflected on at end of run. DOUBLE-GATED: it needs BIOAGENT_AGENT_MEMORY=1 AND the DAG planner, and the flag is not in the deployed .env — so it has never run in production. Listed as designed capability, not as shipped behaviour.</a:t>
            </a:r>
            <a:endParaRPr lang="en-US" sz="950" dirty="0"/>
          </a:p>
        </p:txBody>
      </p:sp>
      <p:sp>
        <p:nvSpPr>
          <p:cNvPr id="20" name="Shape 18"/>
          <p:cNvSpPr/>
          <p:nvPr/>
        </p:nvSpPr>
        <p:spPr>
          <a:xfrm>
            <a:off x="4233672" y="3621024"/>
            <a:ext cx="3538728" cy="2103120"/>
          </a:xfrm>
          <a:prstGeom prst="roundRect">
            <a:avLst>
              <a:gd name="adj" fmla="val 3043"/>
            </a:avLst>
          </a:prstGeom>
          <a:solidFill>
            <a:srgbClr val="F3F2F8"/>
          </a:solidFill>
          <a:ln w="6350">
            <a:solidFill>
              <a:srgbClr val="F3F2F8"/>
            </a:solidFill>
            <a:prstDash val="solid"/>
          </a:ln>
        </p:spPr>
      </p:sp>
      <p:sp>
        <p:nvSpPr>
          <p:cNvPr id="21" name="Shape 19"/>
          <p:cNvSpPr/>
          <p:nvPr/>
        </p:nvSpPr>
        <p:spPr>
          <a:xfrm>
            <a:off x="4398264" y="3803904"/>
            <a:ext cx="237744" cy="237744"/>
          </a:xfrm>
          <a:prstGeom prst="ellipse">
            <a:avLst/>
          </a:prstGeom>
          <a:solidFill>
            <a:srgbClr val="B8433A"/>
          </a:solidFill>
          <a:ln w="12700">
            <a:solidFill>
              <a:srgbClr val="B8433A"/>
            </a:solidFill>
            <a:prstDash val="solid"/>
          </a:ln>
        </p:spPr>
      </p:sp>
      <p:sp>
        <p:nvSpPr>
          <p:cNvPr id="22" name="Text 20"/>
          <p:cNvSpPr/>
          <p:nvPr/>
        </p:nvSpPr>
        <p:spPr>
          <a:xfrm>
            <a:off x="4727448" y="3749040"/>
            <a:ext cx="2862072" cy="365760"/>
          </a:xfrm>
          <a:prstGeom prst="rect">
            <a:avLst/>
          </a:prstGeom>
          <a:noFill/>
          <a:ln/>
        </p:spPr>
        <p:txBody>
          <a:bodyPr wrap="square" lIns="0" tIns="0" rIns="0" bIns="0" rtlCol="0" anchor="ctr"/>
          <a:lstStyle/>
          <a:p>
            <a:pPr indent="0" marL="0">
              <a:buNone/>
            </a:pPr>
            <a:r>
              <a:rPr lang="en-US" sz="1150" b="1" dirty="0">
                <a:solidFill>
                  <a:srgbClr val="1E1B33"/>
                </a:solidFill>
                <a:latin typeface="Calibri" pitchFamily="34" charset="0"/>
                <a:ea typeface="Calibri" pitchFamily="34" charset="-122"/>
                <a:cs typeface="Calibri" pitchFamily="34" charset="-120"/>
              </a:rPr>
              <a:t>DataBoundaryGuard</a:t>
            </a:r>
            <a:endParaRPr lang="en-US" sz="1150" dirty="0"/>
          </a:p>
        </p:txBody>
      </p:sp>
      <p:sp>
        <p:nvSpPr>
          <p:cNvPr id="23" name="Text 21"/>
          <p:cNvSpPr/>
          <p:nvPr/>
        </p:nvSpPr>
        <p:spPr>
          <a:xfrm>
            <a:off x="4398264" y="4169664"/>
            <a:ext cx="3209544" cy="1444752"/>
          </a:xfrm>
          <a:prstGeom prst="rect">
            <a:avLst/>
          </a:prstGeom>
          <a:noFill/>
          <a:ln/>
        </p:spPr>
        <p:txBody>
          <a:bodyPr wrap="square" lIns="0" tIns="0" rIns="0" bIns="0" rtlCol="0" anchor="t"/>
          <a:lstStyle/>
          <a:p>
            <a:pPr indent="0" marL="0">
              <a:lnSpc>
                <a:spcPts val="1250"/>
              </a:lnSpc>
              <a:buNone/>
            </a:pPr>
            <a:r>
              <a:rPr lang="en-US" sz="950" dirty="0">
                <a:solidFill>
                  <a:srgbClr val="6E6A85"/>
                </a:solidFill>
                <a:latin typeface="Calibri" pitchFamily="34" charset="0"/>
                <a:ea typeface="Calibri" pitchFamily="34" charset="-122"/>
                <a:cs typeface="Calibri" pitchFamily="34" charset="-120"/>
              </a:rPr>
              <a:t>Inspects the brief before ANY model call. Secrets are always blocked. Raw tabular data is blocked when the endpoint is remote and allowed when the LLM is this session's local tunneled Qwen — and raw-data detection is SOURCE-SCOPED to the user-provided spans, so system-built scaffolding is never sniffed.</a:t>
            </a:r>
            <a:endParaRPr lang="en-US" sz="950" dirty="0"/>
          </a:p>
        </p:txBody>
      </p:sp>
      <p:sp>
        <p:nvSpPr>
          <p:cNvPr id="24" name="Shape 22"/>
          <p:cNvSpPr/>
          <p:nvPr/>
        </p:nvSpPr>
        <p:spPr>
          <a:xfrm>
            <a:off x="7918704" y="3621024"/>
            <a:ext cx="3538728" cy="2103120"/>
          </a:xfrm>
          <a:prstGeom prst="roundRect">
            <a:avLst>
              <a:gd name="adj" fmla="val 3043"/>
            </a:avLst>
          </a:prstGeom>
          <a:solidFill>
            <a:srgbClr val="F3F2F8"/>
          </a:solidFill>
          <a:ln w="6350">
            <a:solidFill>
              <a:srgbClr val="F3F2F8"/>
            </a:solidFill>
            <a:prstDash val="solid"/>
          </a:ln>
        </p:spPr>
      </p:sp>
      <p:sp>
        <p:nvSpPr>
          <p:cNvPr id="25" name="Shape 23"/>
          <p:cNvSpPr/>
          <p:nvPr/>
        </p:nvSpPr>
        <p:spPr>
          <a:xfrm>
            <a:off x="8083296" y="3803904"/>
            <a:ext cx="237744" cy="237744"/>
          </a:xfrm>
          <a:prstGeom prst="ellipse">
            <a:avLst/>
          </a:prstGeom>
          <a:solidFill>
            <a:srgbClr val="6E6A85"/>
          </a:solidFill>
          <a:ln w="12700">
            <a:solidFill>
              <a:srgbClr val="6E6A85"/>
            </a:solidFill>
            <a:prstDash val="solid"/>
          </a:ln>
        </p:spPr>
      </p:sp>
      <p:sp>
        <p:nvSpPr>
          <p:cNvPr id="26" name="Text 24"/>
          <p:cNvSpPr/>
          <p:nvPr/>
        </p:nvSpPr>
        <p:spPr>
          <a:xfrm>
            <a:off x="8412480" y="3749040"/>
            <a:ext cx="2862072" cy="365760"/>
          </a:xfrm>
          <a:prstGeom prst="rect">
            <a:avLst/>
          </a:prstGeom>
          <a:noFill/>
          <a:ln/>
        </p:spPr>
        <p:txBody>
          <a:bodyPr wrap="square" lIns="0" tIns="0" rIns="0" bIns="0" rtlCol="0" anchor="ctr"/>
          <a:lstStyle/>
          <a:p>
            <a:pPr indent="0" marL="0">
              <a:buNone/>
            </a:pPr>
            <a:r>
              <a:rPr lang="en-US" sz="1150" b="1" dirty="0">
                <a:solidFill>
                  <a:srgbClr val="1E1B33"/>
                </a:solidFill>
                <a:latin typeface="Calibri" pitchFamily="34" charset="0"/>
                <a:ea typeface="Calibri" pitchFamily="34" charset="-122"/>
                <a:cs typeface="Calibri" pitchFamily="34" charset="-120"/>
              </a:rPr>
              <a:t>Reply reserve</a:t>
            </a:r>
            <a:endParaRPr lang="en-US" sz="1150" dirty="0"/>
          </a:p>
        </p:txBody>
      </p:sp>
      <p:sp>
        <p:nvSpPr>
          <p:cNvPr id="27" name="Text 25"/>
          <p:cNvSpPr/>
          <p:nvPr/>
        </p:nvSpPr>
        <p:spPr>
          <a:xfrm>
            <a:off x="8083296" y="4169664"/>
            <a:ext cx="3209544" cy="1444752"/>
          </a:xfrm>
          <a:prstGeom prst="rect">
            <a:avLst/>
          </a:prstGeom>
          <a:noFill/>
          <a:ln/>
        </p:spPr>
        <p:txBody>
          <a:bodyPr wrap="square" lIns="0" tIns="0" rIns="0" bIns="0" rtlCol="0" anchor="t"/>
          <a:lstStyle/>
          <a:p>
            <a:pPr indent="0" marL="0">
              <a:lnSpc>
                <a:spcPts val="1250"/>
              </a:lnSpc>
              <a:buNone/>
            </a:pPr>
            <a:r>
              <a:rPr lang="en-US" sz="950" dirty="0">
                <a:solidFill>
                  <a:srgbClr val="6E6A85"/>
                </a:solidFill>
                <a:latin typeface="Calibri" pitchFamily="34" charset="0"/>
                <a:ea typeface="Calibri" pitchFamily="34" charset="-122"/>
                <a:cs typeface="Calibri" pitchFamily="34" charset="-120"/>
              </a:rPr>
              <a:t>A single-shot PI / Critic / synthesize reply is guaranteed 8192 tokens of output room. When the prompt is small the reply may use everything left over, so a long manuscript is never capped mid-sentence.</a:t>
            </a:r>
            <a:endParaRPr lang="en-US" sz="950" dirty="0"/>
          </a:p>
        </p:txBody>
      </p:sp>
      <p:sp>
        <p:nvSpPr>
          <p:cNvPr id="28" name="Text 26"/>
          <p:cNvSpPr/>
          <p:nvPr/>
        </p:nvSpPr>
        <p:spPr>
          <a:xfrm>
            <a:off x="548640" y="6382512"/>
            <a:ext cx="9144000" cy="274320"/>
          </a:xfrm>
          <a:prstGeom prst="rect">
            <a:avLst/>
          </a:prstGeom>
          <a:noFill/>
          <a:ln/>
        </p:spPr>
        <p:txBody>
          <a:bodyPr wrap="square" lIns="0" tIns="0" rIns="0" bIns="0" rtlCol="0" anchor="ctr"/>
          <a:lstStyle/>
          <a:p>
            <a:pPr indent="0" marL="0">
              <a:buNone/>
            </a:pPr>
            <a:r>
              <a:rPr lang="en-US" sz="900" dirty="0">
                <a:solidFill>
                  <a:srgbClr val="A6A2B8"/>
                </a:solidFill>
                <a:latin typeface="Calibri" pitchFamily="34" charset="0"/>
                <a:ea typeface="Calibri" pitchFamily="34" charset="-122"/>
                <a:cs typeface="Calibri" pitchFamily="34" charset="-120"/>
              </a:rPr>
              <a:t>AiScientist · Technical Specification · v0.2.0</a:t>
            </a:r>
            <a:endParaRPr lang="en-US" sz="900" dirty="0"/>
          </a:p>
        </p:txBody>
      </p:sp>
      <p:sp>
        <p:nvSpPr>
          <p:cNvPr id="29" name="Text 27"/>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A6A2B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42B"/>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211D42"/>
          </a:solidFill>
          <a:ln w="12700">
            <a:solidFill>
              <a:srgbClr val="333333"/>
            </a:solidFill>
            <a:prstDash val="solid"/>
          </a:ln>
        </p:spPr>
      </p:sp>
      <p:sp>
        <p:nvSpPr>
          <p:cNvPr id="3" name="Shape 1"/>
          <p:cNvSpPr/>
          <p:nvPr/>
        </p:nvSpPr>
        <p:spPr>
          <a:xfrm>
            <a:off x="10881360" y="4114800"/>
            <a:ext cx="2377440" cy="2377440"/>
          </a:xfrm>
          <a:prstGeom prst="ellipse">
            <a:avLst/>
          </a:prstGeom>
          <a:solidFill>
            <a:srgbClr val="1D1A38"/>
          </a:solidFill>
          <a:ln w="12700">
            <a:solidFill>
              <a:srgbClr val="333333"/>
            </a:solidFill>
            <a:prstDash val="solid"/>
          </a:ln>
        </p:spPr>
      </p:sp>
      <p:sp>
        <p:nvSpPr>
          <p:cNvPr id="4" name="Text 2"/>
          <p:cNvSpPr/>
          <p:nvPr/>
        </p:nvSpPr>
        <p:spPr>
          <a:xfrm>
            <a:off x="548640" y="2084832"/>
            <a:ext cx="1828800" cy="822960"/>
          </a:xfrm>
          <a:prstGeom prst="rect">
            <a:avLst/>
          </a:prstGeom>
          <a:noFill/>
          <a:ln/>
        </p:spPr>
        <p:txBody>
          <a:bodyPr wrap="square" lIns="0" tIns="0" rIns="0" bIns="0" rtlCol="0" anchor="ctr"/>
          <a:lstStyle/>
          <a:p>
            <a:pPr indent="0" marL="0">
              <a:buNone/>
            </a:pPr>
            <a:r>
              <a:rPr lang="en-US" sz="5800" b="1" dirty="0">
                <a:solidFill>
                  <a:srgbClr val="17B8A6"/>
                </a:solidFill>
                <a:latin typeface="Cambria" pitchFamily="34" charset="0"/>
                <a:ea typeface="Cambria" pitchFamily="34" charset="-122"/>
                <a:cs typeface="Cambria" pitchFamily="34" charset="-120"/>
              </a:rPr>
              <a:t>03</a:t>
            </a:r>
            <a:endParaRPr lang="en-US" sz="5800" dirty="0"/>
          </a:p>
        </p:txBody>
      </p:sp>
      <p:sp>
        <p:nvSpPr>
          <p:cNvPr id="5" name="Text 3"/>
          <p:cNvSpPr/>
          <p:nvPr/>
        </p:nvSpPr>
        <p:spPr>
          <a:xfrm>
            <a:off x="548640" y="2907792"/>
            <a:ext cx="8595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Cross-server job submission</a:t>
            </a:r>
            <a:endParaRPr lang="en-US" sz="3400" dirty="0"/>
          </a:p>
        </p:txBody>
      </p:sp>
      <p:sp>
        <p:nvSpPr>
          <p:cNvPr id="6" name="Text 4"/>
          <p:cNvSpPr/>
          <p:nvPr/>
        </p:nvSpPr>
        <p:spPr>
          <a:xfrm>
            <a:off x="548640" y="3712464"/>
            <a:ext cx="8229600" cy="822960"/>
          </a:xfrm>
          <a:prstGeom prst="rect">
            <a:avLst/>
          </a:prstGeom>
          <a:noFill/>
          <a:ln/>
        </p:spPr>
        <p:txBody>
          <a:bodyPr wrap="square" lIns="0" tIns="0" rIns="0" bIns="0" rtlCol="0" anchor="ctr"/>
          <a:lstStyle/>
          <a:p>
            <a:pPr indent="0" marL="0">
              <a:buNone/>
            </a:pPr>
            <a:r>
              <a:rPr lang="en-US" sz="1350" dirty="0">
                <a:solidFill>
                  <a:srgbClr val="B9B4D6"/>
                </a:solidFill>
                <a:latin typeface="Calibri" pitchFamily="34" charset="0"/>
                <a:ea typeface="Calibri" pitchFamily="34" charset="-122"/>
                <a:cs typeface="Calibri" pitchFamily="34" charset="-120"/>
              </a:rPr>
              <a:t>How the web gateway gets real compute out of a shared Slurm cluster</a:t>
            </a:r>
            <a:endParaRPr lang="en-US" sz="1350" dirty="0"/>
          </a:p>
        </p:txBody>
      </p:sp>
      <p:sp>
        <p:nvSpPr>
          <p:cNvPr id="7" name="Text 5"/>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6E6A9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10896"/>
            <a:ext cx="11091672" cy="502920"/>
          </a:xfrm>
          <a:prstGeom prst="rect">
            <a:avLst/>
          </a:prstGeom>
          <a:noFill/>
          <a:ln/>
        </p:spPr>
        <p:txBody>
          <a:bodyPr wrap="square" lIns="0" tIns="0" rIns="0" bIns="0" rtlCol="0" anchor="ctr"/>
          <a:lstStyle/>
          <a:p>
            <a:pPr algn="l" indent="0" marL="0">
              <a:buNone/>
            </a:pPr>
            <a:r>
              <a:rPr lang="en-US" sz="2700" b="1" dirty="0">
                <a:solidFill>
                  <a:srgbClr val="1E1B33"/>
                </a:solidFill>
                <a:latin typeface="Cambria" pitchFamily="34" charset="0"/>
                <a:ea typeface="Cambria" pitchFamily="34" charset="-122"/>
                <a:cs typeface="Cambria" pitchFamily="34" charset="-120"/>
              </a:rPr>
              <a:t>Transport, authentication, containment</a:t>
            </a:r>
            <a:endParaRPr lang="en-US" sz="2700" dirty="0"/>
          </a:p>
        </p:txBody>
      </p:sp>
      <p:sp>
        <p:nvSpPr>
          <p:cNvPr id="3" name="Text 1"/>
          <p:cNvSpPr/>
          <p:nvPr/>
        </p:nvSpPr>
        <p:spPr>
          <a:xfrm>
            <a:off x="548640" y="841248"/>
            <a:ext cx="11091672" cy="329184"/>
          </a:xfrm>
          <a:prstGeom prst="rect">
            <a:avLst/>
          </a:prstGeom>
          <a:noFill/>
          <a:ln/>
        </p:spPr>
        <p:txBody>
          <a:bodyPr wrap="square" lIns="0" tIns="0" rIns="0" bIns="0" rtlCol="0" anchor="t"/>
          <a:lstStyle/>
          <a:p>
            <a:pPr algn="l" indent="0" marL="0">
              <a:buNone/>
            </a:pPr>
            <a:r>
              <a:rPr lang="en-US" sz="1200" dirty="0">
                <a:solidFill>
                  <a:srgbClr val="6E6A85"/>
                </a:solidFill>
                <a:latin typeface="Calibri" pitchFamily="34" charset="0"/>
                <a:ea typeface="Calibri" pitchFamily="34" charset="-122"/>
                <a:cs typeface="Calibri" pitchFamily="34" charset="-120"/>
              </a:rPr>
              <a:t>Three constraints from RCIC policy shaped this design</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1672" cy="914400"/>
        </p:xfrm>
        <a:graphic>
          <a:graphicData uri="http://schemas.openxmlformats.org/drawingml/2006/table">
            <a:tbl>
              <a:tblPr/>
              <a:tblGrid>
                <a:gridCol w="1371600"/>
                <a:gridCol w="3566160"/>
                <a:gridCol w="6153912"/>
              </a:tblGrid>
              <a:tr h="62179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Concern</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Constraint</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Design answer</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r>
              <a:tr h="621792">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Login</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HPC3 password login requires an interactive Duo push; users must be on the campus network or VPN</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paramiko keyboard-interactive with a duo_callback — the gateway thread blocks on duo_event until the UI posts the chosen method. HPC3 credentials are NEVER stored; only a bcrypt hash of the APP password lives in the DB.</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621792">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Group permissions</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Paths under /dfs3b/ruic20_lab/ require an active ruic20_hpc UNIX group</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wrap_in_group base64-encodes the whole command and pipes it into sg &lt;group&gt; -c 'bash -s', so heredocs and quoting survive untouched.</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621792">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GPU serving</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Nodes are shared, so a fixed vLLM port would collide with another user's serve</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The serve job picks a FREE port and records it per job id at $HOME/.bioagent/vllm.&lt;jobid&gt;.port; the gateway reads it back and opens a local forward. Jobs are per-user named and isolated via squeue --me.</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621792">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Containment</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Heavy work must not run on the web host; contained code must not be able to damage raw data</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Every job is a Singularity exec with --containall: the dataset is bind-mounted READ-ONLY, only work/ and artifacts/ are writable, and every other host path is hidden.</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621792">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Code freshness</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Rebuilding a .sif for every tool edit is untenable (HPC3 has no fakeroot)</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50" dirty="0">
                          <a:solidFill>
                            <a:srgbClr val="1E1B33"/>
                          </a:solidFill>
                          <a:latin typeface="Calibri" pitchFamily="34" charset="0"/>
                          <a:ea typeface="Calibri" pitchFamily="34" charset="-122"/>
                          <a:cs typeface="Calibri" pitchFamily="34" charset="-120"/>
                        </a:rPr>
                        <a:t>The live source dir on dfs3b is bind-mounted read-only and put on PYTHONPATH, so editing a tool only needs a code sync — never an image rebuild.</a:t>
                      </a:r>
                      <a:endParaRPr lang="en-US" sz="95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382512"/>
            <a:ext cx="9144000" cy="274320"/>
          </a:xfrm>
          <a:prstGeom prst="rect">
            <a:avLst/>
          </a:prstGeom>
          <a:noFill/>
          <a:ln/>
        </p:spPr>
        <p:txBody>
          <a:bodyPr wrap="square" lIns="0" tIns="0" rIns="0" bIns="0" rtlCol="0" anchor="ctr"/>
          <a:lstStyle/>
          <a:p>
            <a:pPr indent="0" marL="0">
              <a:buNone/>
            </a:pPr>
            <a:r>
              <a:rPr lang="en-US" sz="900" dirty="0">
                <a:solidFill>
                  <a:srgbClr val="A6A2B8"/>
                </a:solidFill>
                <a:latin typeface="Calibri" pitchFamily="34" charset="0"/>
                <a:ea typeface="Calibri" pitchFamily="34" charset="-122"/>
                <a:cs typeface="Calibri" pitchFamily="34" charset="-120"/>
              </a:rPr>
              <a:t>AiScientist · Technical Specification · v0.2.0</a:t>
            </a:r>
            <a:endParaRPr lang="en-US" sz="900" dirty="0"/>
          </a:p>
        </p:txBody>
      </p:sp>
      <p:sp>
        <p:nvSpPr>
          <p:cNvPr id="6" name="Text 3"/>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A6A2B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10896"/>
            <a:ext cx="11091672" cy="502920"/>
          </a:xfrm>
          <a:prstGeom prst="rect">
            <a:avLst/>
          </a:prstGeom>
          <a:noFill/>
          <a:ln/>
        </p:spPr>
        <p:txBody>
          <a:bodyPr wrap="square" lIns="0" tIns="0" rIns="0" bIns="0" rtlCol="0" anchor="ctr"/>
          <a:lstStyle/>
          <a:p>
            <a:pPr algn="l" indent="0" marL="0">
              <a:buNone/>
            </a:pPr>
            <a:r>
              <a:rPr lang="en-US" sz="2700" b="1" dirty="0">
                <a:solidFill>
                  <a:srgbClr val="1E1B33"/>
                </a:solidFill>
                <a:latin typeface="Cambria" pitchFamily="34" charset="0"/>
                <a:ea typeface="Cambria" pitchFamily="34" charset="-122"/>
                <a:cs typeface="Cambria" pitchFamily="34" charset="-120"/>
              </a:rPr>
              <a:t>The Slurm batch lifecycle</a:t>
            </a:r>
            <a:endParaRPr lang="en-US" sz="2700" dirty="0"/>
          </a:p>
        </p:txBody>
      </p:sp>
      <p:sp>
        <p:nvSpPr>
          <p:cNvPr id="3" name="Text 1"/>
          <p:cNvSpPr/>
          <p:nvPr/>
        </p:nvSpPr>
        <p:spPr>
          <a:xfrm>
            <a:off x="548640" y="841248"/>
            <a:ext cx="11091672" cy="329184"/>
          </a:xfrm>
          <a:prstGeom prst="rect">
            <a:avLst/>
          </a:prstGeom>
          <a:noFill/>
          <a:ln/>
        </p:spPr>
        <p:txBody>
          <a:bodyPr wrap="square" lIns="0" tIns="0" rIns="0" bIns="0" rtlCol="0" anchor="t"/>
          <a:lstStyle/>
          <a:p>
            <a:pPr algn="l" indent="0" marL="0">
              <a:buNone/>
            </a:pPr>
            <a:r>
              <a:rPr lang="en-US" sz="1200" dirty="0">
                <a:solidFill>
                  <a:srgbClr val="6E6A85"/>
                </a:solidFill>
                <a:latin typeface="Calibri" pitchFamily="34" charset="0"/>
                <a:ea typeface="Calibri" pitchFamily="34" charset="-122"/>
                <a:cs typeface="Calibri" pitchFamily="34" charset="-120"/>
              </a:rPr>
              <a:t>The hard part on a shared cluster is not running the job — it is the QUEUE</a:t>
            </a:r>
            <a:endParaRPr lang="en-US" sz="1200" dirty="0"/>
          </a:p>
        </p:txBody>
      </p:sp>
      <p:sp>
        <p:nvSpPr>
          <p:cNvPr id="4" name="Shape 2"/>
          <p:cNvSpPr/>
          <p:nvPr/>
        </p:nvSpPr>
        <p:spPr>
          <a:xfrm>
            <a:off x="548640" y="1316736"/>
            <a:ext cx="2615184" cy="1874520"/>
          </a:xfrm>
          <a:prstGeom prst="roundRect">
            <a:avLst>
              <a:gd name="adj" fmla="val 3415"/>
            </a:avLst>
          </a:prstGeom>
          <a:solidFill>
            <a:srgbClr val="E9E7F3"/>
          </a:solidFill>
          <a:ln w="6350">
            <a:solidFill>
              <a:srgbClr val="E9E7F3"/>
            </a:solidFill>
            <a:prstDash val="solid"/>
          </a:ln>
        </p:spPr>
      </p:sp>
      <p:sp>
        <p:nvSpPr>
          <p:cNvPr id="5" name="Shape 3"/>
          <p:cNvSpPr/>
          <p:nvPr/>
        </p:nvSpPr>
        <p:spPr>
          <a:xfrm>
            <a:off x="694944" y="1463040"/>
            <a:ext cx="274320" cy="274320"/>
          </a:xfrm>
          <a:prstGeom prst="ellipse">
            <a:avLst/>
          </a:prstGeom>
          <a:solidFill>
            <a:srgbClr val="3F3684"/>
          </a:solidFill>
          <a:ln w="12700">
            <a:solidFill>
              <a:srgbClr val="3F3684"/>
            </a:solidFill>
            <a:prstDash val="solid"/>
          </a:ln>
        </p:spPr>
      </p:sp>
      <p:sp>
        <p:nvSpPr>
          <p:cNvPr id="6" name="Text 4"/>
          <p:cNvSpPr/>
          <p:nvPr/>
        </p:nvSpPr>
        <p:spPr>
          <a:xfrm>
            <a:off x="694944" y="14630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1042416" y="1426464"/>
            <a:ext cx="1975104" cy="310896"/>
          </a:xfrm>
          <a:prstGeom prst="rect">
            <a:avLst/>
          </a:prstGeom>
          <a:noFill/>
          <a:ln/>
        </p:spPr>
        <p:txBody>
          <a:bodyPr wrap="square" lIns="0" tIns="0" rIns="0" bIns="0" rtlCol="0" anchor="ctr"/>
          <a:lstStyle/>
          <a:p>
            <a:pPr indent="0" marL="0">
              <a:buNone/>
            </a:pPr>
            <a:r>
              <a:rPr lang="en-US" sz="1200" b="1" dirty="0">
                <a:solidFill>
                  <a:srgbClr val="1E1B33"/>
                </a:solidFill>
                <a:latin typeface="Calibri" pitchFamily="34" charset="0"/>
                <a:ea typeface="Calibri" pitchFamily="34" charset="-122"/>
                <a:cs typeface="Calibri" pitchFamily="34" charset="-120"/>
              </a:rPr>
              <a:t>submit</a:t>
            </a:r>
            <a:endParaRPr lang="en-US" sz="1200" dirty="0"/>
          </a:p>
        </p:txBody>
      </p:sp>
      <p:sp>
        <p:nvSpPr>
          <p:cNvPr id="8" name="Text 6"/>
          <p:cNvSpPr/>
          <p:nvPr/>
        </p:nvSpPr>
        <p:spPr>
          <a:xfrm>
            <a:off x="694944" y="1810512"/>
            <a:ext cx="2322576" cy="1280160"/>
          </a:xfrm>
          <a:prstGeom prst="rect">
            <a:avLst/>
          </a:prstGeom>
          <a:noFill/>
          <a:ln/>
        </p:spPr>
        <p:txBody>
          <a:bodyPr wrap="square" lIns="0" tIns="0" rIns="0" bIns="0" rtlCol="0" anchor="t"/>
          <a:lstStyle/>
          <a:p>
            <a:pPr indent="0" marL="0">
              <a:lnSpc>
                <a:spcPts val="1250"/>
              </a:lnSpc>
              <a:buNone/>
            </a:pPr>
            <a:r>
              <a:rPr lang="en-US" sz="950" dirty="0">
                <a:solidFill>
                  <a:srgbClr val="6E6A85"/>
                </a:solidFill>
                <a:latin typeface="Calibri" pitchFamily="34" charset="0"/>
                <a:ea typeface="Calibri" pitchFamily="34" charset="-122"/>
                <a:cs typeface="Calibri" pitchFamily="34" charset="-120"/>
              </a:rPr>
              <a:t>sbatch a generated #!/bin/bash script; job_id recorded to the registry immediately</a:t>
            </a:r>
            <a:endParaRPr lang="en-US" sz="950" dirty="0"/>
          </a:p>
        </p:txBody>
      </p:sp>
      <p:sp>
        <p:nvSpPr>
          <p:cNvPr id="9" name="Shape 7"/>
          <p:cNvSpPr/>
          <p:nvPr/>
        </p:nvSpPr>
        <p:spPr>
          <a:xfrm>
            <a:off x="3182112" y="2249424"/>
            <a:ext cx="173736" cy="0"/>
          </a:xfrm>
          <a:prstGeom prst="line">
            <a:avLst/>
          </a:prstGeom>
          <a:noFill/>
          <a:ln w="19050">
            <a:solidFill>
              <a:srgbClr val="6E63B8"/>
            </a:solidFill>
            <a:prstDash val="solid"/>
            <a:tailEnd type="triangle"/>
          </a:ln>
        </p:spPr>
      </p:sp>
      <p:sp>
        <p:nvSpPr>
          <p:cNvPr id="10" name="Shape 8"/>
          <p:cNvSpPr/>
          <p:nvPr/>
        </p:nvSpPr>
        <p:spPr>
          <a:xfrm>
            <a:off x="3374136" y="1316736"/>
            <a:ext cx="2615184" cy="1874520"/>
          </a:xfrm>
          <a:prstGeom prst="roundRect">
            <a:avLst>
              <a:gd name="adj" fmla="val 3415"/>
            </a:avLst>
          </a:prstGeom>
          <a:solidFill>
            <a:srgbClr val="F3F2F8"/>
          </a:solidFill>
          <a:ln w="6350">
            <a:solidFill>
              <a:srgbClr val="F3F2F8"/>
            </a:solidFill>
            <a:prstDash val="solid"/>
          </a:ln>
        </p:spPr>
      </p:sp>
      <p:sp>
        <p:nvSpPr>
          <p:cNvPr id="11" name="Shape 9"/>
          <p:cNvSpPr/>
          <p:nvPr/>
        </p:nvSpPr>
        <p:spPr>
          <a:xfrm>
            <a:off x="3520440" y="1463040"/>
            <a:ext cx="274320" cy="274320"/>
          </a:xfrm>
          <a:prstGeom prst="ellipse">
            <a:avLst/>
          </a:prstGeom>
          <a:solidFill>
            <a:srgbClr val="3F3684"/>
          </a:solidFill>
          <a:ln w="12700">
            <a:solidFill>
              <a:srgbClr val="3F3684"/>
            </a:solidFill>
            <a:prstDash val="solid"/>
          </a:ln>
        </p:spPr>
      </p:sp>
      <p:sp>
        <p:nvSpPr>
          <p:cNvPr id="12" name="Text 10"/>
          <p:cNvSpPr/>
          <p:nvPr/>
        </p:nvSpPr>
        <p:spPr>
          <a:xfrm>
            <a:off x="3520440" y="14630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p:nvPr/>
        </p:nvSpPr>
        <p:spPr>
          <a:xfrm>
            <a:off x="3867912" y="1426464"/>
            <a:ext cx="1975104" cy="310896"/>
          </a:xfrm>
          <a:prstGeom prst="rect">
            <a:avLst/>
          </a:prstGeom>
          <a:noFill/>
          <a:ln/>
        </p:spPr>
        <p:txBody>
          <a:bodyPr wrap="square" lIns="0" tIns="0" rIns="0" bIns="0" rtlCol="0" anchor="ctr"/>
          <a:lstStyle/>
          <a:p>
            <a:pPr indent="0" marL="0">
              <a:buNone/>
            </a:pPr>
            <a:r>
              <a:rPr lang="en-US" sz="1200" b="1" dirty="0">
                <a:solidFill>
                  <a:srgbClr val="1E1B33"/>
                </a:solidFill>
                <a:latin typeface="Calibri" pitchFamily="34" charset="0"/>
                <a:ea typeface="Calibri" pitchFamily="34" charset="-122"/>
                <a:cs typeface="Calibri" pitchFamily="34" charset="-120"/>
              </a:rPr>
              <a:t>wait PD → R</a:t>
            </a:r>
            <a:endParaRPr lang="en-US" sz="1200" dirty="0"/>
          </a:p>
        </p:txBody>
      </p:sp>
      <p:sp>
        <p:nvSpPr>
          <p:cNvPr id="14" name="Text 12"/>
          <p:cNvSpPr/>
          <p:nvPr/>
        </p:nvSpPr>
        <p:spPr>
          <a:xfrm>
            <a:off x="3520440" y="1810512"/>
            <a:ext cx="2322576" cy="1280160"/>
          </a:xfrm>
          <a:prstGeom prst="rect">
            <a:avLst/>
          </a:prstGeom>
          <a:noFill/>
          <a:ln/>
        </p:spPr>
        <p:txBody>
          <a:bodyPr wrap="square" lIns="0" tIns="0" rIns="0" bIns="0" rtlCol="0" anchor="t"/>
          <a:lstStyle/>
          <a:p>
            <a:pPr indent="0" marL="0">
              <a:lnSpc>
                <a:spcPts val="1250"/>
              </a:lnSpc>
              <a:buNone/>
            </a:pPr>
            <a:r>
              <a:rPr lang="en-US" sz="950" dirty="0">
                <a:solidFill>
                  <a:srgbClr val="6E6A85"/>
                </a:solidFill>
                <a:latin typeface="Calibri" pitchFamily="34" charset="0"/>
                <a:ea typeface="Calibri" pitchFamily="34" charset="-122"/>
                <a:cs typeface="Calibri" pitchFamily="34" charset="-120"/>
              </a:rPr>
              <a:t>if it never starts within startup_timeout_s: scancel and RESUBMIT, bounded by max_attempts — a long queue is not a hard failure</a:t>
            </a:r>
            <a:endParaRPr lang="en-US" sz="950" dirty="0"/>
          </a:p>
        </p:txBody>
      </p:sp>
      <p:sp>
        <p:nvSpPr>
          <p:cNvPr id="15" name="Shape 13"/>
          <p:cNvSpPr/>
          <p:nvPr/>
        </p:nvSpPr>
        <p:spPr>
          <a:xfrm>
            <a:off x="6007608" y="2249424"/>
            <a:ext cx="173736" cy="0"/>
          </a:xfrm>
          <a:prstGeom prst="line">
            <a:avLst/>
          </a:prstGeom>
          <a:noFill/>
          <a:ln w="19050">
            <a:solidFill>
              <a:srgbClr val="6E63B8"/>
            </a:solidFill>
            <a:prstDash val="solid"/>
            <a:tailEnd type="triangle"/>
          </a:ln>
        </p:spPr>
      </p:sp>
      <p:sp>
        <p:nvSpPr>
          <p:cNvPr id="16" name="Shape 14"/>
          <p:cNvSpPr/>
          <p:nvPr/>
        </p:nvSpPr>
        <p:spPr>
          <a:xfrm>
            <a:off x="6199632" y="1316736"/>
            <a:ext cx="2615184" cy="1874520"/>
          </a:xfrm>
          <a:prstGeom prst="roundRect">
            <a:avLst>
              <a:gd name="adj" fmla="val 3415"/>
            </a:avLst>
          </a:prstGeom>
          <a:solidFill>
            <a:srgbClr val="F3F2F8"/>
          </a:solidFill>
          <a:ln w="6350">
            <a:solidFill>
              <a:srgbClr val="F3F2F8"/>
            </a:solidFill>
            <a:prstDash val="solid"/>
          </a:ln>
        </p:spPr>
      </p:sp>
      <p:sp>
        <p:nvSpPr>
          <p:cNvPr id="17" name="Shape 15"/>
          <p:cNvSpPr/>
          <p:nvPr/>
        </p:nvSpPr>
        <p:spPr>
          <a:xfrm>
            <a:off x="6345936" y="1463040"/>
            <a:ext cx="274320" cy="274320"/>
          </a:xfrm>
          <a:prstGeom prst="ellipse">
            <a:avLst/>
          </a:prstGeom>
          <a:solidFill>
            <a:srgbClr val="3F3684"/>
          </a:solidFill>
          <a:ln w="12700">
            <a:solidFill>
              <a:srgbClr val="3F3684"/>
            </a:solidFill>
            <a:prstDash val="solid"/>
          </a:ln>
        </p:spPr>
      </p:sp>
      <p:sp>
        <p:nvSpPr>
          <p:cNvPr id="18" name="Text 16"/>
          <p:cNvSpPr/>
          <p:nvPr/>
        </p:nvSpPr>
        <p:spPr>
          <a:xfrm>
            <a:off x="6345936" y="14630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9" name="Text 17"/>
          <p:cNvSpPr/>
          <p:nvPr/>
        </p:nvSpPr>
        <p:spPr>
          <a:xfrm>
            <a:off x="6693408" y="1426464"/>
            <a:ext cx="1975104" cy="310896"/>
          </a:xfrm>
          <a:prstGeom prst="rect">
            <a:avLst/>
          </a:prstGeom>
          <a:noFill/>
          <a:ln/>
        </p:spPr>
        <p:txBody>
          <a:bodyPr wrap="square" lIns="0" tIns="0" rIns="0" bIns="0" rtlCol="0" anchor="ctr"/>
          <a:lstStyle/>
          <a:p>
            <a:pPr indent="0" marL="0">
              <a:buNone/>
            </a:pPr>
            <a:r>
              <a:rPr lang="en-US" sz="1200" b="1" dirty="0">
                <a:solidFill>
                  <a:srgbClr val="1E1B33"/>
                </a:solidFill>
                <a:latin typeface="Calibri" pitchFamily="34" charset="0"/>
                <a:ea typeface="Calibri" pitchFamily="34" charset="-122"/>
                <a:cs typeface="Calibri" pitchFamily="34" charset="-120"/>
              </a:rPr>
              <a:t>wait COMPLETE</a:t>
            </a:r>
            <a:endParaRPr lang="en-US" sz="1200" dirty="0"/>
          </a:p>
        </p:txBody>
      </p:sp>
      <p:sp>
        <p:nvSpPr>
          <p:cNvPr id="20" name="Text 18"/>
          <p:cNvSpPr/>
          <p:nvPr/>
        </p:nvSpPr>
        <p:spPr>
          <a:xfrm>
            <a:off x="6345936" y="1810512"/>
            <a:ext cx="2322576" cy="1280160"/>
          </a:xfrm>
          <a:prstGeom prst="rect">
            <a:avLst/>
          </a:prstGeom>
          <a:noFill/>
          <a:ln/>
        </p:spPr>
        <p:txBody>
          <a:bodyPr wrap="square" lIns="0" tIns="0" rIns="0" bIns="0" rtlCol="0" anchor="t"/>
          <a:lstStyle/>
          <a:p>
            <a:pPr indent="0" marL="0">
              <a:lnSpc>
                <a:spcPts val="1250"/>
              </a:lnSpc>
              <a:buNone/>
            </a:pPr>
            <a:r>
              <a:rPr lang="en-US" sz="950" dirty="0">
                <a:solidFill>
                  <a:srgbClr val="6E6A85"/>
                </a:solidFill>
                <a:latin typeface="Calibri" pitchFamily="34" charset="0"/>
                <a:ea typeface="Calibri" pitchFamily="34" charset="-122"/>
                <a:cs typeface="Calibri" pitchFamily="34" charset="-120"/>
              </a:rPr>
              <a:t>run_timeout_s derived from the SBATCH --time plus a margin; a Stop request scancels and raises JobCancelled, distinct from a real failure</a:t>
            </a:r>
            <a:endParaRPr lang="en-US" sz="950" dirty="0"/>
          </a:p>
        </p:txBody>
      </p:sp>
      <p:sp>
        <p:nvSpPr>
          <p:cNvPr id="21" name="Shape 19"/>
          <p:cNvSpPr/>
          <p:nvPr/>
        </p:nvSpPr>
        <p:spPr>
          <a:xfrm>
            <a:off x="8833104" y="2249424"/>
            <a:ext cx="173736" cy="0"/>
          </a:xfrm>
          <a:prstGeom prst="line">
            <a:avLst/>
          </a:prstGeom>
          <a:noFill/>
          <a:ln w="19050">
            <a:solidFill>
              <a:srgbClr val="6E63B8"/>
            </a:solidFill>
            <a:prstDash val="solid"/>
            <a:tailEnd type="triangle"/>
          </a:ln>
        </p:spPr>
      </p:sp>
      <p:sp>
        <p:nvSpPr>
          <p:cNvPr id="22" name="Shape 20"/>
          <p:cNvSpPr/>
          <p:nvPr/>
        </p:nvSpPr>
        <p:spPr>
          <a:xfrm>
            <a:off x="9025128" y="1316736"/>
            <a:ext cx="2615184" cy="1874520"/>
          </a:xfrm>
          <a:prstGeom prst="roundRect">
            <a:avLst>
              <a:gd name="adj" fmla="val 3415"/>
            </a:avLst>
          </a:prstGeom>
          <a:solidFill>
            <a:srgbClr val="F3F2F8"/>
          </a:solidFill>
          <a:ln w="6350">
            <a:solidFill>
              <a:srgbClr val="F3F2F8"/>
            </a:solidFill>
            <a:prstDash val="solid"/>
          </a:ln>
        </p:spPr>
      </p:sp>
      <p:sp>
        <p:nvSpPr>
          <p:cNvPr id="23" name="Shape 21"/>
          <p:cNvSpPr/>
          <p:nvPr/>
        </p:nvSpPr>
        <p:spPr>
          <a:xfrm>
            <a:off x="9171432" y="1463040"/>
            <a:ext cx="274320" cy="274320"/>
          </a:xfrm>
          <a:prstGeom prst="ellipse">
            <a:avLst/>
          </a:prstGeom>
          <a:solidFill>
            <a:srgbClr val="3F3684"/>
          </a:solidFill>
          <a:ln w="12700">
            <a:solidFill>
              <a:srgbClr val="3F3684"/>
            </a:solidFill>
            <a:prstDash val="solid"/>
          </a:ln>
        </p:spPr>
      </p:sp>
      <p:sp>
        <p:nvSpPr>
          <p:cNvPr id="24" name="Text 22"/>
          <p:cNvSpPr/>
          <p:nvPr/>
        </p:nvSpPr>
        <p:spPr>
          <a:xfrm>
            <a:off x="9171432" y="14630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5" name="Text 23"/>
          <p:cNvSpPr/>
          <p:nvPr/>
        </p:nvSpPr>
        <p:spPr>
          <a:xfrm>
            <a:off x="9518904" y="1426464"/>
            <a:ext cx="1975104" cy="310896"/>
          </a:xfrm>
          <a:prstGeom prst="rect">
            <a:avLst/>
          </a:prstGeom>
          <a:noFill/>
          <a:ln/>
        </p:spPr>
        <p:txBody>
          <a:bodyPr wrap="square" lIns="0" tIns="0" rIns="0" bIns="0" rtlCol="0" anchor="ctr"/>
          <a:lstStyle/>
          <a:p>
            <a:pPr indent="0" marL="0">
              <a:buNone/>
            </a:pPr>
            <a:r>
              <a:rPr lang="en-US" sz="1200" b="1" dirty="0">
                <a:solidFill>
                  <a:srgbClr val="1E1B33"/>
                </a:solidFill>
                <a:latin typeface="Calibri" pitchFamily="34" charset="0"/>
                <a:ea typeface="Calibri" pitchFamily="34" charset="-122"/>
                <a:cs typeface="Calibri" pitchFamily="34" charset="-120"/>
              </a:rPr>
              <a:t>conclude</a:t>
            </a:r>
            <a:endParaRPr lang="en-US" sz="1200" dirty="0"/>
          </a:p>
        </p:txBody>
      </p:sp>
      <p:sp>
        <p:nvSpPr>
          <p:cNvPr id="26" name="Text 24"/>
          <p:cNvSpPr/>
          <p:nvPr/>
        </p:nvSpPr>
        <p:spPr>
          <a:xfrm>
            <a:off x="9171432" y="1810512"/>
            <a:ext cx="2322576" cy="1280160"/>
          </a:xfrm>
          <a:prstGeom prst="rect">
            <a:avLst/>
          </a:prstGeom>
          <a:noFill/>
          <a:ln/>
        </p:spPr>
        <p:txBody>
          <a:bodyPr wrap="square" lIns="0" tIns="0" rIns="0" bIns="0" rtlCol="0" anchor="t"/>
          <a:lstStyle/>
          <a:p>
            <a:pPr indent="0" marL="0">
              <a:lnSpc>
                <a:spcPts val="1250"/>
              </a:lnSpc>
              <a:buNone/>
            </a:pPr>
            <a:r>
              <a:rPr lang="en-US" sz="950" dirty="0">
                <a:solidFill>
                  <a:srgbClr val="6E6A85"/>
                </a:solidFill>
                <a:latin typeface="Calibri" pitchFamily="34" charset="0"/>
                <a:ea typeface="Calibri" pitchFamily="34" charset="-122"/>
                <a:cs typeface="Calibri" pitchFamily="34" charset="-120"/>
              </a:rPr>
              <a:t>squeue and sacct are eventually-consistent, so we conclude ONLY on a terminal sacct state (with a gone-confirm fallback for clusters without accounting)</a:t>
            </a:r>
            <a:endParaRPr lang="en-US" sz="950" dirty="0"/>
          </a:p>
        </p:txBody>
      </p:sp>
      <p:sp>
        <p:nvSpPr>
          <p:cNvPr id="27" name="Shape 25"/>
          <p:cNvSpPr/>
          <p:nvPr/>
        </p:nvSpPr>
        <p:spPr>
          <a:xfrm>
            <a:off x="548640" y="3364992"/>
            <a:ext cx="5394960" cy="2331720"/>
          </a:xfrm>
          <a:prstGeom prst="roundRect">
            <a:avLst>
              <a:gd name="adj" fmla="val 2745"/>
            </a:avLst>
          </a:prstGeom>
          <a:solidFill>
            <a:srgbClr val="FFFFFF"/>
          </a:solidFill>
          <a:ln w="12700">
            <a:solidFill>
              <a:srgbClr val="DDDAE8"/>
            </a:solidFill>
            <a:prstDash val="solid"/>
          </a:ln>
        </p:spPr>
      </p:sp>
      <p:sp>
        <p:nvSpPr>
          <p:cNvPr id="28" name="Text 26"/>
          <p:cNvSpPr/>
          <p:nvPr/>
        </p:nvSpPr>
        <p:spPr>
          <a:xfrm>
            <a:off x="768096" y="3474720"/>
            <a:ext cx="4937760" cy="310896"/>
          </a:xfrm>
          <a:prstGeom prst="rect">
            <a:avLst/>
          </a:prstGeom>
          <a:noFill/>
          <a:ln/>
        </p:spPr>
        <p:txBody>
          <a:bodyPr wrap="square" lIns="0" tIns="0" rIns="0" bIns="0" rtlCol="0" anchor="ctr"/>
          <a:lstStyle/>
          <a:p>
            <a:pPr indent="0" marL="0">
              <a:buNone/>
            </a:pPr>
            <a:r>
              <a:rPr lang="en-US" sz="1300" b="1" dirty="0">
                <a:solidFill>
                  <a:srgbClr val="3F3684"/>
                </a:solidFill>
                <a:latin typeface="Calibri" pitchFamily="34" charset="0"/>
                <a:ea typeface="Calibri" pitchFamily="34" charset="-122"/>
                <a:cs typeface="Calibri" pitchFamily="34" charset="-120"/>
              </a:rPr>
              <a:t>The call contract</a:t>
            </a:r>
            <a:endParaRPr lang="en-US" sz="1300" dirty="0"/>
          </a:p>
        </p:txBody>
      </p:sp>
      <p:sp>
        <p:nvSpPr>
          <p:cNvPr id="29" name="Text 27"/>
          <p:cNvSpPr/>
          <p:nvPr/>
        </p:nvSpPr>
        <p:spPr>
          <a:xfrm>
            <a:off x="768096" y="3822192"/>
            <a:ext cx="4983480" cy="1783080"/>
          </a:xfrm>
          <a:prstGeom prst="rect">
            <a:avLst/>
          </a:prstGeom>
          <a:noFill/>
          <a:ln/>
        </p:spPr>
        <p:txBody>
          <a:bodyPr wrap="square" lIns="0" tIns="0" rIns="0" bIns="0" rtlCol="0" anchor="t"/>
          <a:lstStyle/>
          <a:p>
            <a:pPr marL="342900" indent="-342900">
              <a:lnSpc>
                <a:spcPts val="1350"/>
              </a:lnSpc>
              <a:spcAft>
                <a:spcPts val="600"/>
              </a:spcAft>
              <a:buSzPct val="100000"/>
              <a:buChar char="•"/>
            </a:pPr>
            <a:r>
              <a:rPr lang="en-US" sz="1000" dirty="0">
                <a:solidFill>
                  <a:srgbClr val="1E1B33"/>
                </a:solidFill>
                <a:latin typeface="Calibri" pitchFamily="34" charset="0"/>
                <a:ea typeface="Calibri" pitchFamily="34" charset="-122"/>
                <a:cs typeface="Calibri" pitchFamily="34" charset="-120"/>
              </a:rPr>
              <a:t>Arguments go in via a heredoc sentinel, never a shell-escaped argv</a:t>
            </a:r>
            <a:endParaRPr lang="en-US" sz="1000" dirty="0"/>
          </a:p>
          <a:p>
            <a:pPr marL="342900" indent="-342900">
              <a:lnSpc>
                <a:spcPts val="1350"/>
              </a:lnSpc>
              <a:spcAft>
                <a:spcPts val="600"/>
              </a:spcAft>
              <a:buSzPct val="100000"/>
              <a:buChar char="•"/>
            </a:pPr>
            <a:r>
              <a:rPr lang="en-US" sz="1000" dirty="0">
                <a:solidFill>
                  <a:srgbClr val="1E1B33"/>
                </a:solidFill>
                <a:latin typeface="Calibri" pitchFamily="34" charset="0"/>
                <a:ea typeface="Calibri" pitchFamily="34" charset="-122"/>
                <a:cs typeface="Calibri" pitchFamily="34" charset="-120"/>
              </a:rPr>
              <a:t>The job prints its result as one line prefixed BIOAGENT_RESULT_JSON</a:t>
            </a:r>
            <a:endParaRPr lang="en-US" sz="1000" dirty="0"/>
          </a:p>
          <a:p>
            <a:pPr marL="342900" indent="-342900">
              <a:lnSpc>
                <a:spcPts val="1350"/>
              </a:lnSpc>
              <a:spcAft>
                <a:spcPts val="600"/>
              </a:spcAft>
              <a:buSzPct val="100000"/>
              <a:buChar char="•"/>
            </a:pPr>
            <a:r>
              <a:rPr lang="en-US" sz="1000" dirty="0">
                <a:solidFill>
                  <a:srgbClr val="1E1B33"/>
                </a:solidFill>
                <a:latin typeface="Calibri" pitchFamily="34" charset="0"/>
                <a:ea typeface="Calibri" pitchFamily="34" charset="-122"/>
                <a:cs typeface="Calibri" pitchFamily="34" charset="-120"/>
              </a:rPr>
              <a:t>Entrypoints per line: scrna_cli · variant_cli · phenotype_cli · paperqa_cli</a:t>
            </a:r>
            <a:endParaRPr lang="en-US" sz="1000" dirty="0"/>
          </a:p>
          <a:p>
            <a:pPr marL="342900" indent="-342900">
              <a:lnSpc>
                <a:spcPts val="1350"/>
              </a:lnSpc>
              <a:spcAft>
                <a:spcPts val="600"/>
              </a:spcAft>
              <a:buSzPct val="100000"/>
              <a:buChar char="•"/>
            </a:pPr>
            <a:r>
              <a:rPr lang="en-US" sz="1000" dirty="0">
                <a:solidFill>
                  <a:srgbClr val="1E1B33"/>
                </a:solidFill>
                <a:latin typeface="Calibri" pitchFamily="34" charset="0"/>
                <a:ea typeface="Calibri" pitchFamily="34" charset="-122"/>
                <a:cs typeface="Calibri" pitchFamily="34" charset="-120"/>
              </a:rPr>
              <a:t>Small figures/tables are synced back; checkpoints stay on DFS</a:t>
            </a:r>
            <a:endParaRPr lang="en-US" sz="1000" dirty="0"/>
          </a:p>
          <a:p>
            <a:pPr marL="342900" indent="-342900">
              <a:lnSpc>
                <a:spcPts val="1350"/>
              </a:lnSpc>
              <a:spcAft>
                <a:spcPts val="600"/>
              </a:spcAft>
              <a:buSzPct val="100000"/>
              <a:buChar char="•"/>
            </a:pPr>
            <a:r>
              <a:rPr lang="en-US" sz="1000" dirty="0">
                <a:solidFill>
                  <a:srgbClr val="1E1B33"/>
                </a:solidFill>
                <a:latin typeface="Calibri" pitchFamily="34" charset="0"/>
                <a:ea typeface="Calibri" pitchFamily="34" charset="-122"/>
                <a:cs typeface="Calibri" pitchFamily="34" charset="-120"/>
              </a:rPr>
              <a:t>Optional per-run memoization stops a re-called tool from clobbering good tables</a:t>
            </a:r>
            <a:endParaRPr lang="en-US" sz="1000" dirty="0"/>
          </a:p>
        </p:txBody>
      </p:sp>
      <p:sp>
        <p:nvSpPr>
          <p:cNvPr id="30" name="Shape 28"/>
          <p:cNvSpPr/>
          <p:nvPr/>
        </p:nvSpPr>
        <p:spPr>
          <a:xfrm>
            <a:off x="6163056" y="3364992"/>
            <a:ext cx="5477256" cy="2331720"/>
          </a:xfrm>
          <a:prstGeom prst="roundRect">
            <a:avLst>
              <a:gd name="adj" fmla="val 2745"/>
            </a:avLst>
          </a:prstGeom>
          <a:solidFill>
            <a:srgbClr val="FFFFFF"/>
          </a:solidFill>
          <a:ln w="12700">
            <a:solidFill>
              <a:srgbClr val="DDDAE8"/>
            </a:solidFill>
            <a:prstDash val="solid"/>
          </a:ln>
        </p:spPr>
      </p:sp>
      <p:sp>
        <p:nvSpPr>
          <p:cNvPr id="31" name="Text 29"/>
          <p:cNvSpPr/>
          <p:nvPr/>
        </p:nvSpPr>
        <p:spPr>
          <a:xfrm>
            <a:off x="6382512" y="3474720"/>
            <a:ext cx="5029200" cy="310896"/>
          </a:xfrm>
          <a:prstGeom prst="rect">
            <a:avLst/>
          </a:prstGeom>
          <a:noFill/>
          <a:ln/>
        </p:spPr>
        <p:txBody>
          <a:bodyPr wrap="square" lIns="0" tIns="0" rIns="0" bIns="0" rtlCol="0" anchor="ctr"/>
          <a:lstStyle/>
          <a:p>
            <a:pPr indent="0" marL="0">
              <a:buNone/>
            </a:pPr>
            <a:r>
              <a:rPr lang="en-US" sz="1300" b="1" dirty="0">
                <a:solidFill>
                  <a:srgbClr val="17B8A6"/>
                </a:solidFill>
                <a:latin typeface="Calibri" pitchFamily="34" charset="0"/>
                <a:ea typeface="Calibri" pitchFamily="34" charset="-122"/>
                <a:cs typeface="Calibri" pitchFamily="34" charset="-120"/>
              </a:rPr>
              <a:t>Graceful degradation</a:t>
            </a:r>
            <a:endParaRPr lang="en-US" sz="1300" dirty="0"/>
          </a:p>
        </p:txBody>
      </p:sp>
      <p:sp>
        <p:nvSpPr>
          <p:cNvPr id="32" name="Text 30"/>
          <p:cNvSpPr/>
          <p:nvPr/>
        </p:nvSpPr>
        <p:spPr>
          <a:xfrm>
            <a:off x="6382512" y="3822192"/>
            <a:ext cx="5029200" cy="1783080"/>
          </a:xfrm>
          <a:prstGeom prst="rect">
            <a:avLst/>
          </a:prstGeom>
          <a:noFill/>
          <a:ln/>
        </p:spPr>
        <p:txBody>
          <a:bodyPr wrap="square" lIns="0" tIns="0" rIns="0" bIns="0" rtlCol="0" anchor="t"/>
          <a:lstStyle/>
          <a:p>
            <a:pPr indent="0" marL="0">
              <a:lnSpc>
                <a:spcPts val="1350"/>
              </a:lnSpc>
              <a:buNone/>
            </a:pPr>
            <a:r>
              <a:rPr lang="en-US" sz="1000" dirty="0">
                <a:solidFill>
                  <a:srgbClr val="1E1B33"/>
                </a:solidFill>
                <a:latin typeface="Calibri" pitchFamily="34" charset="0"/>
                <a:ea typeface="Calibri" pitchFamily="34" charset="-122"/>
                <a:cs typeface="Calibri" pitchFamily="34" charset="-120"/>
              </a:rPr>
              <a:t>If no live remote is wired — offline, mock mode, or HPC disabled — every offload executor FALLS BACK to running the same tool in-process. A run never hard-fails just because the cluster is unavailable, and the local test suite exercises that path unchanged. The trade-off is explicit and logged: the REST variant path, for example, announces loudly that it is capped at the first 500 variants rather than silently reporting a truncated WGS VCF as a small cohort.</a:t>
            </a:r>
            <a:endParaRPr lang="en-US" sz="1000" dirty="0"/>
          </a:p>
        </p:txBody>
      </p:sp>
      <p:sp>
        <p:nvSpPr>
          <p:cNvPr id="33" name="Text 31"/>
          <p:cNvSpPr/>
          <p:nvPr/>
        </p:nvSpPr>
        <p:spPr>
          <a:xfrm>
            <a:off x="548640" y="6382512"/>
            <a:ext cx="9144000" cy="274320"/>
          </a:xfrm>
          <a:prstGeom prst="rect">
            <a:avLst/>
          </a:prstGeom>
          <a:noFill/>
          <a:ln/>
        </p:spPr>
        <p:txBody>
          <a:bodyPr wrap="square" lIns="0" tIns="0" rIns="0" bIns="0" rtlCol="0" anchor="ctr"/>
          <a:lstStyle/>
          <a:p>
            <a:pPr indent="0" marL="0">
              <a:buNone/>
            </a:pPr>
            <a:r>
              <a:rPr lang="en-US" sz="900" dirty="0">
                <a:solidFill>
                  <a:srgbClr val="A6A2B8"/>
                </a:solidFill>
                <a:latin typeface="Calibri" pitchFamily="34" charset="0"/>
                <a:ea typeface="Calibri" pitchFamily="34" charset="-122"/>
                <a:cs typeface="Calibri" pitchFamily="34" charset="-120"/>
              </a:rPr>
              <a:t>AiScientist · Technical Specification · v0.2.0</a:t>
            </a:r>
            <a:endParaRPr lang="en-US" sz="900" dirty="0"/>
          </a:p>
        </p:txBody>
      </p:sp>
      <p:sp>
        <p:nvSpPr>
          <p:cNvPr id="34" name="Text 32"/>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A6A2B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42B"/>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211D42"/>
          </a:solidFill>
          <a:ln w="12700">
            <a:solidFill>
              <a:srgbClr val="333333"/>
            </a:solidFill>
            <a:prstDash val="solid"/>
          </a:ln>
        </p:spPr>
      </p:sp>
      <p:sp>
        <p:nvSpPr>
          <p:cNvPr id="3" name="Shape 1"/>
          <p:cNvSpPr/>
          <p:nvPr/>
        </p:nvSpPr>
        <p:spPr>
          <a:xfrm>
            <a:off x="10881360" y="4114800"/>
            <a:ext cx="2377440" cy="2377440"/>
          </a:xfrm>
          <a:prstGeom prst="ellipse">
            <a:avLst/>
          </a:prstGeom>
          <a:solidFill>
            <a:srgbClr val="1D1A38"/>
          </a:solidFill>
          <a:ln w="12700">
            <a:solidFill>
              <a:srgbClr val="333333"/>
            </a:solidFill>
            <a:prstDash val="solid"/>
          </a:ln>
        </p:spPr>
      </p:sp>
      <p:sp>
        <p:nvSpPr>
          <p:cNvPr id="4" name="Text 2"/>
          <p:cNvSpPr/>
          <p:nvPr/>
        </p:nvSpPr>
        <p:spPr>
          <a:xfrm>
            <a:off x="548640" y="2084832"/>
            <a:ext cx="1828800" cy="822960"/>
          </a:xfrm>
          <a:prstGeom prst="rect">
            <a:avLst/>
          </a:prstGeom>
          <a:noFill/>
          <a:ln/>
        </p:spPr>
        <p:txBody>
          <a:bodyPr wrap="square" lIns="0" tIns="0" rIns="0" bIns="0" rtlCol="0" anchor="ctr"/>
          <a:lstStyle/>
          <a:p>
            <a:pPr indent="0" marL="0">
              <a:buNone/>
            </a:pPr>
            <a:r>
              <a:rPr lang="en-US" sz="5800" b="1" dirty="0">
                <a:solidFill>
                  <a:srgbClr val="17B8A6"/>
                </a:solidFill>
                <a:latin typeface="Cambria" pitchFamily="34" charset="0"/>
                <a:ea typeface="Cambria" pitchFamily="34" charset="-122"/>
                <a:cs typeface="Cambria" pitchFamily="34" charset="-120"/>
              </a:rPr>
              <a:t>04</a:t>
            </a:r>
            <a:endParaRPr lang="en-US" sz="5800" dirty="0"/>
          </a:p>
        </p:txBody>
      </p:sp>
      <p:sp>
        <p:nvSpPr>
          <p:cNvPr id="5" name="Text 3"/>
          <p:cNvSpPr/>
          <p:nvPr/>
        </p:nvSpPr>
        <p:spPr>
          <a:xfrm>
            <a:off x="548640" y="2907792"/>
            <a:ext cx="8595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Workflows &amp; business capability</a:t>
            </a:r>
            <a:endParaRPr lang="en-US" sz="3400" dirty="0"/>
          </a:p>
        </p:txBody>
      </p:sp>
      <p:sp>
        <p:nvSpPr>
          <p:cNvPr id="6" name="Text 4"/>
          <p:cNvSpPr/>
          <p:nvPr/>
        </p:nvSpPr>
        <p:spPr>
          <a:xfrm>
            <a:off x="548640" y="3712464"/>
            <a:ext cx="8229600" cy="822960"/>
          </a:xfrm>
          <a:prstGeom prst="rect">
            <a:avLst/>
          </a:prstGeom>
          <a:noFill/>
          <a:ln/>
        </p:spPr>
        <p:txBody>
          <a:bodyPr wrap="square" lIns="0" tIns="0" rIns="0" bIns="0" rtlCol="0" anchor="ctr"/>
          <a:lstStyle/>
          <a:p>
            <a:pPr indent="0" marL="0">
              <a:buNone/>
            </a:pPr>
            <a:r>
              <a:rPr lang="en-US" sz="1350" dirty="0">
                <a:solidFill>
                  <a:srgbClr val="B9B4D6"/>
                </a:solidFill>
                <a:latin typeface="Calibri" pitchFamily="34" charset="0"/>
                <a:ea typeface="Calibri" pitchFamily="34" charset="-122"/>
                <a:cs typeface="Calibri" pitchFamily="34" charset="-120"/>
              </a:rPr>
              <a:t>Three layers: fixed registry · atomic skills · preset pipelines</a:t>
            </a:r>
            <a:endParaRPr lang="en-US" sz="1350" dirty="0"/>
          </a:p>
        </p:txBody>
      </p:sp>
      <p:sp>
        <p:nvSpPr>
          <p:cNvPr id="7" name="Text 5"/>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6E6A9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10896"/>
            <a:ext cx="11091672" cy="502920"/>
          </a:xfrm>
          <a:prstGeom prst="rect">
            <a:avLst/>
          </a:prstGeom>
          <a:noFill/>
          <a:ln/>
        </p:spPr>
        <p:txBody>
          <a:bodyPr wrap="square" lIns="0" tIns="0" rIns="0" bIns="0" rtlCol="0" anchor="ctr"/>
          <a:lstStyle/>
          <a:p>
            <a:pPr algn="l" indent="0" marL="0">
              <a:buNone/>
            </a:pPr>
            <a:r>
              <a:rPr lang="en-US" sz="2700" b="1" dirty="0">
                <a:solidFill>
                  <a:srgbClr val="1E1B33"/>
                </a:solidFill>
                <a:latin typeface="Cambria" pitchFamily="34" charset="0"/>
                <a:ea typeface="Cambria" pitchFamily="34" charset="-122"/>
                <a:cs typeface="Cambria" pitchFamily="34" charset="-120"/>
              </a:rPr>
              <a:t>Three layers of capability</a:t>
            </a:r>
            <a:endParaRPr lang="en-US" sz="2700" dirty="0"/>
          </a:p>
        </p:txBody>
      </p:sp>
      <p:sp>
        <p:nvSpPr>
          <p:cNvPr id="3" name="Text 1"/>
          <p:cNvSpPr/>
          <p:nvPr/>
        </p:nvSpPr>
        <p:spPr>
          <a:xfrm>
            <a:off x="548640" y="841248"/>
            <a:ext cx="11091672" cy="329184"/>
          </a:xfrm>
          <a:prstGeom prst="rect">
            <a:avLst/>
          </a:prstGeom>
          <a:noFill/>
          <a:ln/>
        </p:spPr>
        <p:txBody>
          <a:bodyPr wrap="square" lIns="0" tIns="0" rIns="0" bIns="0" rtlCol="0" anchor="t"/>
          <a:lstStyle/>
          <a:p>
            <a:pPr algn="l" indent="0" marL="0">
              <a:buNone/>
            </a:pPr>
            <a:r>
              <a:rPr lang="en-US" sz="1200" dirty="0">
                <a:solidFill>
                  <a:srgbClr val="6E6A85"/>
                </a:solidFill>
                <a:latin typeface="Calibri" pitchFamily="34" charset="0"/>
                <a:ea typeface="Calibri" pitchFamily="34" charset="-122"/>
                <a:cs typeface="Calibri" pitchFamily="34" charset="-120"/>
              </a:rPr>
              <a:t>"Skill" is reserved for the atomic, rewritable layer — the naming is load-bearing</a:t>
            </a:r>
            <a:endParaRPr lang="en-US" sz="1200" dirty="0"/>
          </a:p>
        </p:txBody>
      </p:sp>
      <p:sp>
        <p:nvSpPr>
          <p:cNvPr id="4" name="Shape 2"/>
          <p:cNvSpPr/>
          <p:nvPr/>
        </p:nvSpPr>
        <p:spPr>
          <a:xfrm>
            <a:off x="548640" y="1298448"/>
            <a:ext cx="11091672" cy="1371600"/>
          </a:xfrm>
          <a:prstGeom prst="roundRect">
            <a:avLst>
              <a:gd name="adj" fmla="val 4667"/>
            </a:avLst>
          </a:prstGeom>
          <a:solidFill>
            <a:srgbClr val="F3F2F8"/>
          </a:solidFill>
          <a:ln w="12700">
            <a:solidFill>
              <a:srgbClr val="DDDAE8"/>
            </a:solidFill>
            <a:prstDash val="solid"/>
          </a:ln>
        </p:spPr>
      </p:sp>
      <p:sp>
        <p:nvSpPr>
          <p:cNvPr id="5" name="Shape 3"/>
          <p:cNvSpPr/>
          <p:nvPr/>
        </p:nvSpPr>
        <p:spPr>
          <a:xfrm>
            <a:off x="768096" y="1499616"/>
            <a:ext cx="329184" cy="329184"/>
          </a:xfrm>
          <a:prstGeom prst="ellipse">
            <a:avLst/>
          </a:prstGeom>
          <a:solidFill>
            <a:srgbClr val="3F3684"/>
          </a:solidFill>
          <a:ln w="12700">
            <a:solidFill>
              <a:srgbClr val="3F3684"/>
            </a:solidFill>
            <a:prstDash val="solid"/>
          </a:ln>
        </p:spPr>
      </p:sp>
      <p:sp>
        <p:nvSpPr>
          <p:cNvPr id="6" name="Text 4"/>
          <p:cNvSpPr/>
          <p:nvPr/>
        </p:nvSpPr>
        <p:spPr>
          <a:xfrm>
            <a:off x="768096" y="14996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25296" y="1463040"/>
            <a:ext cx="4754880" cy="384048"/>
          </a:xfrm>
          <a:prstGeom prst="rect">
            <a:avLst/>
          </a:prstGeom>
          <a:noFill/>
          <a:ln/>
        </p:spPr>
        <p:txBody>
          <a:bodyPr wrap="square" lIns="0" tIns="0" rIns="0" bIns="0" rtlCol="0" anchor="ctr"/>
          <a:lstStyle/>
          <a:p>
            <a:pPr indent="0" marL="0">
              <a:buNone/>
            </a:pPr>
            <a:r>
              <a:rPr lang="en-US" sz="1400" b="1" dirty="0">
                <a:solidFill>
                  <a:srgbClr val="1E1B33"/>
                </a:solidFill>
                <a:latin typeface="Calibri" pitchFamily="34" charset="0"/>
                <a:ea typeface="Calibri" pitchFamily="34" charset="-122"/>
                <a:cs typeface="Calibri" pitchFamily="34" charset="-120"/>
              </a:rPr>
              <a:t>Registry — fixed core tools</a:t>
            </a:r>
            <a:endParaRPr lang="en-US" sz="1400" dirty="0"/>
          </a:p>
        </p:txBody>
      </p:sp>
      <p:sp>
        <p:nvSpPr>
          <p:cNvPr id="8" name="Text 6"/>
          <p:cNvSpPr/>
          <p:nvPr/>
        </p:nvSpPr>
        <p:spPr>
          <a:xfrm>
            <a:off x="6035040" y="1481328"/>
            <a:ext cx="2743200" cy="347472"/>
          </a:xfrm>
          <a:prstGeom prst="rect">
            <a:avLst/>
          </a:prstGeom>
          <a:noFill/>
          <a:ln/>
        </p:spPr>
        <p:txBody>
          <a:bodyPr wrap="square" lIns="0" tIns="0" rIns="0" bIns="0" rtlCol="0" anchor="ctr"/>
          <a:lstStyle/>
          <a:p>
            <a:pPr indent="0" marL="0">
              <a:buNone/>
            </a:pPr>
            <a:r>
              <a:rPr lang="en-US" sz="1000" dirty="0">
                <a:solidFill>
                  <a:srgbClr val="3F3684"/>
                </a:solidFill>
                <a:latin typeface="Courier New" pitchFamily="34" charset="0"/>
                <a:ea typeface="Courier New" pitchFamily="34" charset="-122"/>
                <a:cs typeface="Courier New" pitchFamily="34" charset="-120"/>
              </a:rPr>
              <a:t>agents/registry.py</a:t>
            </a:r>
            <a:endParaRPr lang="en-US" sz="1000" dirty="0"/>
          </a:p>
        </p:txBody>
      </p:sp>
      <p:sp>
        <p:nvSpPr>
          <p:cNvPr id="9" name="Text 7"/>
          <p:cNvSpPr/>
          <p:nvPr/>
        </p:nvSpPr>
        <p:spPr>
          <a:xfrm>
            <a:off x="1225296" y="1865376"/>
            <a:ext cx="10085832" cy="786384"/>
          </a:xfrm>
          <a:prstGeom prst="rect">
            <a:avLst/>
          </a:prstGeom>
          <a:noFill/>
          <a:ln/>
        </p:spPr>
        <p:txBody>
          <a:bodyPr wrap="square" lIns="0" tIns="0" rIns="0" bIns="0" rtlCol="0" anchor="t"/>
          <a:lstStyle/>
          <a:p>
            <a:pPr indent="0" marL="0">
              <a:lnSpc>
                <a:spcPts val="1350"/>
              </a:lnSpc>
              <a:buNone/>
            </a:pPr>
            <a:r>
              <a:rPr lang="en-US" sz="1050" dirty="0">
                <a:solidFill>
                  <a:srgbClr val="6E6A85"/>
                </a:solidFill>
                <a:latin typeface="Calibri" pitchFamily="34" charset="0"/>
                <a:ea typeface="Calibri" pitchFamily="34" charset="-122"/>
                <a:cs typeface="Calibri" pitchFamily="34" charset="-120"/>
              </a:rPr>
              <a:t>~10 always-visible, typed tools with JSON schemas: the analysis line, annotate_variants, map_phenotype_to_hpo, run_lirical, literature_search, deep_literature, scgpt_annotate, inspect_dataset, schematic, run_code, finish. Declared ONCE; the System page renders straight off this list. A tool that can be offloaded is routed to its HPC executor at build time.</a:t>
            </a:r>
            <a:endParaRPr lang="en-US" sz="1050" dirty="0"/>
          </a:p>
        </p:txBody>
      </p:sp>
      <p:sp>
        <p:nvSpPr>
          <p:cNvPr id="10" name="Shape 8"/>
          <p:cNvSpPr/>
          <p:nvPr/>
        </p:nvSpPr>
        <p:spPr>
          <a:xfrm>
            <a:off x="548640" y="2779776"/>
            <a:ext cx="11091672" cy="1371600"/>
          </a:xfrm>
          <a:prstGeom prst="roundRect">
            <a:avLst>
              <a:gd name="adj" fmla="val 4667"/>
            </a:avLst>
          </a:prstGeom>
          <a:solidFill>
            <a:srgbClr val="FFFFFF"/>
          </a:solidFill>
          <a:ln w="12700">
            <a:solidFill>
              <a:srgbClr val="DDDAE8"/>
            </a:solidFill>
            <a:prstDash val="solid"/>
          </a:ln>
        </p:spPr>
      </p:sp>
      <p:sp>
        <p:nvSpPr>
          <p:cNvPr id="11" name="Shape 9"/>
          <p:cNvSpPr/>
          <p:nvPr/>
        </p:nvSpPr>
        <p:spPr>
          <a:xfrm>
            <a:off x="768096" y="2980944"/>
            <a:ext cx="329184" cy="329184"/>
          </a:xfrm>
          <a:prstGeom prst="ellipse">
            <a:avLst/>
          </a:prstGeom>
          <a:solidFill>
            <a:srgbClr val="17B8A6"/>
          </a:solidFill>
          <a:ln w="12700">
            <a:solidFill>
              <a:srgbClr val="17B8A6"/>
            </a:solidFill>
            <a:prstDash val="solid"/>
          </a:ln>
        </p:spPr>
      </p:sp>
      <p:sp>
        <p:nvSpPr>
          <p:cNvPr id="12" name="Text 10"/>
          <p:cNvSpPr/>
          <p:nvPr/>
        </p:nvSpPr>
        <p:spPr>
          <a:xfrm>
            <a:off x="768096" y="29809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225296" y="2944368"/>
            <a:ext cx="4754880" cy="384048"/>
          </a:xfrm>
          <a:prstGeom prst="rect">
            <a:avLst/>
          </a:prstGeom>
          <a:noFill/>
          <a:ln/>
        </p:spPr>
        <p:txBody>
          <a:bodyPr wrap="square" lIns="0" tIns="0" rIns="0" bIns="0" rtlCol="0" anchor="ctr"/>
          <a:lstStyle/>
          <a:p>
            <a:pPr indent="0" marL="0">
              <a:buNone/>
            </a:pPr>
            <a:r>
              <a:rPr lang="en-US" sz="1400" b="1" dirty="0">
                <a:solidFill>
                  <a:srgbClr val="1E1B33"/>
                </a:solidFill>
                <a:latin typeface="Calibri" pitchFamily="34" charset="0"/>
                <a:ea typeface="Calibri" pitchFamily="34" charset="-122"/>
                <a:cs typeface="Calibri" pitchFamily="34" charset="-120"/>
              </a:rPr>
              <a:t>Skills — atomic &amp; rewritable</a:t>
            </a:r>
            <a:endParaRPr lang="en-US" sz="1400" dirty="0"/>
          </a:p>
        </p:txBody>
      </p:sp>
      <p:sp>
        <p:nvSpPr>
          <p:cNvPr id="14" name="Text 12"/>
          <p:cNvSpPr/>
          <p:nvPr/>
        </p:nvSpPr>
        <p:spPr>
          <a:xfrm>
            <a:off x="6035040" y="2962656"/>
            <a:ext cx="2743200" cy="347472"/>
          </a:xfrm>
          <a:prstGeom prst="rect">
            <a:avLst/>
          </a:prstGeom>
          <a:noFill/>
          <a:ln/>
        </p:spPr>
        <p:txBody>
          <a:bodyPr wrap="square" lIns="0" tIns="0" rIns="0" bIns="0" rtlCol="0" anchor="ctr"/>
          <a:lstStyle/>
          <a:p>
            <a:pPr indent="0" marL="0">
              <a:buNone/>
            </a:pPr>
            <a:r>
              <a:rPr lang="en-US" sz="1000" dirty="0">
                <a:solidFill>
                  <a:srgbClr val="17B8A6"/>
                </a:solidFill>
                <a:latin typeface="Courier New" pitchFamily="34" charset="0"/>
                <a:ea typeface="Courier New" pitchFamily="34" charset="-122"/>
                <a:cs typeface="Courier New" pitchFamily="34" charset="-120"/>
              </a:rPr>
              <a:t>skills/*/SKILL.md</a:t>
            </a:r>
            <a:endParaRPr lang="en-US" sz="1000" dirty="0"/>
          </a:p>
        </p:txBody>
      </p:sp>
      <p:sp>
        <p:nvSpPr>
          <p:cNvPr id="15" name="Text 13"/>
          <p:cNvSpPr/>
          <p:nvPr/>
        </p:nvSpPr>
        <p:spPr>
          <a:xfrm>
            <a:off x="1225296" y="3346704"/>
            <a:ext cx="10085832" cy="786384"/>
          </a:xfrm>
          <a:prstGeom prst="rect">
            <a:avLst/>
          </a:prstGeom>
          <a:noFill/>
          <a:ln/>
        </p:spPr>
        <p:txBody>
          <a:bodyPr wrap="square" lIns="0" tIns="0" rIns="0" bIns="0" rtlCol="0" anchor="t"/>
          <a:lstStyle/>
          <a:p>
            <a:pPr indent="0" marL="0">
              <a:lnSpc>
                <a:spcPts val="1350"/>
              </a:lnSpc>
              <a:buNone/>
            </a:pPr>
            <a:r>
              <a:rPr lang="en-US" sz="1050" dirty="0">
                <a:solidFill>
                  <a:srgbClr val="6E6A85"/>
                </a:solidFill>
                <a:latin typeface="Calibri" pitchFamily="34" charset="0"/>
                <a:ea typeface="Calibri" pitchFamily="34" charset="-122"/>
                <a:cs typeface="Calibri" pitchFamily="34" charset="-120"/>
              </a:rPr>
              <a:t>14 folder-shaped skills, each a SKILL.md (name + one-line description + body) plus a reference.py CodeAct demonstration the Scientist ADAPTS rather than executes verbatim. Loaded on demand through three-level progressive disclosure, and multi-selectable by the user in the console's Advanced panel.</a:t>
            </a:r>
            <a:endParaRPr lang="en-US" sz="1050" dirty="0"/>
          </a:p>
        </p:txBody>
      </p:sp>
      <p:sp>
        <p:nvSpPr>
          <p:cNvPr id="16" name="Shape 14"/>
          <p:cNvSpPr/>
          <p:nvPr/>
        </p:nvSpPr>
        <p:spPr>
          <a:xfrm>
            <a:off x="548640" y="4261104"/>
            <a:ext cx="11091672" cy="1371600"/>
          </a:xfrm>
          <a:prstGeom prst="roundRect">
            <a:avLst>
              <a:gd name="adj" fmla="val 4667"/>
            </a:avLst>
          </a:prstGeom>
          <a:solidFill>
            <a:srgbClr val="F3F2F8"/>
          </a:solidFill>
          <a:ln w="12700">
            <a:solidFill>
              <a:srgbClr val="DDDAE8"/>
            </a:solidFill>
            <a:prstDash val="solid"/>
          </a:ln>
        </p:spPr>
      </p:sp>
      <p:sp>
        <p:nvSpPr>
          <p:cNvPr id="17" name="Shape 15"/>
          <p:cNvSpPr/>
          <p:nvPr/>
        </p:nvSpPr>
        <p:spPr>
          <a:xfrm>
            <a:off x="768096" y="4462272"/>
            <a:ext cx="329184" cy="329184"/>
          </a:xfrm>
          <a:prstGeom prst="ellipse">
            <a:avLst/>
          </a:prstGeom>
          <a:solidFill>
            <a:srgbClr val="D9832B"/>
          </a:solidFill>
          <a:ln w="12700">
            <a:solidFill>
              <a:srgbClr val="D9832B"/>
            </a:solidFill>
            <a:prstDash val="solid"/>
          </a:ln>
        </p:spPr>
      </p:sp>
      <p:sp>
        <p:nvSpPr>
          <p:cNvPr id="18" name="Text 16"/>
          <p:cNvSpPr/>
          <p:nvPr/>
        </p:nvSpPr>
        <p:spPr>
          <a:xfrm>
            <a:off x="768096" y="446227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1225296" y="4425696"/>
            <a:ext cx="4754880" cy="384048"/>
          </a:xfrm>
          <a:prstGeom prst="rect">
            <a:avLst/>
          </a:prstGeom>
          <a:noFill/>
          <a:ln/>
        </p:spPr>
        <p:txBody>
          <a:bodyPr wrap="square" lIns="0" tIns="0" rIns="0" bIns="0" rtlCol="0" anchor="ctr"/>
          <a:lstStyle/>
          <a:p>
            <a:pPr indent="0" marL="0">
              <a:buNone/>
            </a:pPr>
            <a:r>
              <a:rPr lang="en-US" sz="1400" b="1" dirty="0">
                <a:solidFill>
                  <a:srgbClr val="1E1B33"/>
                </a:solidFill>
                <a:latin typeface="Calibri" pitchFamily="34" charset="0"/>
                <a:ea typeface="Calibri" pitchFamily="34" charset="-122"/>
                <a:cs typeface="Calibri" pitchFamily="34" charset="-120"/>
              </a:rPr>
              <a:t>Preset pipelines — fixed workflows</a:t>
            </a:r>
            <a:endParaRPr lang="en-US" sz="1400" dirty="0"/>
          </a:p>
        </p:txBody>
      </p:sp>
      <p:sp>
        <p:nvSpPr>
          <p:cNvPr id="20" name="Text 18"/>
          <p:cNvSpPr/>
          <p:nvPr/>
        </p:nvSpPr>
        <p:spPr>
          <a:xfrm>
            <a:off x="6035040" y="4443984"/>
            <a:ext cx="2743200" cy="347472"/>
          </a:xfrm>
          <a:prstGeom prst="rect">
            <a:avLst/>
          </a:prstGeom>
          <a:noFill/>
          <a:ln/>
        </p:spPr>
        <p:txBody>
          <a:bodyPr wrap="square" lIns="0" tIns="0" rIns="0" bIns="0" rtlCol="0" anchor="ctr"/>
          <a:lstStyle/>
          <a:p>
            <a:pPr indent="0" marL="0">
              <a:buNone/>
            </a:pPr>
            <a:r>
              <a:rPr lang="en-US" sz="1000" dirty="0">
                <a:solidFill>
                  <a:srgbClr val="D9832B"/>
                </a:solidFill>
                <a:latin typeface="Courier New" pitchFamily="34" charset="0"/>
                <a:ea typeface="Courier New" pitchFamily="34" charset="-122"/>
                <a:cs typeface="Courier New" pitchFamily="34" charset="-120"/>
              </a:rPr>
              <a:t>preset_pipelines/*/</a:t>
            </a:r>
            <a:endParaRPr lang="en-US" sz="1000" dirty="0"/>
          </a:p>
        </p:txBody>
      </p:sp>
      <p:sp>
        <p:nvSpPr>
          <p:cNvPr id="21" name="Text 19"/>
          <p:cNvSpPr/>
          <p:nvPr/>
        </p:nvSpPr>
        <p:spPr>
          <a:xfrm>
            <a:off x="1225296" y="4828032"/>
            <a:ext cx="10085832" cy="786384"/>
          </a:xfrm>
          <a:prstGeom prst="rect">
            <a:avLst/>
          </a:prstGeom>
          <a:noFill/>
          <a:ln/>
        </p:spPr>
        <p:txBody>
          <a:bodyPr wrap="square" lIns="0" tIns="0" rIns="0" bIns="0" rtlCol="0" anchor="t"/>
          <a:lstStyle/>
          <a:p>
            <a:pPr indent="0" marL="0">
              <a:lnSpc>
                <a:spcPts val="1350"/>
              </a:lnSpc>
              <a:buNone/>
            </a:pPr>
            <a:r>
              <a:rPr lang="en-US" sz="1050" dirty="0">
                <a:solidFill>
                  <a:srgbClr val="6E6A85"/>
                </a:solidFill>
                <a:latin typeface="Calibri" pitchFamily="34" charset="0"/>
                <a:ea typeface="Calibri" pitchFamily="34" charset="-122"/>
                <a:cs typeface="Calibri" pitchFamily="34" charset="-120"/>
              </a:rPr>
              <a:t>7 researcher-auditable protocols that STEER the PI's planning: a PROTOCOL.md / SKILL.md with an at-a-glance step table, the agent-chosen vs auto-detected vs fixed-infra parameter split, and verified benchmark numbers. The PI can auto-select one; the user can pin one as mandatory.</a:t>
            </a:r>
            <a:endParaRPr lang="en-US" sz="1050" dirty="0"/>
          </a:p>
        </p:txBody>
      </p:sp>
      <p:sp>
        <p:nvSpPr>
          <p:cNvPr id="22" name="Text 20"/>
          <p:cNvSpPr/>
          <p:nvPr/>
        </p:nvSpPr>
        <p:spPr>
          <a:xfrm>
            <a:off x="548640" y="5797296"/>
            <a:ext cx="11091672" cy="502920"/>
          </a:xfrm>
          <a:prstGeom prst="rect">
            <a:avLst/>
          </a:prstGeom>
          <a:noFill/>
          <a:ln/>
        </p:spPr>
        <p:txBody>
          <a:bodyPr wrap="square" lIns="0" tIns="0" rIns="0" bIns="0" rtlCol="0" anchor="ctr"/>
          <a:lstStyle/>
          <a:p>
            <a:pPr indent="0" marL="0">
              <a:buNone/>
            </a:pPr>
            <a:r>
              <a:rPr lang="en-US" sz="1000" i="1" dirty="0">
                <a:solidFill>
                  <a:srgbClr val="6E6A85"/>
                </a:solidFill>
                <a:latin typeface="Calibri" pitchFamily="34" charset="0"/>
                <a:ea typeface="Calibri" pitchFamily="34" charset="-122"/>
                <a:cs typeface="Calibri" pitchFamily="34" charset="-120"/>
              </a:rPr>
              <a:t>Why the registry still earns its place: keeping ~10 tools always in the tool list is cheap, while 14 skill bodies as permanent context would not be. Skills are surfaced as a short manifest and fetched only when relevant — that is the whole context argument for the split.</a:t>
            </a:r>
            <a:endParaRPr lang="en-US" sz="1000" dirty="0"/>
          </a:p>
        </p:txBody>
      </p:sp>
      <p:sp>
        <p:nvSpPr>
          <p:cNvPr id="23" name="Text 21"/>
          <p:cNvSpPr/>
          <p:nvPr/>
        </p:nvSpPr>
        <p:spPr>
          <a:xfrm>
            <a:off x="548640" y="6382512"/>
            <a:ext cx="9144000" cy="274320"/>
          </a:xfrm>
          <a:prstGeom prst="rect">
            <a:avLst/>
          </a:prstGeom>
          <a:noFill/>
          <a:ln/>
        </p:spPr>
        <p:txBody>
          <a:bodyPr wrap="square" lIns="0" tIns="0" rIns="0" bIns="0" rtlCol="0" anchor="ctr"/>
          <a:lstStyle/>
          <a:p>
            <a:pPr indent="0" marL="0">
              <a:buNone/>
            </a:pPr>
            <a:r>
              <a:rPr lang="en-US" sz="900" dirty="0">
                <a:solidFill>
                  <a:srgbClr val="A6A2B8"/>
                </a:solidFill>
                <a:latin typeface="Calibri" pitchFamily="34" charset="0"/>
                <a:ea typeface="Calibri" pitchFamily="34" charset="-122"/>
                <a:cs typeface="Calibri" pitchFamily="34" charset="-120"/>
              </a:rPr>
              <a:t>AiScientist · Technical Specification · v0.2.0</a:t>
            </a:r>
            <a:endParaRPr lang="en-US" sz="900" dirty="0"/>
          </a:p>
        </p:txBody>
      </p:sp>
      <p:sp>
        <p:nvSpPr>
          <p:cNvPr id="24" name="Text 22"/>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A6A2B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10896"/>
            <a:ext cx="11091672" cy="502920"/>
          </a:xfrm>
          <a:prstGeom prst="rect">
            <a:avLst/>
          </a:prstGeom>
          <a:noFill/>
          <a:ln/>
        </p:spPr>
        <p:txBody>
          <a:bodyPr wrap="square" lIns="0" tIns="0" rIns="0" bIns="0" rtlCol="0" anchor="ctr"/>
          <a:lstStyle/>
          <a:p>
            <a:pPr algn="l" indent="0" marL="0">
              <a:buNone/>
            </a:pPr>
            <a:r>
              <a:rPr lang="en-US" sz="2700" b="1" dirty="0">
                <a:solidFill>
                  <a:srgbClr val="1E1B33"/>
                </a:solidFill>
                <a:latin typeface="Cambria" pitchFamily="34" charset="0"/>
                <a:ea typeface="Cambria" pitchFamily="34" charset="-122"/>
                <a:cs typeface="Cambria" pitchFamily="34" charset="-120"/>
              </a:rPr>
              <a:t>What the system can complete today</a:t>
            </a:r>
            <a:endParaRPr lang="en-US" sz="2700" dirty="0"/>
          </a:p>
        </p:txBody>
      </p:sp>
      <p:sp>
        <p:nvSpPr>
          <p:cNvPr id="3" name="Text 1"/>
          <p:cNvSpPr/>
          <p:nvPr/>
        </p:nvSpPr>
        <p:spPr>
          <a:xfrm>
            <a:off x="548640" y="841248"/>
            <a:ext cx="11091672" cy="329184"/>
          </a:xfrm>
          <a:prstGeom prst="rect">
            <a:avLst/>
          </a:prstGeom>
          <a:noFill/>
          <a:ln/>
        </p:spPr>
        <p:txBody>
          <a:bodyPr wrap="square" lIns="0" tIns="0" rIns="0" bIns="0" rtlCol="0" anchor="t"/>
          <a:lstStyle/>
          <a:p>
            <a:pPr algn="l" indent="0" marL="0">
              <a:buNone/>
            </a:pPr>
            <a:r>
              <a:rPr lang="en-US" sz="1200" dirty="0">
                <a:solidFill>
                  <a:srgbClr val="6E6A85"/>
                </a:solidFill>
                <a:latin typeface="Calibri" pitchFamily="34" charset="0"/>
                <a:ea typeface="Calibri" pitchFamily="34" charset="-122"/>
                <a:cs typeface="Calibri" pitchFamily="34" charset="-120"/>
              </a:rPr>
              <a:t>Seven preset pipelines — the business capability, stated as questions a researcher can actually ask</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2148840"/>
                <a:gridCol w="5074920"/>
                <a:gridCol w="1691640"/>
                <a:gridCol w="2176272"/>
              </a:tblGrid>
              <a:tr h="53035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Pipeline</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Business question it completes</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Input</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Engine · host</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r>
              <a:tr h="530352">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celltype_annotation</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What cell types are in this dataset, and what defines each cluster?</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.h5ad</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scanpy · HPC3 job</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530352">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scgpt_annotation</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Transfer reference cell-type labels to every cell with calibrated confidence — or independently cross-check labels the data already carries</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.h5ad</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scGPT · GPU batch job</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530352">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differential_expression</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How does an experimental condition differ from control, per cell type, and what pathways does that implicate?</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.h5ad</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scanpy + gseapy · HPC3</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530352">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gene_signature_scoring</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How strongly does each cell express this signature, and does it differ across clusters or conditions?</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.h5ad</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scanpy · HPC3</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530352">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perturbation_analysis</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In a pooled CRISPR screen, which perturbations actually changed the transcriptome — and how?</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.h5ad</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scanpy + E-distance · HPC3</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530352">
                <a:tc>
                  <a:txBody>
                    <a:bodyPr/>
                    <a:lstStyle/>
                    <a:p>
                      <a:pPr indent="0" marL="0">
                        <a:buNone/>
                      </a:pPr>
                      <a:r>
                        <a:rPr lang="en-US" sz="920" b="1" dirty="0">
                          <a:solidFill>
                            <a:srgbClr val="3F3684"/>
                          </a:solidFill>
                          <a:latin typeface="Calibri" pitchFamily="34" charset="0"/>
                          <a:ea typeface="Calibri" pitchFamily="34" charset="-122"/>
                          <a:cs typeface="Calibri" pitchFamily="34" charset="-120"/>
                        </a:rPr>
                        <a:t>variant_annotation</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Which variants in this VCF matter — gene, consequence, ClinVar significance, population rarity, predicted damage — and which rank first?</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.vcf / .vcf.gz</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bcftools + offline VEP · HPC3</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530352">
                <a:tc>
                  <a:txBody>
                    <a:bodyPr/>
                    <a:lstStyle/>
                    <a:p>
                      <a:pPr indent="0" marL="0">
                        <a:buNone/>
                      </a:pPr>
                      <a:r>
                        <a:rPr lang="en-US" sz="920" b="1" dirty="0">
                          <a:solidFill>
                            <a:srgbClr val="3F3684"/>
                          </a:solidFill>
                          <a:latin typeface="Calibri" pitchFamily="34" charset="0"/>
                          <a:ea typeface="Calibri" pitchFamily="34" charset="-122"/>
                          <a:cs typeface="Calibri" pitchFamily="34" charset="-120"/>
                        </a:rPr>
                        <a:t>phenotype_variant_diagnosis</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Which disease does this patient have, and which variant explains it? Reconciles a variant shortlist with an HPO-driven per-disease differential</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VCF + free-text case note</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VEP + LIRICAL/Exomiser · HPC3</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5797296"/>
            <a:ext cx="11091672" cy="457200"/>
          </a:xfrm>
          <a:prstGeom prst="rect">
            <a:avLst/>
          </a:prstGeom>
          <a:noFill/>
          <a:ln/>
        </p:spPr>
        <p:txBody>
          <a:bodyPr wrap="square" lIns="0" tIns="0" rIns="0" bIns="0" rtlCol="0" anchor="t"/>
          <a:lstStyle/>
          <a:p>
            <a:pPr indent="0" marL="0">
              <a:lnSpc>
                <a:spcPts val="1300"/>
              </a:lnSpc>
              <a:buNone/>
            </a:pPr>
            <a:r>
              <a:rPr lang="en-US" sz="1000" i="1" dirty="0">
                <a:solidFill>
                  <a:srgbClr val="6E6A85"/>
                </a:solidFill>
                <a:latin typeface="Calibri" pitchFamily="34" charset="0"/>
                <a:ea typeface="Calibri" pitchFamily="34" charset="-122"/>
                <a:cs typeface="Calibri" pitchFamily="34" charset="-120"/>
              </a:rPr>
              <a:t>Every pipeline ends the same way: a deterministic, no-AI assembly of the exact figures and tables the tools produced, into a citable PDF/DOCX manuscript with a formatted references section built from accepted literature citations.</a:t>
            </a:r>
            <a:endParaRPr lang="en-US" sz="1000" dirty="0"/>
          </a:p>
        </p:txBody>
      </p:sp>
      <p:sp>
        <p:nvSpPr>
          <p:cNvPr id="6" name="Text 3"/>
          <p:cNvSpPr/>
          <p:nvPr/>
        </p:nvSpPr>
        <p:spPr>
          <a:xfrm>
            <a:off x="548640" y="6382512"/>
            <a:ext cx="9144000" cy="274320"/>
          </a:xfrm>
          <a:prstGeom prst="rect">
            <a:avLst/>
          </a:prstGeom>
          <a:noFill/>
          <a:ln/>
        </p:spPr>
        <p:txBody>
          <a:bodyPr wrap="square" lIns="0" tIns="0" rIns="0" bIns="0" rtlCol="0" anchor="ctr"/>
          <a:lstStyle/>
          <a:p>
            <a:pPr indent="0" marL="0">
              <a:buNone/>
            </a:pPr>
            <a:r>
              <a:rPr lang="en-US" sz="900" dirty="0">
                <a:solidFill>
                  <a:srgbClr val="A6A2B8"/>
                </a:solidFill>
                <a:latin typeface="Calibri" pitchFamily="34" charset="0"/>
                <a:ea typeface="Calibri" pitchFamily="34" charset="-122"/>
                <a:cs typeface="Calibri" pitchFamily="34" charset="-120"/>
              </a:rPr>
              <a:t>AiScientist · Technical Specification · v0.2.0</a:t>
            </a:r>
            <a:endParaRPr lang="en-US" sz="900" dirty="0"/>
          </a:p>
        </p:txBody>
      </p:sp>
      <p:sp>
        <p:nvSpPr>
          <p:cNvPr id="7" name="Text 4"/>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A6A2B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42B"/>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211D42"/>
          </a:solidFill>
          <a:ln w="12700">
            <a:solidFill>
              <a:srgbClr val="333333"/>
            </a:solidFill>
            <a:prstDash val="solid"/>
          </a:ln>
        </p:spPr>
      </p:sp>
      <p:sp>
        <p:nvSpPr>
          <p:cNvPr id="3" name="Shape 1"/>
          <p:cNvSpPr/>
          <p:nvPr/>
        </p:nvSpPr>
        <p:spPr>
          <a:xfrm>
            <a:off x="10881360" y="4114800"/>
            <a:ext cx="2377440" cy="2377440"/>
          </a:xfrm>
          <a:prstGeom prst="ellipse">
            <a:avLst/>
          </a:prstGeom>
          <a:solidFill>
            <a:srgbClr val="1D1A38"/>
          </a:solidFill>
          <a:ln w="12700">
            <a:solidFill>
              <a:srgbClr val="333333"/>
            </a:solidFill>
            <a:prstDash val="solid"/>
          </a:ln>
        </p:spPr>
      </p:sp>
      <p:sp>
        <p:nvSpPr>
          <p:cNvPr id="4" name="Text 2"/>
          <p:cNvSpPr/>
          <p:nvPr/>
        </p:nvSpPr>
        <p:spPr>
          <a:xfrm>
            <a:off x="548640" y="2084832"/>
            <a:ext cx="1828800" cy="822960"/>
          </a:xfrm>
          <a:prstGeom prst="rect">
            <a:avLst/>
          </a:prstGeom>
          <a:noFill/>
          <a:ln/>
        </p:spPr>
        <p:txBody>
          <a:bodyPr wrap="square" lIns="0" tIns="0" rIns="0" bIns="0" rtlCol="0" anchor="ctr"/>
          <a:lstStyle/>
          <a:p>
            <a:pPr indent="0" marL="0">
              <a:buNone/>
            </a:pPr>
            <a:r>
              <a:rPr lang="en-US" sz="5800" b="1" dirty="0">
                <a:solidFill>
                  <a:srgbClr val="17B8A6"/>
                </a:solidFill>
                <a:latin typeface="Cambria" pitchFamily="34" charset="0"/>
                <a:ea typeface="Cambria" pitchFamily="34" charset="-122"/>
                <a:cs typeface="Cambria" pitchFamily="34" charset="-120"/>
              </a:rPr>
              <a:t>05</a:t>
            </a:r>
            <a:endParaRPr lang="en-US" sz="5800" dirty="0"/>
          </a:p>
        </p:txBody>
      </p:sp>
      <p:sp>
        <p:nvSpPr>
          <p:cNvPr id="5" name="Text 3"/>
          <p:cNvSpPr/>
          <p:nvPr/>
        </p:nvSpPr>
        <p:spPr>
          <a:xfrm>
            <a:off x="548640" y="2907792"/>
            <a:ext cx="8595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Engineering choices</a:t>
            </a:r>
            <a:endParaRPr lang="en-US" sz="3400" dirty="0"/>
          </a:p>
        </p:txBody>
      </p:sp>
      <p:sp>
        <p:nvSpPr>
          <p:cNvPr id="6" name="Text 4"/>
          <p:cNvSpPr/>
          <p:nvPr/>
        </p:nvSpPr>
        <p:spPr>
          <a:xfrm>
            <a:off x="548640" y="3712464"/>
            <a:ext cx="8229600" cy="822960"/>
          </a:xfrm>
          <a:prstGeom prst="rect">
            <a:avLst/>
          </a:prstGeom>
          <a:noFill/>
          <a:ln/>
        </p:spPr>
        <p:txBody>
          <a:bodyPr wrap="square" lIns="0" tIns="0" rIns="0" bIns="0" rtlCol="0" anchor="ctr"/>
          <a:lstStyle/>
          <a:p>
            <a:pPr indent="0" marL="0">
              <a:buNone/>
            </a:pPr>
            <a:r>
              <a:rPr lang="en-US" sz="1350" dirty="0">
                <a:solidFill>
                  <a:srgbClr val="B9B4D6"/>
                </a:solidFill>
                <a:latin typeface="Calibri" pitchFamily="34" charset="0"/>
                <a:ea typeface="Calibri" pitchFamily="34" charset="-122"/>
                <a:cs typeface="Calibri" pitchFamily="34" charset="-120"/>
              </a:rPr>
              <a:t>Which packages, why them, and what the alternatives cost</a:t>
            </a:r>
            <a:endParaRPr lang="en-US" sz="1350" dirty="0"/>
          </a:p>
        </p:txBody>
      </p:sp>
      <p:sp>
        <p:nvSpPr>
          <p:cNvPr id="7" name="Text 5"/>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6E6A9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10896"/>
            <a:ext cx="11091672" cy="502920"/>
          </a:xfrm>
          <a:prstGeom prst="rect">
            <a:avLst/>
          </a:prstGeom>
          <a:noFill/>
          <a:ln/>
        </p:spPr>
        <p:txBody>
          <a:bodyPr wrap="square" lIns="0" tIns="0" rIns="0" bIns="0" rtlCol="0" anchor="ctr"/>
          <a:lstStyle/>
          <a:p>
            <a:pPr algn="l" indent="0" marL="0">
              <a:buNone/>
            </a:pPr>
            <a:r>
              <a:rPr lang="en-US" sz="2700" b="1" dirty="0">
                <a:solidFill>
                  <a:srgbClr val="1E1B33"/>
                </a:solidFill>
                <a:latin typeface="Cambria" pitchFamily="34" charset="0"/>
                <a:ea typeface="Cambria" pitchFamily="34" charset="-122"/>
                <a:cs typeface="Cambria" pitchFamily="34" charset="-120"/>
              </a:rPr>
              <a:t>Package selection and the reason for each</a:t>
            </a:r>
            <a:endParaRPr lang="en-US" sz="2700" dirty="0"/>
          </a:p>
        </p:txBody>
      </p:sp>
      <p:sp>
        <p:nvSpPr>
          <p:cNvPr id="3" name="Text 1"/>
          <p:cNvSpPr/>
          <p:nvPr/>
        </p:nvSpPr>
        <p:spPr>
          <a:xfrm>
            <a:off x="548640" y="841248"/>
            <a:ext cx="11091672" cy="329184"/>
          </a:xfrm>
          <a:prstGeom prst="rect">
            <a:avLst/>
          </a:prstGeom>
          <a:noFill/>
          <a:ln/>
        </p:spPr>
        <p:txBody>
          <a:bodyPr wrap="square" lIns="0" tIns="0" rIns="0" bIns="0" rtlCol="0" anchor="t"/>
          <a:lstStyle/>
          <a:p>
            <a:pPr algn="l" indent="0" marL="0">
              <a:buNone/>
            </a:pPr>
            <a:r>
              <a:rPr lang="en-US" sz="1200" dirty="0">
                <a:solidFill>
                  <a:srgbClr val="6E6A85"/>
                </a:solidFill>
                <a:latin typeface="Calibri" pitchFamily="34" charset="0"/>
                <a:ea typeface="Calibri" pitchFamily="34" charset="-122"/>
                <a:cs typeface="Calibri" pitchFamily="34" charset="-120"/>
              </a:rPr>
              <a:t>Only h5py is a hard dependency — everything else is an optional extra, which is what keeps CI light and offline</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1371600"/>
                <a:gridCol w="2788920"/>
                <a:gridCol w="6931152"/>
              </a:tblGrid>
              <a:tr h="40233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Layer</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Chosen</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Why this and not the obvious alternative</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r>
              <a:tr h="402336">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Web / streaming</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FastAPI · uvicorn · WebSocket</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Token-by-token role-tagged streaming with a per-run event log and late-subscriber replay; a request/response framework could not carry a multi-hour run.</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402336">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SSH transport</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paramiko</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Duo needs a programmatic keyboard-interactive callback and we need in-process port forwarding — shelling out to the ssh binary gives neither.</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402336">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Accounts</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SQLAlchemy 2.0 · Alembic · psycopg3 · bcrypt</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SQLite in dev/CI and Postgres in prod behind the same ORM; metadata in the DB, blobs on disk. No external identity service — nothing leaves campus.</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402336">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Inference</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vLLM · Qwen3.6-35B-A3B-AWQ</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Open weights on the lab's own GPU, OpenAI-compatible /v1 so any client works, AWQ so it fits the card, continuous batching so a whole expert team runs on ONE GPU.</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402336">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Single-cell</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scanpy · anndata · gseapy · leidenalg</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Pure-Python parity with the R stack (Seurat→scanpy, fgsea→gseapy, DESeq2→PyDESeq2); ADR-0001 keeps venv+pip over conda because HPC3 needs no root for it and CI stays fast.</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402336">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Literature</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paper-qa[local] · Europe PMC</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PaperQA2 grounded on the session's local Qwen with LOCAL sentence-transformer embeddings, so chunk text never leaves UCI; external queries are sanitized to a filename and the question.</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402336">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Variants</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bcftools · Ensembl VEP (offline) · ClinVar · CADD/REVEL/AlphaMissense · OpenSpliceAI</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A C tool streams the VCF so Python never materializes it; the offline cache removes the REST rate limit entirely; plugins add predictor columns without new code.</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402336">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Phenotype</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LIRICAL v2.4.1 · Exomiser · HPO</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A calibrated likelihood-ratio model over curated HPO/OMIM annotations — the confidence number comes from LIRICAL, never from the LLM.</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402336">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Rendering</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pandoc · XeLaTeX · graphviz</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Deterministic assembly of a manuscript from real artifacts. A model writes prose, never the figure or the table it cites.</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402336">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Containment</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Singularity</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80" dirty="0">
                          <a:solidFill>
                            <a:srgbClr val="1E1B33"/>
                          </a:solidFill>
                          <a:latin typeface="Calibri" pitchFamily="34" charset="0"/>
                          <a:ea typeface="Calibri" pitchFamily="34" charset="-122"/>
                          <a:cs typeface="Calibri" pitchFamily="34" charset="-120"/>
                        </a:rPr>
                        <a:t>The only container runtime HPC3 permits; no fakeroot on the cluster, so images are built remotely and staged read-only.</a:t>
                      </a:r>
                      <a:endParaRPr lang="en-US" sz="88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bl>
          </a:graphicData>
        </a:graphic>
      </p:graphicFrame>
      <p:sp>
        <p:nvSpPr>
          <p:cNvPr id="5" name="Text 2"/>
          <p:cNvSpPr/>
          <p:nvPr/>
        </p:nvSpPr>
        <p:spPr>
          <a:xfrm>
            <a:off x="548640" y="6382512"/>
            <a:ext cx="9144000" cy="274320"/>
          </a:xfrm>
          <a:prstGeom prst="rect">
            <a:avLst/>
          </a:prstGeom>
          <a:noFill/>
          <a:ln/>
        </p:spPr>
        <p:txBody>
          <a:bodyPr wrap="square" lIns="0" tIns="0" rIns="0" bIns="0" rtlCol="0" anchor="ctr"/>
          <a:lstStyle/>
          <a:p>
            <a:pPr indent="0" marL="0">
              <a:buNone/>
            </a:pPr>
            <a:r>
              <a:rPr lang="en-US" sz="900" dirty="0">
                <a:solidFill>
                  <a:srgbClr val="A6A2B8"/>
                </a:solidFill>
                <a:latin typeface="Calibri" pitchFamily="34" charset="0"/>
                <a:ea typeface="Calibri" pitchFamily="34" charset="-122"/>
                <a:cs typeface="Calibri" pitchFamily="34" charset="-120"/>
              </a:rPr>
              <a:t>AiScientist · Technical Specification · v0.2.0</a:t>
            </a:r>
            <a:endParaRPr lang="en-US" sz="900" dirty="0"/>
          </a:p>
        </p:txBody>
      </p:sp>
      <p:sp>
        <p:nvSpPr>
          <p:cNvPr id="6" name="Text 3"/>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A6A2B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10896"/>
            <a:ext cx="11091672" cy="502920"/>
          </a:xfrm>
          <a:prstGeom prst="rect">
            <a:avLst/>
          </a:prstGeom>
          <a:noFill/>
          <a:ln/>
        </p:spPr>
        <p:txBody>
          <a:bodyPr wrap="square" lIns="0" tIns="0" rIns="0" bIns="0" rtlCol="0" anchor="ctr"/>
          <a:lstStyle/>
          <a:p>
            <a:pPr algn="l" indent="0" marL="0">
              <a:buNone/>
            </a:pPr>
            <a:r>
              <a:rPr lang="en-US" sz="2700" b="1" dirty="0">
                <a:solidFill>
                  <a:srgbClr val="1E1B33"/>
                </a:solidFill>
                <a:latin typeface="Cambria" pitchFamily="34" charset="0"/>
                <a:ea typeface="Cambria" pitchFamily="34" charset="-122"/>
                <a:cs typeface="Cambria" pitchFamily="34" charset="-120"/>
              </a:rPr>
              <a:t>The five selection principles behind those choices</a:t>
            </a:r>
            <a:endParaRPr lang="en-US" sz="2700" dirty="0"/>
          </a:p>
        </p:txBody>
      </p:sp>
      <p:sp>
        <p:nvSpPr>
          <p:cNvPr id="3" name="Text 1"/>
          <p:cNvSpPr/>
          <p:nvPr/>
        </p:nvSpPr>
        <p:spPr>
          <a:xfrm>
            <a:off x="548640" y="841248"/>
            <a:ext cx="11091672" cy="329184"/>
          </a:xfrm>
          <a:prstGeom prst="rect">
            <a:avLst/>
          </a:prstGeom>
          <a:noFill/>
          <a:ln/>
        </p:spPr>
        <p:txBody>
          <a:bodyPr wrap="square" lIns="0" tIns="0" rIns="0" bIns="0" rtlCol="0" anchor="t"/>
          <a:lstStyle/>
          <a:p>
            <a:pPr algn="l" indent="0" marL="0">
              <a:buNone/>
            </a:pPr>
            <a:r>
              <a:rPr lang="en-US" sz="1200" dirty="0">
                <a:solidFill>
                  <a:srgbClr val="6E6A85"/>
                </a:solidFill>
                <a:latin typeface="Calibri" pitchFamily="34" charset="0"/>
                <a:ea typeface="Calibri" pitchFamily="34" charset="-122"/>
                <a:cs typeface="Calibri" pitchFamily="34" charset="-120"/>
              </a:rPr>
              <a:t>Each one is enforced by the test suite, not by convention</a:t>
            </a:r>
            <a:endParaRPr lang="en-US" sz="1200" dirty="0"/>
          </a:p>
        </p:txBody>
      </p:sp>
      <p:sp>
        <p:nvSpPr>
          <p:cNvPr id="4" name="Shape 2"/>
          <p:cNvSpPr/>
          <p:nvPr/>
        </p:nvSpPr>
        <p:spPr>
          <a:xfrm>
            <a:off x="548640" y="1316736"/>
            <a:ext cx="11091672" cy="868680"/>
          </a:xfrm>
          <a:prstGeom prst="roundRect">
            <a:avLst>
              <a:gd name="adj" fmla="val 7368"/>
            </a:avLst>
          </a:prstGeom>
          <a:solidFill>
            <a:srgbClr val="F3F2F8"/>
          </a:solidFill>
          <a:ln w="12700">
            <a:solidFill>
              <a:srgbClr val="DDDAE8"/>
            </a:solidFill>
            <a:prstDash val="solid"/>
          </a:ln>
        </p:spPr>
      </p:sp>
      <p:sp>
        <p:nvSpPr>
          <p:cNvPr id="5" name="Shape 3"/>
          <p:cNvSpPr/>
          <p:nvPr/>
        </p:nvSpPr>
        <p:spPr>
          <a:xfrm>
            <a:off x="768096" y="1627632"/>
            <a:ext cx="292608" cy="292608"/>
          </a:xfrm>
          <a:prstGeom prst="ellipse">
            <a:avLst/>
          </a:prstGeom>
          <a:solidFill>
            <a:srgbClr val="17B8A6"/>
          </a:solidFill>
          <a:ln w="12700">
            <a:solidFill>
              <a:srgbClr val="17B8A6"/>
            </a:solidFill>
            <a:prstDash val="solid"/>
          </a:ln>
        </p:spPr>
      </p:sp>
      <p:sp>
        <p:nvSpPr>
          <p:cNvPr id="6" name="Text 4"/>
          <p:cNvSpPr/>
          <p:nvPr/>
        </p:nvSpPr>
        <p:spPr>
          <a:xfrm>
            <a:off x="768096" y="162763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170432" y="1463040"/>
            <a:ext cx="2834640" cy="640080"/>
          </a:xfrm>
          <a:prstGeom prst="rect">
            <a:avLst/>
          </a:prstGeom>
          <a:noFill/>
          <a:ln/>
        </p:spPr>
        <p:txBody>
          <a:bodyPr wrap="square" lIns="0" tIns="0" rIns="0" bIns="0" rtlCol="0" anchor="ctr"/>
          <a:lstStyle/>
          <a:p>
            <a:pPr indent="0" marL="0">
              <a:buNone/>
            </a:pPr>
            <a:r>
              <a:rPr lang="en-US" sz="1250" b="1" dirty="0">
                <a:solidFill>
                  <a:srgbClr val="1E1B33"/>
                </a:solidFill>
                <a:latin typeface="Calibri" pitchFamily="34" charset="0"/>
                <a:ea typeface="Calibri" pitchFamily="34" charset="-122"/>
                <a:cs typeface="Calibri" pitchFamily="34" charset="-120"/>
              </a:rPr>
              <a:t>Inject, don't import</a:t>
            </a:r>
            <a:endParaRPr lang="en-US" sz="1250" dirty="0"/>
          </a:p>
        </p:txBody>
      </p:sp>
      <p:sp>
        <p:nvSpPr>
          <p:cNvPr id="8" name="Text 6"/>
          <p:cNvSpPr/>
          <p:nvPr/>
        </p:nvSpPr>
        <p:spPr>
          <a:xfrm>
            <a:off x="4114800" y="1426464"/>
            <a:ext cx="7251192" cy="731520"/>
          </a:xfrm>
          <a:prstGeom prst="rect">
            <a:avLst/>
          </a:prstGeom>
          <a:noFill/>
          <a:ln/>
        </p:spPr>
        <p:txBody>
          <a:bodyPr wrap="square" lIns="0" tIns="0" rIns="0" bIns="0" rtlCol="0" anchor="ctr"/>
          <a:lstStyle/>
          <a:p>
            <a:pPr indent="0" marL="0">
              <a:lnSpc>
                <a:spcPts val="1250"/>
              </a:lnSpc>
              <a:buNone/>
            </a:pPr>
            <a:r>
              <a:rPr lang="en-US" sz="980" dirty="0">
                <a:solidFill>
                  <a:srgbClr val="6E6A85"/>
                </a:solidFill>
                <a:latin typeface="Calibri" pitchFamily="34" charset="0"/>
                <a:ea typeface="Calibri" pitchFamily="34" charset="-122"/>
                <a:cs typeface="Calibri" pitchFamily="34" charset="-120"/>
              </a:rPr>
              <a:t>chat_fn, count_tokens_fn, summarize_fn, the executor Protocol and the LLM client are all INJECTED. chat_context imports nothing from the gateway; quick_chat imports without paramiko. The whole agent loop therefore runs offline against scripted tool calls.</a:t>
            </a:r>
            <a:endParaRPr lang="en-US" sz="980" dirty="0"/>
          </a:p>
        </p:txBody>
      </p:sp>
      <p:sp>
        <p:nvSpPr>
          <p:cNvPr id="9" name="Shape 7"/>
          <p:cNvSpPr/>
          <p:nvPr/>
        </p:nvSpPr>
        <p:spPr>
          <a:xfrm>
            <a:off x="548640" y="2286000"/>
            <a:ext cx="11091672" cy="868680"/>
          </a:xfrm>
          <a:prstGeom prst="roundRect">
            <a:avLst>
              <a:gd name="adj" fmla="val 7368"/>
            </a:avLst>
          </a:prstGeom>
          <a:solidFill>
            <a:srgbClr val="FFFFFF"/>
          </a:solidFill>
          <a:ln w="12700">
            <a:solidFill>
              <a:srgbClr val="DDDAE8"/>
            </a:solidFill>
            <a:prstDash val="solid"/>
          </a:ln>
        </p:spPr>
      </p:sp>
      <p:sp>
        <p:nvSpPr>
          <p:cNvPr id="10" name="Shape 8"/>
          <p:cNvSpPr/>
          <p:nvPr/>
        </p:nvSpPr>
        <p:spPr>
          <a:xfrm>
            <a:off x="768096" y="2596896"/>
            <a:ext cx="292608" cy="292608"/>
          </a:xfrm>
          <a:prstGeom prst="ellipse">
            <a:avLst/>
          </a:prstGeom>
          <a:solidFill>
            <a:srgbClr val="3F3684"/>
          </a:solidFill>
          <a:ln w="12700">
            <a:solidFill>
              <a:srgbClr val="3F3684"/>
            </a:solidFill>
            <a:prstDash val="solid"/>
          </a:ln>
        </p:spPr>
      </p:sp>
      <p:sp>
        <p:nvSpPr>
          <p:cNvPr id="11" name="Text 9"/>
          <p:cNvSpPr/>
          <p:nvPr/>
        </p:nvSpPr>
        <p:spPr>
          <a:xfrm>
            <a:off x="768096" y="259689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1170432" y="2432304"/>
            <a:ext cx="2834640" cy="640080"/>
          </a:xfrm>
          <a:prstGeom prst="rect">
            <a:avLst/>
          </a:prstGeom>
          <a:noFill/>
          <a:ln/>
        </p:spPr>
        <p:txBody>
          <a:bodyPr wrap="square" lIns="0" tIns="0" rIns="0" bIns="0" rtlCol="0" anchor="ctr"/>
          <a:lstStyle/>
          <a:p>
            <a:pPr indent="0" marL="0">
              <a:buNone/>
            </a:pPr>
            <a:r>
              <a:rPr lang="en-US" sz="1250" b="1" dirty="0">
                <a:solidFill>
                  <a:srgbClr val="1E1B33"/>
                </a:solidFill>
                <a:latin typeface="Calibri" pitchFamily="34" charset="0"/>
                <a:ea typeface="Calibri" pitchFamily="34" charset="-122"/>
                <a:cs typeface="Calibri" pitchFamily="34" charset="-120"/>
              </a:rPr>
              <a:t>Lazy, optional heaviness</a:t>
            </a:r>
            <a:endParaRPr lang="en-US" sz="1250" dirty="0"/>
          </a:p>
        </p:txBody>
      </p:sp>
      <p:sp>
        <p:nvSpPr>
          <p:cNvPr id="13" name="Text 11"/>
          <p:cNvSpPr/>
          <p:nvPr/>
        </p:nvSpPr>
        <p:spPr>
          <a:xfrm>
            <a:off x="4114800" y="2395728"/>
            <a:ext cx="7251192" cy="731520"/>
          </a:xfrm>
          <a:prstGeom prst="rect">
            <a:avLst/>
          </a:prstGeom>
          <a:noFill/>
          <a:ln/>
        </p:spPr>
        <p:txBody>
          <a:bodyPr wrap="square" lIns="0" tIns="0" rIns="0" bIns="0" rtlCol="0" anchor="ctr"/>
          <a:lstStyle/>
          <a:p>
            <a:pPr indent="0" marL="0">
              <a:lnSpc>
                <a:spcPts val="1250"/>
              </a:lnSpc>
              <a:buNone/>
            </a:pPr>
            <a:r>
              <a:rPr lang="en-US" sz="980" dirty="0">
                <a:solidFill>
                  <a:srgbClr val="6E6A85"/>
                </a:solidFill>
                <a:latin typeface="Calibri" pitchFamily="34" charset="0"/>
                <a:ea typeface="Calibri" pitchFamily="34" charset="-122"/>
                <a:cs typeface="Calibri" pitchFamily="34" charset="-120"/>
              </a:rPr>
              <a:t>Every heavy runtime lives behind a pyproject extra and a lazy import. A host without it gets a clean status="dependency_missing", not a crash — so the core and CI stay light while the server carries the full stack.</a:t>
            </a:r>
            <a:endParaRPr lang="en-US" sz="980" dirty="0"/>
          </a:p>
        </p:txBody>
      </p:sp>
      <p:sp>
        <p:nvSpPr>
          <p:cNvPr id="14" name="Shape 12"/>
          <p:cNvSpPr/>
          <p:nvPr/>
        </p:nvSpPr>
        <p:spPr>
          <a:xfrm>
            <a:off x="548640" y="3255264"/>
            <a:ext cx="11091672" cy="868680"/>
          </a:xfrm>
          <a:prstGeom prst="roundRect">
            <a:avLst>
              <a:gd name="adj" fmla="val 7368"/>
            </a:avLst>
          </a:prstGeom>
          <a:solidFill>
            <a:srgbClr val="F3F2F8"/>
          </a:solidFill>
          <a:ln w="12700">
            <a:solidFill>
              <a:srgbClr val="DDDAE8"/>
            </a:solidFill>
            <a:prstDash val="solid"/>
          </a:ln>
        </p:spPr>
      </p:sp>
      <p:sp>
        <p:nvSpPr>
          <p:cNvPr id="15" name="Shape 13"/>
          <p:cNvSpPr/>
          <p:nvPr/>
        </p:nvSpPr>
        <p:spPr>
          <a:xfrm>
            <a:off x="768096" y="3566160"/>
            <a:ext cx="292608" cy="292608"/>
          </a:xfrm>
          <a:prstGeom prst="ellipse">
            <a:avLst/>
          </a:prstGeom>
          <a:solidFill>
            <a:srgbClr val="D9832B"/>
          </a:solidFill>
          <a:ln w="12700">
            <a:solidFill>
              <a:srgbClr val="D9832B"/>
            </a:solidFill>
            <a:prstDash val="solid"/>
          </a:ln>
        </p:spPr>
      </p:sp>
      <p:sp>
        <p:nvSpPr>
          <p:cNvPr id="16" name="Text 14"/>
          <p:cNvSpPr/>
          <p:nvPr/>
        </p:nvSpPr>
        <p:spPr>
          <a:xfrm>
            <a:off x="768096" y="356616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1170432" y="3401568"/>
            <a:ext cx="2834640" cy="640080"/>
          </a:xfrm>
          <a:prstGeom prst="rect">
            <a:avLst/>
          </a:prstGeom>
          <a:noFill/>
          <a:ln/>
        </p:spPr>
        <p:txBody>
          <a:bodyPr wrap="square" lIns="0" tIns="0" rIns="0" bIns="0" rtlCol="0" anchor="ctr"/>
          <a:lstStyle/>
          <a:p>
            <a:pPr indent="0" marL="0">
              <a:buNone/>
            </a:pPr>
            <a:r>
              <a:rPr lang="en-US" sz="1250" b="1" dirty="0">
                <a:solidFill>
                  <a:srgbClr val="1E1B33"/>
                </a:solidFill>
                <a:latin typeface="Calibri" pitchFamily="34" charset="0"/>
                <a:ea typeface="Calibri" pitchFamily="34" charset="-122"/>
                <a:cs typeface="Calibri" pitchFamily="34" charset="-120"/>
              </a:rPr>
              <a:t>Stream, never materialize</a:t>
            </a:r>
            <a:endParaRPr lang="en-US" sz="1250" dirty="0"/>
          </a:p>
        </p:txBody>
      </p:sp>
      <p:sp>
        <p:nvSpPr>
          <p:cNvPr id="18" name="Text 16"/>
          <p:cNvSpPr/>
          <p:nvPr/>
        </p:nvSpPr>
        <p:spPr>
          <a:xfrm>
            <a:off x="4114800" y="3364992"/>
            <a:ext cx="7251192" cy="731520"/>
          </a:xfrm>
          <a:prstGeom prst="rect">
            <a:avLst/>
          </a:prstGeom>
          <a:noFill/>
          <a:ln/>
        </p:spPr>
        <p:txBody>
          <a:bodyPr wrap="square" lIns="0" tIns="0" rIns="0" bIns="0" rtlCol="0" anchor="ctr"/>
          <a:lstStyle/>
          <a:p>
            <a:pPr indent="0" marL="0">
              <a:lnSpc>
                <a:spcPts val="1250"/>
              </a:lnSpc>
              <a:buNone/>
            </a:pPr>
            <a:r>
              <a:rPr lang="en-US" sz="980" dirty="0">
                <a:solidFill>
                  <a:srgbClr val="6E6A85"/>
                </a:solidFill>
                <a:latin typeface="Calibri" pitchFamily="34" charset="0"/>
                <a:ea typeface="Calibri" pitchFamily="34" charset="-122"/>
                <a:cs typeface="Calibri" pitchFamily="34" charset="-120"/>
              </a:rPr>
              <a:t>The rule that separates the toy path from the production path: bcftools filters the VCF, VEP writes JSONL, and Python only parses line-by-line — peak memory is bounded no matter how large the input is.</a:t>
            </a:r>
            <a:endParaRPr lang="en-US" sz="980" dirty="0"/>
          </a:p>
        </p:txBody>
      </p:sp>
      <p:sp>
        <p:nvSpPr>
          <p:cNvPr id="19" name="Shape 17"/>
          <p:cNvSpPr/>
          <p:nvPr/>
        </p:nvSpPr>
        <p:spPr>
          <a:xfrm>
            <a:off x="548640" y="4224528"/>
            <a:ext cx="11091672" cy="868680"/>
          </a:xfrm>
          <a:prstGeom prst="roundRect">
            <a:avLst>
              <a:gd name="adj" fmla="val 7368"/>
            </a:avLst>
          </a:prstGeom>
          <a:solidFill>
            <a:srgbClr val="FFFFFF"/>
          </a:solidFill>
          <a:ln w="12700">
            <a:solidFill>
              <a:srgbClr val="DDDAE8"/>
            </a:solidFill>
            <a:prstDash val="solid"/>
          </a:ln>
        </p:spPr>
      </p:sp>
      <p:sp>
        <p:nvSpPr>
          <p:cNvPr id="20" name="Shape 18"/>
          <p:cNvSpPr/>
          <p:nvPr/>
        </p:nvSpPr>
        <p:spPr>
          <a:xfrm>
            <a:off x="768096" y="4535424"/>
            <a:ext cx="292608" cy="292608"/>
          </a:xfrm>
          <a:prstGeom prst="ellipse">
            <a:avLst/>
          </a:prstGeom>
          <a:solidFill>
            <a:srgbClr val="6E63B8"/>
          </a:solidFill>
          <a:ln w="12700">
            <a:solidFill>
              <a:srgbClr val="6E63B8"/>
            </a:solidFill>
            <a:prstDash val="solid"/>
          </a:ln>
        </p:spPr>
      </p:sp>
      <p:sp>
        <p:nvSpPr>
          <p:cNvPr id="21" name="Text 19"/>
          <p:cNvSpPr/>
          <p:nvPr/>
        </p:nvSpPr>
        <p:spPr>
          <a:xfrm>
            <a:off x="768096" y="453542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1170432" y="4370832"/>
            <a:ext cx="2834640" cy="640080"/>
          </a:xfrm>
          <a:prstGeom prst="rect">
            <a:avLst/>
          </a:prstGeom>
          <a:noFill/>
          <a:ln/>
        </p:spPr>
        <p:txBody>
          <a:bodyPr wrap="square" lIns="0" tIns="0" rIns="0" bIns="0" rtlCol="0" anchor="ctr"/>
          <a:lstStyle/>
          <a:p>
            <a:pPr indent="0" marL="0">
              <a:buNone/>
            </a:pPr>
            <a:r>
              <a:rPr lang="en-US" sz="1250" b="1" dirty="0">
                <a:solidFill>
                  <a:srgbClr val="1E1B33"/>
                </a:solidFill>
                <a:latin typeface="Calibri" pitchFamily="34" charset="0"/>
                <a:ea typeface="Calibri" pitchFamily="34" charset="-122"/>
                <a:cs typeface="Calibri" pitchFamily="34" charset="-120"/>
              </a:rPr>
              <a:t>One interface, two implementations</a:t>
            </a:r>
            <a:endParaRPr lang="en-US" sz="1250" dirty="0"/>
          </a:p>
        </p:txBody>
      </p:sp>
      <p:sp>
        <p:nvSpPr>
          <p:cNvPr id="23" name="Text 21"/>
          <p:cNvSpPr/>
          <p:nvPr/>
        </p:nvSpPr>
        <p:spPr>
          <a:xfrm>
            <a:off x="4114800" y="4334256"/>
            <a:ext cx="7251192" cy="731520"/>
          </a:xfrm>
          <a:prstGeom prst="rect">
            <a:avLst/>
          </a:prstGeom>
          <a:noFill/>
          <a:ln/>
        </p:spPr>
        <p:txBody>
          <a:bodyPr wrap="square" lIns="0" tIns="0" rIns="0" bIns="0" rtlCol="0" anchor="ctr"/>
          <a:lstStyle/>
          <a:p>
            <a:pPr indent="0" marL="0">
              <a:lnSpc>
                <a:spcPts val="1250"/>
              </a:lnSpc>
              <a:buNone/>
            </a:pPr>
            <a:r>
              <a:rPr lang="en-US" sz="980" dirty="0">
                <a:solidFill>
                  <a:srgbClr val="6E6A85"/>
                </a:solidFill>
                <a:latin typeface="Calibri" pitchFamily="34" charset="0"/>
                <a:ea typeface="Calibri" pitchFamily="34" charset="-122"/>
                <a:cs typeface="Calibri" pitchFamily="34" charset="-120"/>
              </a:rPr>
              <a:t>RemoteExecutor is implemented by the real SSH session and by an in-process MockExecutor; every offload executor also carries an in-process fallback. The same code path is exercised live and in tests.</a:t>
            </a:r>
            <a:endParaRPr lang="en-US" sz="980" dirty="0"/>
          </a:p>
        </p:txBody>
      </p:sp>
      <p:sp>
        <p:nvSpPr>
          <p:cNvPr id="24" name="Shape 22"/>
          <p:cNvSpPr/>
          <p:nvPr/>
        </p:nvSpPr>
        <p:spPr>
          <a:xfrm>
            <a:off x="548640" y="5193792"/>
            <a:ext cx="11091672" cy="868680"/>
          </a:xfrm>
          <a:prstGeom prst="roundRect">
            <a:avLst>
              <a:gd name="adj" fmla="val 7368"/>
            </a:avLst>
          </a:prstGeom>
          <a:solidFill>
            <a:srgbClr val="F3F2F8"/>
          </a:solidFill>
          <a:ln w="12700">
            <a:solidFill>
              <a:srgbClr val="DDDAE8"/>
            </a:solidFill>
            <a:prstDash val="solid"/>
          </a:ln>
        </p:spPr>
      </p:sp>
      <p:sp>
        <p:nvSpPr>
          <p:cNvPr id="25" name="Shape 23"/>
          <p:cNvSpPr/>
          <p:nvPr/>
        </p:nvSpPr>
        <p:spPr>
          <a:xfrm>
            <a:off x="768096" y="5504688"/>
            <a:ext cx="292608" cy="292608"/>
          </a:xfrm>
          <a:prstGeom prst="ellipse">
            <a:avLst/>
          </a:prstGeom>
          <a:solidFill>
            <a:srgbClr val="B8433A"/>
          </a:solidFill>
          <a:ln w="12700">
            <a:solidFill>
              <a:srgbClr val="B8433A"/>
            </a:solidFill>
            <a:prstDash val="solid"/>
          </a:ln>
        </p:spPr>
      </p:sp>
      <p:sp>
        <p:nvSpPr>
          <p:cNvPr id="26" name="Text 24"/>
          <p:cNvSpPr/>
          <p:nvPr/>
        </p:nvSpPr>
        <p:spPr>
          <a:xfrm>
            <a:off x="768096" y="550468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1170432" y="5340096"/>
            <a:ext cx="2834640" cy="640080"/>
          </a:xfrm>
          <a:prstGeom prst="rect">
            <a:avLst/>
          </a:prstGeom>
          <a:noFill/>
          <a:ln/>
        </p:spPr>
        <p:txBody>
          <a:bodyPr wrap="square" lIns="0" tIns="0" rIns="0" bIns="0" rtlCol="0" anchor="ctr"/>
          <a:lstStyle/>
          <a:p>
            <a:pPr indent="0" marL="0">
              <a:buNone/>
            </a:pPr>
            <a:r>
              <a:rPr lang="en-US" sz="1250" b="1" dirty="0">
                <a:solidFill>
                  <a:srgbClr val="1E1B33"/>
                </a:solidFill>
                <a:latin typeface="Calibri" pitchFamily="34" charset="0"/>
                <a:ea typeface="Calibri" pitchFamily="34" charset="-122"/>
                <a:cs typeface="Calibri" pitchFamily="34" charset="-120"/>
              </a:rPr>
              <a:t>Degrade loudly, never silently</a:t>
            </a:r>
            <a:endParaRPr lang="en-US" sz="1250" dirty="0"/>
          </a:p>
        </p:txBody>
      </p:sp>
      <p:sp>
        <p:nvSpPr>
          <p:cNvPr id="28" name="Text 26"/>
          <p:cNvSpPr/>
          <p:nvPr/>
        </p:nvSpPr>
        <p:spPr>
          <a:xfrm>
            <a:off x="4114800" y="5303520"/>
            <a:ext cx="7251192" cy="731520"/>
          </a:xfrm>
          <a:prstGeom prst="rect">
            <a:avLst/>
          </a:prstGeom>
          <a:noFill/>
          <a:ln/>
        </p:spPr>
        <p:txBody>
          <a:bodyPr wrap="square" lIns="0" tIns="0" rIns="0" bIns="0" rtlCol="0" anchor="ctr"/>
          <a:lstStyle/>
          <a:p>
            <a:pPr indent="0" marL="0">
              <a:lnSpc>
                <a:spcPts val="1250"/>
              </a:lnSpc>
              <a:buNone/>
            </a:pPr>
            <a:r>
              <a:rPr lang="en-US" sz="980" dirty="0">
                <a:solidFill>
                  <a:srgbClr val="6E6A85"/>
                </a:solidFill>
                <a:latin typeface="Calibri" pitchFamily="34" charset="0"/>
                <a:ea typeface="Calibri" pitchFamily="34" charset="-122"/>
                <a:cs typeface="Calibri" pitchFamily="34" charset="-120"/>
              </a:rPr>
              <a:t>A degraded step is recorded in the diagnostics report and the final manuscript renders clean; a truncated input announces itself. The failure we design against is not a crash — it is a plausible wrong answer.</a:t>
            </a:r>
            <a:endParaRPr lang="en-US" sz="980" dirty="0"/>
          </a:p>
        </p:txBody>
      </p:sp>
      <p:sp>
        <p:nvSpPr>
          <p:cNvPr id="29" name="Text 27"/>
          <p:cNvSpPr/>
          <p:nvPr/>
        </p:nvSpPr>
        <p:spPr>
          <a:xfrm>
            <a:off x="548640" y="6382512"/>
            <a:ext cx="9144000" cy="274320"/>
          </a:xfrm>
          <a:prstGeom prst="rect">
            <a:avLst/>
          </a:prstGeom>
          <a:noFill/>
          <a:ln/>
        </p:spPr>
        <p:txBody>
          <a:bodyPr wrap="square" lIns="0" tIns="0" rIns="0" bIns="0" rtlCol="0" anchor="ctr"/>
          <a:lstStyle/>
          <a:p>
            <a:pPr indent="0" marL="0">
              <a:buNone/>
            </a:pPr>
            <a:r>
              <a:rPr lang="en-US" sz="900" dirty="0">
                <a:solidFill>
                  <a:srgbClr val="A6A2B8"/>
                </a:solidFill>
                <a:latin typeface="Calibri" pitchFamily="34" charset="0"/>
                <a:ea typeface="Calibri" pitchFamily="34" charset="-122"/>
                <a:cs typeface="Calibri" pitchFamily="34" charset="-120"/>
              </a:rPr>
              <a:t>AiScientist · Technical Specification · v0.2.0</a:t>
            </a:r>
            <a:endParaRPr lang="en-US" sz="900" dirty="0"/>
          </a:p>
        </p:txBody>
      </p:sp>
      <p:sp>
        <p:nvSpPr>
          <p:cNvPr id="30" name="Text 28"/>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A6A2B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310896"/>
            <a:ext cx="11091672" cy="502920"/>
          </a:xfrm>
          <a:prstGeom prst="rect">
            <a:avLst/>
          </a:prstGeom>
          <a:noFill/>
          <a:ln/>
        </p:spPr>
        <p:txBody>
          <a:bodyPr wrap="square" lIns="0" tIns="0" rIns="0" bIns="0" rtlCol="0" anchor="ctr"/>
          <a:lstStyle/>
          <a:p>
            <a:pPr algn="l" indent="0" marL="0">
              <a:buNone/>
            </a:pPr>
            <a:r>
              <a:rPr lang="en-US" sz="2700" b="1" dirty="0">
                <a:solidFill>
                  <a:srgbClr val="1E1B33"/>
                </a:solidFill>
                <a:latin typeface="Cambria" pitchFamily="34" charset="0"/>
                <a:ea typeface="Cambria" pitchFamily="34" charset="-122"/>
                <a:cs typeface="Cambria" pitchFamily="34" charset="-120"/>
              </a:rPr>
              <a:t>Positioning vs cloud frontier-model science agents</a:t>
            </a:r>
            <a:endParaRPr lang="en-US" sz="2700" dirty="0"/>
          </a:p>
        </p:txBody>
      </p:sp>
      <p:sp>
        <p:nvSpPr>
          <p:cNvPr id="3" name="Text 1"/>
          <p:cNvSpPr/>
          <p:nvPr/>
        </p:nvSpPr>
        <p:spPr>
          <a:xfrm>
            <a:off x="548640" y="841248"/>
            <a:ext cx="11091672" cy="329184"/>
          </a:xfrm>
          <a:prstGeom prst="rect">
            <a:avLst/>
          </a:prstGeom>
          <a:noFill/>
          <a:ln/>
        </p:spPr>
        <p:txBody>
          <a:bodyPr wrap="square" lIns="0" tIns="0" rIns="0" bIns="0" rtlCol="0" anchor="t"/>
          <a:lstStyle/>
          <a:p>
            <a:pPr algn="l" indent="0" marL="0">
              <a:buNone/>
            </a:pPr>
            <a:r>
              <a:rPr lang="en-US" sz="1200" dirty="0">
                <a:solidFill>
                  <a:srgbClr val="6E6A85"/>
                </a:solidFill>
                <a:latin typeface="Calibri" pitchFamily="34" charset="0"/>
                <a:ea typeface="Calibri" pitchFamily="34" charset="-122"/>
                <a:cs typeface="Calibri" pitchFamily="34" charset="-120"/>
              </a:rPr>
              <a:t>Compared on architectural posture — data residency, compute reach, domain depth — not on model quality</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35024"/>
          <a:ext cx="11091672" cy="914400"/>
        </p:xfrm>
        <a:graphic>
          <a:graphicData uri="http://schemas.openxmlformats.org/drawingml/2006/table">
            <a:tbl>
              <a:tblPr/>
              <a:tblGrid>
                <a:gridCol w="1737360"/>
                <a:gridCol w="4251960"/>
                <a:gridCol w="5102352"/>
              </a:tblGrid>
              <a:tr h="54864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Axis</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 cloud science-agent platform</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AiScientist</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r>
              <a:tr h="548640">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Data residency</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Patient VCFs, case notes and raw matrices must be uploaded to a third party</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Nothing leaves campus: model, embeddings and data all sit on UCI hardware; a guard inspects every prompt</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548640">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Compute</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A managed sandbox sized for general code, billed per use</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The lab's own Slurm allocation — WGS-scale jobs, multi-hour GPU serves, no per-token bill</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548640">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Reference data</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Cannot mount a 96 GB CADD or a 131 GB dbNSFP; licensed resources are out of reach</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Reads the lab's already-staged references in place on the same filesystem the job runs on</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548640">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Domain depth</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General code execution — the agent must reinvent the protocol each time</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Typed first-class tools for offline VEP, LIRICAL, scGPT and scanpy, plus the lab's own IRD protocol reproduced in code</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548640">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Auditability</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A transcript of what the agent did</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run_state.json, provenance stamps, a resumable run, a deterministic no-AI report, and a diagnostics record of every degradation</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548640">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Anti-fabrication</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Prompt-level instructions</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920" dirty="0">
                          <a:solidFill>
                            <a:srgbClr val="1E1B33"/>
                          </a:solidFill>
                          <a:latin typeface="Calibri" pitchFamily="34" charset="0"/>
                          <a:ea typeface="Calibri" pitchFamily="34" charset="-122"/>
                          <a:cs typeface="Calibri" pitchFamily="34" charset="-120"/>
                        </a:rPr>
                        <a:t>Code-level: a deterministic guard blocks accepting a failed step, and post-generation verification corrects the manuscript regardless of the model</a:t>
                      </a:r>
                      <a:endParaRPr lang="en-US" sz="92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bl>
          </a:graphicData>
        </a:graphic>
      </p:graphicFrame>
      <p:sp>
        <p:nvSpPr>
          <p:cNvPr id="5" name="Shape 2"/>
          <p:cNvSpPr/>
          <p:nvPr/>
        </p:nvSpPr>
        <p:spPr>
          <a:xfrm>
            <a:off x="548640" y="5449824"/>
            <a:ext cx="11091672" cy="786384"/>
          </a:xfrm>
          <a:prstGeom prst="roundRect">
            <a:avLst>
              <a:gd name="adj" fmla="val 8140"/>
            </a:avLst>
          </a:prstGeom>
          <a:solidFill>
            <a:srgbClr val="E9E7F3"/>
          </a:solidFill>
          <a:ln w="6350">
            <a:solidFill>
              <a:srgbClr val="E9E7F3"/>
            </a:solidFill>
            <a:prstDash val="solid"/>
          </a:ln>
        </p:spPr>
      </p:sp>
      <p:sp>
        <p:nvSpPr>
          <p:cNvPr id="6" name="Text 3"/>
          <p:cNvSpPr/>
          <p:nvPr/>
        </p:nvSpPr>
        <p:spPr>
          <a:xfrm>
            <a:off x="768096" y="5541264"/>
            <a:ext cx="10652760" cy="621792"/>
          </a:xfrm>
          <a:prstGeom prst="rect">
            <a:avLst/>
          </a:prstGeom>
          <a:noFill/>
          <a:ln/>
        </p:spPr>
        <p:txBody>
          <a:bodyPr wrap="square" lIns="0" tIns="0" rIns="0" bIns="0" rtlCol="0" anchor="t"/>
          <a:lstStyle/>
          <a:p>
            <a:pPr indent="0" marL="0">
              <a:lnSpc>
                <a:spcPts val="1300"/>
              </a:lnSpc>
              <a:buNone/>
            </a:pPr>
            <a:r>
              <a:rPr lang="en-US" sz="1000" b="1" dirty="0">
                <a:solidFill>
                  <a:srgbClr val="1E1B33"/>
                </a:solidFill>
                <a:latin typeface="Calibri" pitchFamily="34" charset="0"/>
                <a:ea typeface="Calibri" pitchFamily="34" charset="-122"/>
                <a:cs typeface="Calibri" pitchFamily="34" charset="-120"/>
              </a:rPr>
              <a:t>Where they are ahead — stated honestly:  </a:t>
            </a:r>
            <a:pPr indent="0" marL="0">
              <a:lnSpc>
                <a:spcPts val="1300"/>
              </a:lnSpc>
              <a:buNone/>
            </a:pPr>
            <a:r>
              <a:rPr lang="en-US" sz="1000" dirty="0">
                <a:solidFill>
                  <a:srgbClr val="6E6A85"/>
                </a:solidFill>
                <a:latin typeface="Calibri" pitchFamily="34" charset="0"/>
                <a:ea typeface="Calibri" pitchFamily="34" charset="-122"/>
                <a:cs typeface="Calibri" pitchFamily="34" charset="-120"/>
              </a:rPr>
              <a:t>frontier reasoning quality, breadth of general tooling, and managed uptime with no ops burden. Our answers are a pluggable LLM backend (any OpenAI-compatible endpoint) so the model is A/B-swappable, and a planned LangGraph + Postgres-checkpointer port of the loop.</a:t>
            </a:r>
            <a:endParaRPr lang="en-US" sz="1000" dirty="0"/>
          </a:p>
        </p:txBody>
      </p:sp>
      <p:sp>
        <p:nvSpPr>
          <p:cNvPr id="7" name="Text 4"/>
          <p:cNvSpPr/>
          <p:nvPr/>
        </p:nvSpPr>
        <p:spPr>
          <a:xfrm>
            <a:off x="548640" y="6382512"/>
            <a:ext cx="9144000" cy="274320"/>
          </a:xfrm>
          <a:prstGeom prst="rect">
            <a:avLst/>
          </a:prstGeom>
          <a:noFill/>
          <a:ln/>
        </p:spPr>
        <p:txBody>
          <a:bodyPr wrap="square" lIns="0" tIns="0" rIns="0" bIns="0" rtlCol="0" anchor="ctr"/>
          <a:lstStyle/>
          <a:p>
            <a:pPr indent="0" marL="0">
              <a:buNone/>
            </a:pPr>
            <a:r>
              <a:rPr lang="en-US" sz="900" dirty="0">
                <a:solidFill>
                  <a:srgbClr val="A6A2B8"/>
                </a:solidFill>
                <a:latin typeface="Calibri" pitchFamily="34" charset="0"/>
                <a:ea typeface="Calibri" pitchFamily="34" charset="-122"/>
                <a:cs typeface="Calibri" pitchFamily="34" charset="-120"/>
              </a:rPr>
              <a:t>AiScientist · Technical Specification · v0.2.0</a:t>
            </a:r>
            <a:endParaRPr lang="en-US" sz="900" dirty="0"/>
          </a:p>
        </p:txBody>
      </p:sp>
      <p:sp>
        <p:nvSpPr>
          <p:cNvPr id="8" name="Text 5"/>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A6A2B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142B"/>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211D42"/>
          </a:solidFill>
          <a:ln w="12700">
            <a:solidFill>
              <a:srgbClr val="333333"/>
            </a:solidFill>
            <a:prstDash val="solid"/>
          </a:ln>
        </p:spPr>
      </p:sp>
      <p:sp>
        <p:nvSpPr>
          <p:cNvPr id="3" name="Shape 1"/>
          <p:cNvSpPr/>
          <p:nvPr/>
        </p:nvSpPr>
        <p:spPr>
          <a:xfrm>
            <a:off x="10881360" y="4114800"/>
            <a:ext cx="2377440" cy="2377440"/>
          </a:xfrm>
          <a:prstGeom prst="ellipse">
            <a:avLst/>
          </a:prstGeom>
          <a:solidFill>
            <a:srgbClr val="1D1A38"/>
          </a:solidFill>
          <a:ln w="12700">
            <a:solidFill>
              <a:srgbClr val="333333"/>
            </a:solidFill>
            <a:prstDash val="solid"/>
          </a:ln>
        </p:spPr>
      </p:sp>
      <p:sp>
        <p:nvSpPr>
          <p:cNvPr id="4" name="Text 2"/>
          <p:cNvSpPr/>
          <p:nvPr/>
        </p:nvSpPr>
        <p:spPr>
          <a:xfrm>
            <a:off x="548640" y="2084832"/>
            <a:ext cx="1828800" cy="822960"/>
          </a:xfrm>
          <a:prstGeom prst="rect">
            <a:avLst/>
          </a:prstGeom>
          <a:noFill/>
          <a:ln/>
        </p:spPr>
        <p:txBody>
          <a:bodyPr wrap="square" lIns="0" tIns="0" rIns="0" bIns="0" rtlCol="0" anchor="ctr"/>
          <a:lstStyle/>
          <a:p>
            <a:pPr indent="0" marL="0">
              <a:buNone/>
            </a:pPr>
            <a:r>
              <a:rPr lang="en-US" sz="5800" b="1" dirty="0">
                <a:solidFill>
                  <a:srgbClr val="17B8A6"/>
                </a:solidFill>
                <a:latin typeface="Cambria" pitchFamily="34" charset="0"/>
                <a:ea typeface="Cambria" pitchFamily="34" charset="-122"/>
                <a:cs typeface="Cambria" pitchFamily="34" charset="-120"/>
              </a:rPr>
              <a:t>06</a:t>
            </a:r>
            <a:endParaRPr lang="en-US" sz="5800" dirty="0"/>
          </a:p>
        </p:txBody>
      </p:sp>
      <p:sp>
        <p:nvSpPr>
          <p:cNvPr id="5" name="Text 3"/>
          <p:cNvSpPr/>
          <p:nvPr/>
        </p:nvSpPr>
        <p:spPr>
          <a:xfrm>
            <a:off x="548640" y="2907792"/>
            <a:ext cx="8595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Genetic variant annotation</a:t>
            </a:r>
            <a:endParaRPr lang="en-US" sz="3400" dirty="0"/>
          </a:p>
        </p:txBody>
      </p:sp>
      <p:sp>
        <p:nvSpPr>
          <p:cNvPr id="6" name="Text 4"/>
          <p:cNvSpPr/>
          <p:nvPr/>
        </p:nvSpPr>
        <p:spPr>
          <a:xfrm>
            <a:off x="548640" y="3712464"/>
            <a:ext cx="8229600" cy="822960"/>
          </a:xfrm>
          <a:prstGeom prst="rect">
            <a:avLst/>
          </a:prstGeom>
          <a:noFill/>
          <a:ln/>
        </p:spPr>
        <p:txBody>
          <a:bodyPr wrap="square" lIns="0" tIns="0" rIns="0" bIns="0" rtlCol="0" anchor="ctr"/>
          <a:lstStyle/>
          <a:p>
            <a:pPr indent="0" marL="0">
              <a:buNone/>
            </a:pPr>
            <a:r>
              <a:rPr lang="en-US" sz="1350" dirty="0">
                <a:solidFill>
                  <a:srgbClr val="B9B4D6"/>
                </a:solidFill>
                <a:latin typeface="Calibri" pitchFamily="34" charset="0"/>
                <a:ea typeface="Calibri" pitchFamily="34" charset="-122"/>
                <a:cs typeface="Calibri" pitchFamily="34" charset="-120"/>
              </a:rPr>
              <a:t>The line under active development — architecture, parity target, verified numbers, open gaps</a:t>
            </a:r>
            <a:endParaRPr lang="en-US" sz="1350" dirty="0"/>
          </a:p>
        </p:txBody>
      </p:sp>
      <p:sp>
        <p:nvSpPr>
          <p:cNvPr id="7" name="Text 5"/>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6E6A95"/>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310896"/>
            <a:ext cx="11091672" cy="502920"/>
          </a:xfrm>
          <a:prstGeom prst="rect">
            <a:avLst/>
          </a:prstGeom>
          <a:noFill/>
          <a:ln/>
        </p:spPr>
        <p:txBody>
          <a:bodyPr wrap="square" lIns="0" tIns="0" rIns="0" bIns="0" rtlCol="0" anchor="ctr"/>
          <a:lstStyle/>
          <a:p>
            <a:pPr algn="l" indent="0" marL="0">
              <a:buNone/>
            </a:pPr>
            <a:r>
              <a:rPr lang="en-US" sz="2700" b="1" dirty="0">
                <a:solidFill>
                  <a:srgbClr val="1E1B33"/>
                </a:solidFill>
                <a:latin typeface="Cambria" pitchFamily="34" charset="0"/>
                <a:ea typeface="Cambria" pitchFamily="34" charset="-122"/>
                <a:cs typeface="Cambria" pitchFamily="34" charset="-120"/>
              </a:rPr>
              <a:t>Two failure modes this line exists to fix</a:t>
            </a:r>
            <a:endParaRPr lang="en-US" sz="2700" dirty="0"/>
          </a:p>
        </p:txBody>
      </p:sp>
      <p:sp>
        <p:nvSpPr>
          <p:cNvPr id="3" name="Text 1"/>
          <p:cNvSpPr/>
          <p:nvPr/>
        </p:nvSpPr>
        <p:spPr>
          <a:xfrm>
            <a:off x="548640" y="841248"/>
            <a:ext cx="11091672" cy="329184"/>
          </a:xfrm>
          <a:prstGeom prst="rect">
            <a:avLst/>
          </a:prstGeom>
          <a:noFill/>
          <a:ln/>
        </p:spPr>
        <p:txBody>
          <a:bodyPr wrap="square" lIns="0" tIns="0" rIns="0" bIns="0" rtlCol="0" anchor="t"/>
          <a:lstStyle/>
          <a:p>
            <a:pPr algn="l" indent="0" marL="0">
              <a:buNone/>
            </a:pPr>
            <a:r>
              <a:rPr lang="en-US" sz="1200" dirty="0">
                <a:solidFill>
                  <a:srgbClr val="6E6A85"/>
                </a:solidFill>
                <a:latin typeface="Calibri" pitchFamily="34" charset="0"/>
                <a:ea typeface="Calibri" pitchFamily="34" charset="-122"/>
                <a:cs typeface="Calibri" pitchFamily="34" charset="-120"/>
              </a:rPr>
              <a:t>Both were found by running real lab data, not by review</a:t>
            </a:r>
            <a:endParaRPr lang="en-US" sz="1200" dirty="0"/>
          </a:p>
        </p:txBody>
      </p:sp>
      <p:sp>
        <p:nvSpPr>
          <p:cNvPr id="4" name="Shape 2"/>
          <p:cNvSpPr/>
          <p:nvPr/>
        </p:nvSpPr>
        <p:spPr>
          <a:xfrm>
            <a:off x="548640" y="1316736"/>
            <a:ext cx="5468112" cy="3063240"/>
          </a:xfrm>
          <a:prstGeom prst="roundRect">
            <a:avLst>
              <a:gd name="adj" fmla="val 2090"/>
            </a:avLst>
          </a:prstGeom>
          <a:solidFill>
            <a:srgbClr val="FFFFFF"/>
          </a:solidFill>
          <a:ln w="12700">
            <a:solidFill>
              <a:srgbClr val="DDDAE8"/>
            </a:solidFill>
            <a:prstDash val="solid"/>
          </a:ln>
        </p:spPr>
      </p:sp>
      <p:sp>
        <p:nvSpPr>
          <p:cNvPr id="5" name="Shape 3"/>
          <p:cNvSpPr/>
          <p:nvPr/>
        </p:nvSpPr>
        <p:spPr>
          <a:xfrm>
            <a:off x="548640" y="1316736"/>
            <a:ext cx="5468112" cy="457200"/>
          </a:xfrm>
          <a:prstGeom prst="roundRect">
            <a:avLst>
              <a:gd name="adj" fmla="val 14000"/>
            </a:avLst>
          </a:prstGeom>
          <a:solidFill>
            <a:srgbClr val="B8433A"/>
          </a:solidFill>
          <a:ln w="12700">
            <a:solidFill>
              <a:srgbClr val="B8433A"/>
            </a:solidFill>
            <a:prstDash val="solid"/>
          </a:ln>
        </p:spPr>
      </p:sp>
      <p:sp>
        <p:nvSpPr>
          <p:cNvPr id="6" name="Shape 4"/>
          <p:cNvSpPr/>
          <p:nvPr/>
        </p:nvSpPr>
        <p:spPr>
          <a:xfrm>
            <a:off x="548640" y="1609344"/>
            <a:ext cx="5468112" cy="164592"/>
          </a:xfrm>
          <a:prstGeom prst="rect">
            <a:avLst/>
          </a:prstGeom>
          <a:solidFill>
            <a:srgbClr val="B8433A"/>
          </a:solidFill>
          <a:ln w="12700">
            <a:solidFill>
              <a:srgbClr val="B8433A"/>
            </a:solidFill>
            <a:prstDash val="solid"/>
          </a:ln>
        </p:spPr>
      </p:sp>
      <p:sp>
        <p:nvSpPr>
          <p:cNvPr id="7" name="Text 5"/>
          <p:cNvSpPr/>
          <p:nvPr/>
        </p:nvSpPr>
        <p:spPr>
          <a:xfrm>
            <a:off x="749808" y="1353312"/>
            <a:ext cx="5065776"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Failure 1 — it did not SCALE</a:t>
            </a:r>
            <a:endParaRPr lang="en-US" sz="1300" dirty="0"/>
          </a:p>
        </p:txBody>
      </p:sp>
      <p:sp>
        <p:nvSpPr>
          <p:cNvPr id="8" name="Text 6"/>
          <p:cNvSpPr/>
          <p:nvPr/>
        </p:nvSpPr>
        <p:spPr>
          <a:xfrm>
            <a:off x="749808" y="1901952"/>
            <a:ext cx="5065776" cy="1371600"/>
          </a:xfrm>
          <a:prstGeom prst="rect">
            <a:avLst/>
          </a:prstGeom>
          <a:noFill/>
          <a:ln/>
        </p:spPr>
        <p:txBody>
          <a:bodyPr wrap="square" lIns="0" tIns="0" rIns="0" bIns="0" rtlCol="0" anchor="t"/>
          <a:lstStyle/>
          <a:p>
            <a:pPr indent="0" marL="0">
              <a:lnSpc>
                <a:spcPts val="1400"/>
              </a:lnSpc>
              <a:buNone/>
            </a:pPr>
            <a:r>
              <a:rPr lang="en-US" sz="1050" dirty="0">
                <a:solidFill>
                  <a:srgbClr val="1E1B33"/>
                </a:solidFill>
                <a:latin typeface="Calibri" pitchFamily="34" charset="0"/>
                <a:ea typeface="Calibri" pitchFamily="34" charset="-122"/>
                <a:cs typeface="Calibri" pitchFamily="34" charset="-120"/>
              </a:rPr>
              <a:t>The original REST path reads the whole VCF into a Python string, caps at 500 variants, and is rate-limited by the public Ensembl API. A 1.1 GB WGS VCF was silently annotated as its first 500 variants — and then reported as a "500-variant cohort". The truncation was invisible in the manuscript.</a:t>
            </a:r>
            <a:endParaRPr lang="en-US" sz="1050" dirty="0"/>
          </a:p>
        </p:txBody>
      </p:sp>
      <p:sp>
        <p:nvSpPr>
          <p:cNvPr id="9" name="Shape 7"/>
          <p:cNvSpPr/>
          <p:nvPr/>
        </p:nvSpPr>
        <p:spPr>
          <a:xfrm>
            <a:off x="749808" y="3273552"/>
            <a:ext cx="5065776" cy="950976"/>
          </a:xfrm>
          <a:prstGeom prst="roundRect">
            <a:avLst>
              <a:gd name="adj" fmla="val 6731"/>
            </a:avLst>
          </a:prstGeom>
          <a:solidFill>
            <a:srgbClr val="F3F2F8"/>
          </a:solidFill>
          <a:ln w="6350">
            <a:solidFill>
              <a:srgbClr val="F3F2F8"/>
            </a:solidFill>
            <a:prstDash val="solid"/>
          </a:ln>
        </p:spPr>
      </p:sp>
      <p:sp>
        <p:nvSpPr>
          <p:cNvPr id="10" name="Text 8"/>
          <p:cNvSpPr/>
          <p:nvPr/>
        </p:nvSpPr>
        <p:spPr>
          <a:xfrm>
            <a:off x="896112" y="3346704"/>
            <a:ext cx="4773168" cy="822960"/>
          </a:xfrm>
          <a:prstGeom prst="rect">
            <a:avLst/>
          </a:prstGeom>
          <a:noFill/>
          <a:ln/>
        </p:spPr>
        <p:txBody>
          <a:bodyPr wrap="square" lIns="0" tIns="0" rIns="0" bIns="0" rtlCol="0" anchor="t"/>
          <a:lstStyle/>
          <a:p>
            <a:pPr indent="0" marL="0">
              <a:lnSpc>
                <a:spcPts val="1250"/>
              </a:lnSpc>
              <a:buNone/>
            </a:pPr>
            <a:r>
              <a:rPr lang="en-US" sz="980" b="1" dirty="0">
                <a:solidFill>
                  <a:srgbClr val="B8433A"/>
                </a:solidFill>
                <a:latin typeface="Calibri" pitchFamily="34" charset="0"/>
                <a:ea typeface="Calibri" pitchFamily="34" charset="-122"/>
                <a:cs typeface="Calibri" pitchFamily="34" charset="-120"/>
              </a:rPr>
              <a:t>Fix  </a:t>
            </a:r>
            <a:pPr indent="0" marL="0">
              <a:lnSpc>
                <a:spcPts val="1250"/>
              </a:lnSpc>
              <a:buNone/>
            </a:pPr>
            <a:r>
              <a:rPr lang="en-US" sz="980" dirty="0">
                <a:solidFill>
                  <a:srgbClr val="6E6A85"/>
                </a:solidFill>
                <a:latin typeface="Calibri" pitchFamily="34" charset="0"/>
                <a:ea typeface="Calibri" pitchFamily="34" charset="-122"/>
                <a:cs typeface="Calibri" pitchFamily="34" charset="-120"/>
              </a:rPr>
              <a:t>An offline line — bcftools streams, VEP reads a bind-mounted local cache with --fork, Python parses JSONL line-by-line. Bounded memory, no network, no cap.</a:t>
            </a:r>
            <a:endParaRPr lang="en-US" sz="980" dirty="0"/>
          </a:p>
        </p:txBody>
      </p:sp>
      <p:sp>
        <p:nvSpPr>
          <p:cNvPr id="11" name="Shape 9"/>
          <p:cNvSpPr/>
          <p:nvPr/>
        </p:nvSpPr>
        <p:spPr>
          <a:xfrm>
            <a:off x="6172200" y="1316736"/>
            <a:ext cx="5468112" cy="3063240"/>
          </a:xfrm>
          <a:prstGeom prst="roundRect">
            <a:avLst>
              <a:gd name="adj" fmla="val 2090"/>
            </a:avLst>
          </a:prstGeom>
          <a:solidFill>
            <a:srgbClr val="FFFFFF"/>
          </a:solidFill>
          <a:ln w="12700">
            <a:solidFill>
              <a:srgbClr val="DDDAE8"/>
            </a:solidFill>
            <a:prstDash val="solid"/>
          </a:ln>
        </p:spPr>
      </p:sp>
      <p:sp>
        <p:nvSpPr>
          <p:cNvPr id="12" name="Shape 10"/>
          <p:cNvSpPr/>
          <p:nvPr/>
        </p:nvSpPr>
        <p:spPr>
          <a:xfrm>
            <a:off x="6172200" y="1316736"/>
            <a:ext cx="5468112" cy="457200"/>
          </a:xfrm>
          <a:prstGeom prst="roundRect">
            <a:avLst>
              <a:gd name="adj" fmla="val 14000"/>
            </a:avLst>
          </a:prstGeom>
          <a:solidFill>
            <a:srgbClr val="D9832B"/>
          </a:solidFill>
          <a:ln w="12700">
            <a:solidFill>
              <a:srgbClr val="D9832B"/>
            </a:solidFill>
            <a:prstDash val="solid"/>
          </a:ln>
        </p:spPr>
      </p:sp>
      <p:sp>
        <p:nvSpPr>
          <p:cNvPr id="13" name="Shape 11"/>
          <p:cNvSpPr/>
          <p:nvPr/>
        </p:nvSpPr>
        <p:spPr>
          <a:xfrm>
            <a:off x="6172200" y="1609344"/>
            <a:ext cx="5468112" cy="164592"/>
          </a:xfrm>
          <a:prstGeom prst="rect">
            <a:avLst/>
          </a:prstGeom>
          <a:solidFill>
            <a:srgbClr val="D9832B"/>
          </a:solidFill>
          <a:ln w="12700">
            <a:solidFill>
              <a:srgbClr val="D9832B"/>
            </a:solidFill>
            <a:prstDash val="solid"/>
          </a:ln>
        </p:spPr>
      </p:sp>
      <p:sp>
        <p:nvSpPr>
          <p:cNvPr id="14" name="Text 12"/>
          <p:cNvSpPr/>
          <p:nvPr/>
        </p:nvSpPr>
        <p:spPr>
          <a:xfrm>
            <a:off x="6373368" y="1353312"/>
            <a:ext cx="5065776"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Failure 2 — it was not CLINICAL</a:t>
            </a:r>
            <a:endParaRPr lang="en-US" sz="1300" dirty="0"/>
          </a:p>
        </p:txBody>
      </p:sp>
      <p:sp>
        <p:nvSpPr>
          <p:cNvPr id="15" name="Text 13"/>
          <p:cNvSpPr/>
          <p:nvPr/>
        </p:nvSpPr>
        <p:spPr>
          <a:xfrm>
            <a:off x="6373368" y="1901952"/>
            <a:ext cx="5065776" cy="1371600"/>
          </a:xfrm>
          <a:prstGeom prst="rect">
            <a:avLst/>
          </a:prstGeom>
          <a:noFill/>
          <a:ln/>
        </p:spPr>
        <p:txBody>
          <a:bodyPr wrap="square" lIns="0" tIns="0" rIns="0" bIns="0" rtlCol="0" anchor="t"/>
          <a:lstStyle/>
          <a:p>
            <a:pPr indent="0" marL="0">
              <a:lnSpc>
                <a:spcPts val="1400"/>
              </a:lnSpc>
              <a:buNone/>
            </a:pPr>
            <a:r>
              <a:rPr lang="en-US" sz="1050" dirty="0">
                <a:solidFill>
                  <a:srgbClr val="1E1B33"/>
                </a:solidFill>
                <a:latin typeface="Calibri" pitchFamily="34" charset="0"/>
                <a:ea typeface="Calibri" pitchFamily="34" charset="-122"/>
                <a:cs typeface="Calibri" pitchFamily="34" charset="-120"/>
              </a:rPr>
              <a:t>Benchmarked against the lab's own IRD reference on the SAME VCF: annotation was sound (~94% gene concordance) but the shortlist was clinically off-target — mitochondrial, PRAMEF and lncRNA noise at the top, while RP1L1 and CRB1 were missed. A generic protocol is not an IRD protocol.</a:t>
            </a:r>
            <a:endParaRPr lang="en-US" sz="1050" dirty="0"/>
          </a:p>
        </p:txBody>
      </p:sp>
      <p:sp>
        <p:nvSpPr>
          <p:cNvPr id="16" name="Shape 14"/>
          <p:cNvSpPr/>
          <p:nvPr/>
        </p:nvSpPr>
        <p:spPr>
          <a:xfrm>
            <a:off x="6373368" y="3273552"/>
            <a:ext cx="5065776" cy="950976"/>
          </a:xfrm>
          <a:prstGeom prst="roundRect">
            <a:avLst>
              <a:gd name="adj" fmla="val 6731"/>
            </a:avLst>
          </a:prstGeom>
          <a:solidFill>
            <a:srgbClr val="F3F2F8"/>
          </a:solidFill>
          <a:ln w="6350">
            <a:solidFill>
              <a:srgbClr val="F3F2F8"/>
            </a:solidFill>
            <a:prstDash val="solid"/>
          </a:ln>
        </p:spPr>
      </p:sp>
      <p:sp>
        <p:nvSpPr>
          <p:cNvPr id="17" name="Text 15"/>
          <p:cNvSpPr/>
          <p:nvPr/>
        </p:nvSpPr>
        <p:spPr>
          <a:xfrm>
            <a:off x="6519672" y="3346704"/>
            <a:ext cx="4773168" cy="822960"/>
          </a:xfrm>
          <a:prstGeom prst="rect">
            <a:avLst/>
          </a:prstGeom>
          <a:noFill/>
          <a:ln/>
        </p:spPr>
        <p:txBody>
          <a:bodyPr wrap="square" lIns="0" tIns="0" rIns="0" bIns="0" rtlCol="0" anchor="t"/>
          <a:lstStyle/>
          <a:p>
            <a:pPr indent="0" marL="0">
              <a:lnSpc>
                <a:spcPts val="1250"/>
              </a:lnSpc>
              <a:buNone/>
            </a:pPr>
            <a:r>
              <a:rPr lang="en-US" sz="980" b="1" dirty="0">
                <a:solidFill>
                  <a:srgbClr val="D9832B"/>
                </a:solidFill>
                <a:latin typeface="Calibri" pitchFamily="34" charset="0"/>
                <a:ea typeface="Calibri" pitchFamily="34" charset="-122"/>
                <a:cs typeface="Calibri" pitchFamily="34" charset="-120"/>
              </a:rPr>
              <a:t>Fix  </a:t>
            </a:r>
            <a:pPr indent="0" marL="0">
              <a:lnSpc>
                <a:spcPts val="1250"/>
              </a:lnSpc>
              <a:buNone/>
            </a:pPr>
            <a:r>
              <a:rPr lang="en-US" sz="980" dirty="0">
                <a:solidFill>
                  <a:srgbClr val="6E6A85"/>
                </a:solidFill>
                <a:latin typeface="Calibri" pitchFamily="34" charset="0"/>
                <a:ea typeface="Calibri" pitchFamily="34" charset="-122"/>
                <a:cs typeface="Calibri" pitchFamily="34" charset="-120"/>
              </a:rPr>
              <a:t>Reproduce the lab's known-gene-first strategy in our own code — a 258-gene RetNet panel applied BEFORE annotation, a rarity floor, then tiering by inheritance model.</a:t>
            </a:r>
            <a:endParaRPr lang="en-US" sz="980" dirty="0"/>
          </a:p>
        </p:txBody>
      </p:sp>
      <p:sp>
        <p:nvSpPr>
          <p:cNvPr id="18" name="Shape 16"/>
          <p:cNvSpPr/>
          <p:nvPr/>
        </p:nvSpPr>
        <p:spPr>
          <a:xfrm>
            <a:off x="548640" y="4572000"/>
            <a:ext cx="11091672" cy="1417320"/>
          </a:xfrm>
          <a:prstGeom prst="roundRect">
            <a:avLst>
              <a:gd name="adj" fmla="val 4516"/>
            </a:avLst>
          </a:prstGeom>
          <a:solidFill>
            <a:srgbClr val="E9E7F3"/>
          </a:solidFill>
          <a:ln w="6350">
            <a:solidFill>
              <a:srgbClr val="E9E7F3"/>
            </a:solidFill>
            <a:prstDash val="solid"/>
          </a:ln>
        </p:spPr>
      </p:sp>
      <p:sp>
        <p:nvSpPr>
          <p:cNvPr id="19" name="Text 17"/>
          <p:cNvSpPr/>
          <p:nvPr/>
        </p:nvSpPr>
        <p:spPr>
          <a:xfrm>
            <a:off x="768096" y="4663440"/>
            <a:ext cx="5486400" cy="292608"/>
          </a:xfrm>
          <a:prstGeom prst="rect">
            <a:avLst/>
          </a:prstGeom>
          <a:noFill/>
          <a:ln/>
        </p:spPr>
        <p:txBody>
          <a:bodyPr wrap="square" lIns="0" tIns="0" rIns="0" bIns="0" rtlCol="0" anchor="ctr"/>
          <a:lstStyle/>
          <a:p>
            <a:pPr indent="0" marL="0">
              <a:buNone/>
            </a:pPr>
            <a:r>
              <a:rPr lang="en-US" sz="1200" b="1" dirty="0">
                <a:solidFill>
                  <a:srgbClr val="1E1B33"/>
                </a:solidFill>
                <a:latin typeface="Calibri" pitchFamily="34" charset="0"/>
                <a:ea typeface="Calibri" pitchFamily="34" charset="-122"/>
                <a:cs typeface="Calibri" pitchFamily="34" charset="-120"/>
              </a:rPr>
              <a:t>Four engineering hazards found and fixed on the way</a:t>
            </a:r>
            <a:endParaRPr lang="en-US" sz="1200" dirty="0"/>
          </a:p>
        </p:txBody>
      </p:sp>
      <p:sp>
        <p:nvSpPr>
          <p:cNvPr id="20" name="Shape 18"/>
          <p:cNvSpPr/>
          <p:nvPr/>
        </p:nvSpPr>
        <p:spPr>
          <a:xfrm>
            <a:off x="768096" y="5010912"/>
            <a:ext cx="237744" cy="237744"/>
          </a:xfrm>
          <a:prstGeom prst="ellipse">
            <a:avLst/>
          </a:prstGeom>
          <a:solidFill>
            <a:srgbClr val="3F3684"/>
          </a:solidFill>
          <a:ln w="12700">
            <a:solidFill>
              <a:srgbClr val="3F3684"/>
            </a:solidFill>
            <a:prstDash val="solid"/>
          </a:ln>
        </p:spPr>
      </p:sp>
      <p:sp>
        <p:nvSpPr>
          <p:cNvPr id="21" name="Text 19"/>
          <p:cNvSpPr/>
          <p:nvPr/>
        </p:nvSpPr>
        <p:spPr>
          <a:xfrm>
            <a:off x="768096" y="501091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2" name="Text 20"/>
          <p:cNvSpPr/>
          <p:nvPr/>
        </p:nvSpPr>
        <p:spPr>
          <a:xfrm>
            <a:off x="768096" y="5303520"/>
            <a:ext cx="2606040" cy="658368"/>
          </a:xfrm>
          <a:prstGeom prst="rect">
            <a:avLst/>
          </a:prstGeom>
          <a:noFill/>
          <a:ln/>
        </p:spPr>
        <p:txBody>
          <a:bodyPr wrap="square" lIns="0" tIns="0" rIns="0" bIns="0" rtlCol="0" anchor="ctr"/>
          <a:lstStyle/>
          <a:p>
            <a:pPr indent="0" marL="0">
              <a:lnSpc>
                <a:spcPts val="1100"/>
              </a:lnSpc>
              <a:buNone/>
            </a:pPr>
            <a:r>
              <a:rPr lang="en-US" sz="850" dirty="0">
                <a:solidFill>
                  <a:srgbClr val="6E6A85"/>
                </a:solidFill>
                <a:latin typeface="Calibri" pitchFamily="34" charset="0"/>
                <a:ea typeface="Calibri" pitchFamily="34" charset="-122"/>
                <a:cs typeface="Calibri" pitchFamily="34" charset="-120"/>
              </a:rPr>
              <a:t>vep.sif ships /data as a symlink into the read-only VEP cache, so a $HOME scratch bind resolved into it and Singularity died at container creation (exit 127, ~1 s) — silently killing EVERY offline job. Scratch now lives on dfs3b.</a:t>
            </a:r>
            <a:endParaRPr lang="en-US" sz="850" dirty="0"/>
          </a:p>
        </p:txBody>
      </p:sp>
      <p:sp>
        <p:nvSpPr>
          <p:cNvPr id="23" name="Shape 21"/>
          <p:cNvSpPr/>
          <p:nvPr/>
        </p:nvSpPr>
        <p:spPr>
          <a:xfrm>
            <a:off x="3474720" y="5010912"/>
            <a:ext cx="237744" cy="237744"/>
          </a:xfrm>
          <a:prstGeom prst="ellipse">
            <a:avLst/>
          </a:prstGeom>
          <a:solidFill>
            <a:srgbClr val="3F3684"/>
          </a:solidFill>
          <a:ln w="12700">
            <a:solidFill>
              <a:srgbClr val="3F3684"/>
            </a:solidFill>
            <a:prstDash val="solid"/>
          </a:ln>
        </p:spPr>
      </p:sp>
      <p:sp>
        <p:nvSpPr>
          <p:cNvPr id="24" name="Text 22"/>
          <p:cNvSpPr/>
          <p:nvPr/>
        </p:nvSpPr>
        <p:spPr>
          <a:xfrm>
            <a:off x="3474720" y="501091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5" name="Text 23"/>
          <p:cNvSpPr/>
          <p:nvPr/>
        </p:nvSpPr>
        <p:spPr>
          <a:xfrm>
            <a:off x="3474720" y="5303520"/>
            <a:ext cx="2606040" cy="658368"/>
          </a:xfrm>
          <a:prstGeom prst="rect">
            <a:avLst/>
          </a:prstGeom>
          <a:noFill/>
          <a:ln/>
        </p:spPr>
        <p:txBody>
          <a:bodyPr wrap="square" lIns="0" tIns="0" rIns="0" bIns="0" rtlCol="0" anchor="ctr"/>
          <a:lstStyle/>
          <a:p>
            <a:pPr indent="0" marL="0">
              <a:lnSpc>
                <a:spcPts val="1100"/>
              </a:lnSpc>
              <a:buNone/>
            </a:pPr>
            <a:r>
              <a:rPr lang="en-US" sz="850" dirty="0">
                <a:solidFill>
                  <a:srgbClr val="6E6A85"/>
                </a:solidFill>
                <a:latin typeface="Calibri" pitchFamily="34" charset="0"/>
                <a:ea typeface="Calibri" pitchFamily="34" charset="-122"/>
                <a:cs typeface="Calibri" pitchFamily="34" charset="-120"/>
              </a:rPr>
              <a:t>Assembly was not auto-detected; an hg19 VCF annotated as GRCh38 gives roughly 90% wrong genes. It is now read from the VCF header (chr1 contig length), with GRCh37 as the fallback — most eye/IRD data is GRCh37.</a:t>
            </a:r>
            <a:endParaRPr lang="en-US" sz="850" dirty="0"/>
          </a:p>
        </p:txBody>
      </p:sp>
      <p:sp>
        <p:nvSpPr>
          <p:cNvPr id="26" name="Shape 24"/>
          <p:cNvSpPr/>
          <p:nvPr/>
        </p:nvSpPr>
        <p:spPr>
          <a:xfrm>
            <a:off x="6181344" y="5010912"/>
            <a:ext cx="237744" cy="237744"/>
          </a:xfrm>
          <a:prstGeom prst="ellipse">
            <a:avLst/>
          </a:prstGeom>
          <a:solidFill>
            <a:srgbClr val="3F3684"/>
          </a:solidFill>
          <a:ln w="12700">
            <a:solidFill>
              <a:srgbClr val="3F3684"/>
            </a:solidFill>
            <a:prstDash val="solid"/>
          </a:ln>
        </p:spPr>
      </p:sp>
      <p:sp>
        <p:nvSpPr>
          <p:cNvPr id="27" name="Text 25"/>
          <p:cNvSpPr/>
          <p:nvPr/>
        </p:nvSpPr>
        <p:spPr>
          <a:xfrm>
            <a:off x="6181344" y="501091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8" name="Text 26"/>
          <p:cNvSpPr/>
          <p:nvPr/>
        </p:nvSpPr>
        <p:spPr>
          <a:xfrm>
            <a:off x="6181344" y="5303520"/>
            <a:ext cx="2606040" cy="658368"/>
          </a:xfrm>
          <a:prstGeom prst="rect">
            <a:avLst/>
          </a:prstGeom>
          <a:noFill/>
          <a:ln/>
        </p:spPr>
        <p:txBody>
          <a:bodyPr wrap="square" lIns="0" tIns="0" rIns="0" bIns="0" rtlCol="0" anchor="ctr"/>
          <a:lstStyle/>
          <a:p>
            <a:pPr indent="0" marL="0">
              <a:lnSpc>
                <a:spcPts val="1100"/>
              </a:lnSpc>
              <a:buNone/>
            </a:pPr>
            <a:r>
              <a:rPr lang="en-US" sz="850" dirty="0">
                <a:solidFill>
                  <a:srgbClr val="6E6A85"/>
                </a:solidFill>
                <a:latin typeface="Calibri" pitchFamily="34" charset="0"/>
                <a:ea typeface="Calibri" pitchFamily="34" charset="-122"/>
                <a:cs typeface="Calibri" pitchFamily="34" charset="-120"/>
              </a:rPr>
              <a:t>ClinVar's .tbi index was not bind-mounted alongside its .vcf.gz, so VEP's --custom Tabix lookup silently produced nothing.</a:t>
            </a:r>
            <a:endParaRPr lang="en-US" sz="850" dirty="0"/>
          </a:p>
        </p:txBody>
      </p:sp>
      <p:sp>
        <p:nvSpPr>
          <p:cNvPr id="29" name="Shape 27"/>
          <p:cNvSpPr/>
          <p:nvPr/>
        </p:nvSpPr>
        <p:spPr>
          <a:xfrm>
            <a:off x="8887968" y="5010912"/>
            <a:ext cx="237744" cy="237744"/>
          </a:xfrm>
          <a:prstGeom prst="ellipse">
            <a:avLst/>
          </a:prstGeom>
          <a:solidFill>
            <a:srgbClr val="3F3684"/>
          </a:solidFill>
          <a:ln w="12700">
            <a:solidFill>
              <a:srgbClr val="3F3684"/>
            </a:solidFill>
            <a:prstDash val="solid"/>
          </a:ln>
        </p:spPr>
      </p:sp>
      <p:sp>
        <p:nvSpPr>
          <p:cNvPr id="30" name="Text 28"/>
          <p:cNvSpPr/>
          <p:nvPr/>
        </p:nvSpPr>
        <p:spPr>
          <a:xfrm>
            <a:off x="8887968" y="501091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1" name="Text 29"/>
          <p:cNvSpPr/>
          <p:nvPr/>
        </p:nvSpPr>
        <p:spPr>
          <a:xfrm>
            <a:off x="8887968" y="5303520"/>
            <a:ext cx="2606040" cy="658368"/>
          </a:xfrm>
          <a:prstGeom prst="rect">
            <a:avLst/>
          </a:prstGeom>
          <a:noFill/>
          <a:ln/>
        </p:spPr>
        <p:txBody>
          <a:bodyPr wrap="square" lIns="0" tIns="0" rIns="0" bIns="0" rtlCol="0" anchor="ctr"/>
          <a:lstStyle/>
          <a:p>
            <a:pPr indent="0" marL="0">
              <a:lnSpc>
                <a:spcPts val="1100"/>
              </a:lnSpc>
              <a:buNone/>
            </a:pPr>
            <a:r>
              <a:rPr lang="en-US" sz="850" dirty="0">
                <a:solidFill>
                  <a:srgbClr val="6E6A85"/>
                </a:solidFill>
                <a:latin typeface="Calibri" pitchFamily="34" charset="0"/>
                <a:ea typeface="Calibri" pitchFamily="34" charset="-122"/>
                <a:cs typeface="Calibri" pitchFamily="34" charset="-120"/>
              </a:rPr>
              <a:t>Without a re-run guard the model re-called annotate_variants in a later step — a fresh ~45-minute WGS VEP job that OVERWROTE good tables. Opt-in per-run memoization now blocks that.</a:t>
            </a:r>
            <a:endParaRPr lang="en-US" sz="850" dirty="0"/>
          </a:p>
        </p:txBody>
      </p:sp>
      <p:sp>
        <p:nvSpPr>
          <p:cNvPr id="32" name="Text 30"/>
          <p:cNvSpPr/>
          <p:nvPr/>
        </p:nvSpPr>
        <p:spPr>
          <a:xfrm>
            <a:off x="548640" y="6382512"/>
            <a:ext cx="9144000" cy="274320"/>
          </a:xfrm>
          <a:prstGeom prst="rect">
            <a:avLst/>
          </a:prstGeom>
          <a:noFill/>
          <a:ln/>
        </p:spPr>
        <p:txBody>
          <a:bodyPr wrap="square" lIns="0" tIns="0" rIns="0" bIns="0" rtlCol="0" anchor="ctr"/>
          <a:lstStyle/>
          <a:p>
            <a:pPr indent="0" marL="0">
              <a:buNone/>
            </a:pPr>
            <a:r>
              <a:rPr lang="en-US" sz="900" dirty="0">
                <a:solidFill>
                  <a:srgbClr val="A6A2B8"/>
                </a:solidFill>
                <a:latin typeface="Calibri" pitchFamily="34" charset="0"/>
                <a:ea typeface="Calibri" pitchFamily="34" charset="-122"/>
                <a:cs typeface="Calibri" pitchFamily="34" charset="-120"/>
              </a:rPr>
              <a:t>AiScientist · Technical Specification · v0.2.0</a:t>
            </a:r>
            <a:endParaRPr lang="en-US" sz="900" dirty="0"/>
          </a:p>
        </p:txBody>
      </p:sp>
      <p:sp>
        <p:nvSpPr>
          <p:cNvPr id="33" name="Text 31"/>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A6A2B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310896"/>
            <a:ext cx="11091672" cy="502920"/>
          </a:xfrm>
          <a:prstGeom prst="rect">
            <a:avLst/>
          </a:prstGeom>
          <a:noFill/>
          <a:ln/>
        </p:spPr>
        <p:txBody>
          <a:bodyPr wrap="square" lIns="0" tIns="0" rIns="0" bIns="0" rtlCol="0" anchor="ctr"/>
          <a:lstStyle/>
          <a:p>
            <a:pPr algn="l" indent="0" marL="0">
              <a:buNone/>
            </a:pPr>
            <a:r>
              <a:rPr lang="en-US" sz="2700" b="1" dirty="0">
                <a:solidFill>
                  <a:srgbClr val="1E1B33"/>
                </a:solidFill>
                <a:latin typeface="Cambria" pitchFamily="34" charset="0"/>
                <a:ea typeface="Cambria" pitchFamily="34" charset="-122"/>
                <a:cs typeface="Cambria" pitchFamily="34" charset="-120"/>
              </a:rPr>
              <a:t>The offline variant pipeline</a:t>
            </a:r>
            <a:endParaRPr lang="en-US" sz="2700" dirty="0"/>
          </a:p>
        </p:txBody>
      </p:sp>
      <p:sp>
        <p:nvSpPr>
          <p:cNvPr id="3" name="Text 1"/>
          <p:cNvSpPr/>
          <p:nvPr/>
        </p:nvSpPr>
        <p:spPr>
          <a:xfrm>
            <a:off x="548640" y="841248"/>
            <a:ext cx="11091672" cy="329184"/>
          </a:xfrm>
          <a:prstGeom prst="rect">
            <a:avLst/>
          </a:prstGeom>
          <a:noFill/>
          <a:ln/>
        </p:spPr>
        <p:txBody>
          <a:bodyPr wrap="square" lIns="0" tIns="0" rIns="0" bIns="0" rtlCol="0" anchor="t"/>
          <a:lstStyle/>
          <a:p>
            <a:pPr algn="l" indent="0" marL="0">
              <a:buNone/>
            </a:pPr>
            <a:r>
              <a:rPr lang="en-US" sz="1200" dirty="0">
                <a:solidFill>
                  <a:srgbClr val="6E6A85"/>
                </a:solidFill>
                <a:latin typeface="Calibri" pitchFamily="34" charset="0"/>
                <a:ea typeface="Calibri" pitchFamily="34" charset="-122"/>
                <a:cs typeface="Calibri" pitchFamily="34" charset="-120"/>
              </a:rPr>
              <a:t>Runs inside vep.sif on an HPC3 CPU node, driven by variant_cli + the Slurm analysis executor</a:t>
            </a:r>
            <a:endParaRPr lang="en-US" sz="1200" dirty="0"/>
          </a:p>
        </p:txBody>
      </p:sp>
      <p:sp>
        <p:nvSpPr>
          <p:cNvPr id="4" name="Shape 2"/>
          <p:cNvSpPr/>
          <p:nvPr/>
        </p:nvSpPr>
        <p:spPr>
          <a:xfrm>
            <a:off x="548640" y="1316736"/>
            <a:ext cx="1737360" cy="2514600"/>
          </a:xfrm>
          <a:prstGeom prst="roundRect">
            <a:avLst>
              <a:gd name="adj" fmla="val 3684"/>
            </a:avLst>
          </a:prstGeom>
          <a:solidFill>
            <a:srgbClr val="F3F2F8"/>
          </a:solidFill>
          <a:ln w="12700">
            <a:solidFill>
              <a:srgbClr val="DDDAE8"/>
            </a:solidFill>
            <a:prstDash val="solid"/>
          </a:ln>
        </p:spPr>
      </p:sp>
      <p:sp>
        <p:nvSpPr>
          <p:cNvPr id="5" name="Shape 3"/>
          <p:cNvSpPr/>
          <p:nvPr/>
        </p:nvSpPr>
        <p:spPr>
          <a:xfrm>
            <a:off x="667512" y="1444752"/>
            <a:ext cx="274320" cy="274320"/>
          </a:xfrm>
          <a:prstGeom prst="ellipse">
            <a:avLst/>
          </a:prstGeom>
          <a:solidFill>
            <a:srgbClr val="17B8A6"/>
          </a:solidFill>
          <a:ln w="12700">
            <a:solidFill>
              <a:srgbClr val="17B8A6"/>
            </a:solidFill>
            <a:prstDash val="solid"/>
          </a:ln>
        </p:spPr>
      </p:sp>
      <p:sp>
        <p:nvSpPr>
          <p:cNvPr id="6" name="Text 4"/>
          <p:cNvSpPr/>
          <p:nvPr/>
        </p:nvSpPr>
        <p:spPr>
          <a:xfrm>
            <a:off x="667512" y="14447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640080" y="1773936"/>
            <a:ext cx="1554480" cy="457200"/>
          </a:xfrm>
          <a:prstGeom prst="rect">
            <a:avLst/>
          </a:prstGeom>
          <a:noFill/>
          <a:ln/>
        </p:spPr>
        <p:txBody>
          <a:bodyPr wrap="square" lIns="0" tIns="0" rIns="0" bIns="0" rtlCol="0" anchor="ctr"/>
          <a:lstStyle/>
          <a:p>
            <a:pPr indent="0" marL="0">
              <a:buNone/>
            </a:pPr>
            <a:r>
              <a:rPr lang="en-US" sz="1100" b="1" dirty="0">
                <a:solidFill>
                  <a:srgbClr val="1E1B33"/>
                </a:solidFill>
                <a:latin typeface="Calibri" pitchFamily="34" charset="0"/>
                <a:ea typeface="Calibri" pitchFamily="34" charset="-122"/>
                <a:cs typeface="Calibri" pitchFamily="34" charset="-120"/>
              </a:rPr>
              <a:t>QC</a:t>
            </a:r>
            <a:endParaRPr lang="en-US" sz="1100" dirty="0"/>
          </a:p>
        </p:txBody>
      </p:sp>
      <p:sp>
        <p:nvSpPr>
          <p:cNvPr id="8" name="Text 6"/>
          <p:cNvSpPr/>
          <p:nvPr/>
        </p:nvSpPr>
        <p:spPr>
          <a:xfrm>
            <a:off x="640080" y="2231136"/>
            <a:ext cx="1554480" cy="1517904"/>
          </a:xfrm>
          <a:prstGeom prst="rect">
            <a:avLst/>
          </a:prstGeom>
          <a:noFill/>
          <a:ln/>
        </p:spPr>
        <p:txBody>
          <a:bodyPr wrap="square" lIns="0" tIns="0" rIns="0" bIns="0" rtlCol="0" anchor="ctr"/>
          <a:lstStyle/>
          <a:p>
            <a:pPr indent="0" marL="0">
              <a:lnSpc>
                <a:spcPts val="1150"/>
              </a:lnSpc>
              <a:buNone/>
            </a:pPr>
            <a:r>
              <a:rPr lang="en-US" sz="880" dirty="0">
                <a:solidFill>
                  <a:srgbClr val="6E6A85"/>
                </a:solidFill>
                <a:latin typeface="Calibri" pitchFamily="34" charset="0"/>
                <a:ea typeface="Calibri" pitchFamily="34" charset="-122"/>
                <a:cs typeface="Calibri" pitchFamily="34" charset="-120"/>
              </a:rPr>
              <a:t>Ti/Tv, Het/Hom, call rate; flags values outside WGS/WES ranges</a:t>
            </a:r>
            <a:endParaRPr lang="en-US" sz="880" dirty="0"/>
          </a:p>
        </p:txBody>
      </p:sp>
      <p:sp>
        <p:nvSpPr>
          <p:cNvPr id="9" name="Shape 7"/>
          <p:cNvSpPr/>
          <p:nvPr/>
        </p:nvSpPr>
        <p:spPr>
          <a:xfrm>
            <a:off x="2295144" y="2560320"/>
            <a:ext cx="146304" cy="0"/>
          </a:xfrm>
          <a:prstGeom prst="line">
            <a:avLst/>
          </a:prstGeom>
          <a:noFill/>
          <a:ln w="19050">
            <a:solidFill>
              <a:srgbClr val="6E63B8"/>
            </a:solidFill>
            <a:prstDash val="solid"/>
            <a:tailEnd type="triangle"/>
          </a:ln>
        </p:spPr>
      </p:sp>
      <p:sp>
        <p:nvSpPr>
          <p:cNvPr id="10" name="Shape 8"/>
          <p:cNvSpPr/>
          <p:nvPr/>
        </p:nvSpPr>
        <p:spPr>
          <a:xfrm>
            <a:off x="2414016" y="1316736"/>
            <a:ext cx="1737360" cy="2514600"/>
          </a:xfrm>
          <a:prstGeom prst="roundRect">
            <a:avLst>
              <a:gd name="adj" fmla="val 3684"/>
            </a:avLst>
          </a:prstGeom>
          <a:solidFill>
            <a:srgbClr val="F3F2F8"/>
          </a:solidFill>
          <a:ln w="12700">
            <a:solidFill>
              <a:srgbClr val="DDDAE8"/>
            </a:solidFill>
            <a:prstDash val="solid"/>
          </a:ln>
        </p:spPr>
      </p:sp>
      <p:sp>
        <p:nvSpPr>
          <p:cNvPr id="11" name="Shape 9"/>
          <p:cNvSpPr/>
          <p:nvPr/>
        </p:nvSpPr>
        <p:spPr>
          <a:xfrm>
            <a:off x="2532888" y="1444752"/>
            <a:ext cx="274320" cy="274320"/>
          </a:xfrm>
          <a:prstGeom prst="ellipse">
            <a:avLst/>
          </a:prstGeom>
          <a:solidFill>
            <a:srgbClr val="17B8A6"/>
          </a:solidFill>
          <a:ln w="12700">
            <a:solidFill>
              <a:srgbClr val="17B8A6"/>
            </a:solidFill>
            <a:prstDash val="solid"/>
          </a:ln>
        </p:spPr>
      </p:sp>
      <p:sp>
        <p:nvSpPr>
          <p:cNvPr id="12" name="Text 10"/>
          <p:cNvSpPr/>
          <p:nvPr/>
        </p:nvSpPr>
        <p:spPr>
          <a:xfrm>
            <a:off x="2532888" y="14447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1"/>
          <p:cNvSpPr/>
          <p:nvPr/>
        </p:nvSpPr>
        <p:spPr>
          <a:xfrm>
            <a:off x="2505456" y="1773936"/>
            <a:ext cx="1554480" cy="457200"/>
          </a:xfrm>
          <a:prstGeom prst="rect">
            <a:avLst/>
          </a:prstGeom>
          <a:noFill/>
          <a:ln/>
        </p:spPr>
        <p:txBody>
          <a:bodyPr wrap="square" lIns="0" tIns="0" rIns="0" bIns="0" rtlCol="0" anchor="ctr"/>
          <a:lstStyle/>
          <a:p>
            <a:pPr indent="0" marL="0">
              <a:buNone/>
            </a:pPr>
            <a:r>
              <a:rPr lang="en-US" sz="1100" b="1" dirty="0">
                <a:solidFill>
                  <a:srgbClr val="1E1B33"/>
                </a:solidFill>
                <a:latin typeface="Calibri" pitchFamily="34" charset="0"/>
                <a:ea typeface="Calibri" pitchFamily="34" charset="-122"/>
                <a:cs typeface="Calibri" pitchFamily="34" charset="-120"/>
              </a:rPr>
              <a:t>Filter + normalise</a:t>
            </a:r>
            <a:endParaRPr lang="en-US" sz="1100" dirty="0"/>
          </a:p>
        </p:txBody>
      </p:sp>
      <p:sp>
        <p:nvSpPr>
          <p:cNvPr id="14" name="Text 12"/>
          <p:cNvSpPr/>
          <p:nvPr/>
        </p:nvSpPr>
        <p:spPr>
          <a:xfrm>
            <a:off x="2505456" y="2231136"/>
            <a:ext cx="1554480" cy="1517904"/>
          </a:xfrm>
          <a:prstGeom prst="rect">
            <a:avLst/>
          </a:prstGeom>
          <a:noFill/>
          <a:ln/>
        </p:spPr>
        <p:txBody>
          <a:bodyPr wrap="square" lIns="0" tIns="0" rIns="0" bIns="0" rtlCol="0" anchor="ctr"/>
          <a:lstStyle/>
          <a:p>
            <a:pPr indent="0" marL="0">
              <a:lnSpc>
                <a:spcPts val="1150"/>
              </a:lnSpc>
              <a:buNone/>
            </a:pPr>
            <a:r>
              <a:rPr lang="en-US" sz="880" dirty="0">
                <a:solidFill>
                  <a:srgbClr val="6E6A85"/>
                </a:solidFill>
                <a:latin typeface="Calibri" pitchFamily="34" charset="0"/>
                <a:ea typeface="Calibri" pitchFamily="34" charset="-122"/>
                <a:cs typeface="Calibri" pitchFamily="34" charset="-120"/>
              </a:rPr>
              <a:t>bcftools PASS-filter streams the VCF; an optional left-align / split-multiallelic norm when a reference FASTA is staged</a:t>
            </a:r>
            <a:endParaRPr lang="en-US" sz="880" dirty="0"/>
          </a:p>
        </p:txBody>
      </p:sp>
      <p:sp>
        <p:nvSpPr>
          <p:cNvPr id="15" name="Shape 13"/>
          <p:cNvSpPr/>
          <p:nvPr/>
        </p:nvSpPr>
        <p:spPr>
          <a:xfrm>
            <a:off x="4160520" y="2560320"/>
            <a:ext cx="146304" cy="0"/>
          </a:xfrm>
          <a:prstGeom prst="line">
            <a:avLst/>
          </a:prstGeom>
          <a:noFill/>
          <a:ln w="19050">
            <a:solidFill>
              <a:srgbClr val="6E63B8"/>
            </a:solidFill>
            <a:prstDash val="solid"/>
            <a:tailEnd type="triangle"/>
          </a:ln>
        </p:spPr>
      </p:sp>
      <p:sp>
        <p:nvSpPr>
          <p:cNvPr id="16" name="Shape 14"/>
          <p:cNvSpPr/>
          <p:nvPr/>
        </p:nvSpPr>
        <p:spPr>
          <a:xfrm>
            <a:off x="4279392" y="1316736"/>
            <a:ext cx="1737360" cy="2514600"/>
          </a:xfrm>
          <a:prstGeom prst="roundRect">
            <a:avLst>
              <a:gd name="adj" fmla="val 3684"/>
            </a:avLst>
          </a:prstGeom>
          <a:solidFill>
            <a:srgbClr val="F3F2F8"/>
          </a:solidFill>
          <a:ln w="12700">
            <a:solidFill>
              <a:srgbClr val="DDDAE8"/>
            </a:solidFill>
            <a:prstDash val="solid"/>
          </a:ln>
        </p:spPr>
      </p:sp>
      <p:sp>
        <p:nvSpPr>
          <p:cNvPr id="17" name="Shape 15"/>
          <p:cNvSpPr/>
          <p:nvPr/>
        </p:nvSpPr>
        <p:spPr>
          <a:xfrm>
            <a:off x="4398264" y="1444752"/>
            <a:ext cx="274320" cy="274320"/>
          </a:xfrm>
          <a:prstGeom prst="ellipse">
            <a:avLst/>
          </a:prstGeom>
          <a:solidFill>
            <a:srgbClr val="17B8A6"/>
          </a:solidFill>
          <a:ln w="12700">
            <a:solidFill>
              <a:srgbClr val="17B8A6"/>
            </a:solidFill>
            <a:prstDash val="solid"/>
          </a:ln>
        </p:spPr>
      </p:sp>
      <p:sp>
        <p:nvSpPr>
          <p:cNvPr id="18" name="Text 16"/>
          <p:cNvSpPr/>
          <p:nvPr/>
        </p:nvSpPr>
        <p:spPr>
          <a:xfrm>
            <a:off x="4398264" y="14447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9" name="Text 17"/>
          <p:cNvSpPr/>
          <p:nvPr/>
        </p:nvSpPr>
        <p:spPr>
          <a:xfrm>
            <a:off x="4370832" y="1773936"/>
            <a:ext cx="1554480" cy="457200"/>
          </a:xfrm>
          <a:prstGeom prst="rect">
            <a:avLst/>
          </a:prstGeom>
          <a:noFill/>
          <a:ln/>
        </p:spPr>
        <p:txBody>
          <a:bodyPr wrap="square" lIns="0" tIns="0" rIns="0" bIns="0" rtlCol="0" anchor="ctr"/>
          <a:lstStyle/>
          <a:p>
            <a:pPr indent="0" marL="0">
              <a:buNone/>
            </a:pPr>
            <a:r>
              <a:rPr lang="en-US" sz="1100" b="1" dirty="0">
                <a:solidFill>
                  <a:srgbClr val="1E1B33"/>
                </a:solidFill>
                <a:latin typeface="Calibri" pitchFamily="34" charset="0"/>
                <a:ea typeface="Calibri" pitchFamily="34" charset="-122"/>
                <a:cs typeface="Calibri" pitchFamily="34" charset="-120"/>
              </a:rPr>
              <a:t>Panel BEFORE VEP</a:t>
            </a:r>
            <a:endParaRPr lang="en-US" sz="1100" dirty="0"/>
          </a:p>
        </p:txBody>
      </p:sp>
      <p:sp>
        <p:nvSpPr>
          <p:cNvPr id="20" name="Text 18"/>
          <p:cNvSpPr/>
          <p:nvPr/>
        </p:nvSpPr>
        <p:spPr>
          <a:xfrm>
            <a:off x="4370832" y="2231136"/>
            <a:ext cx="1554480" cy="1517904"/>
          </a:xfrm>
          <a:prstGeom prst="rect">
            <a:avLst/>
          </a:prstGeom>
          <a:noFill/>
          <a:ln/>
        </p:spPr>
        <p:txBody>
          <a:bodyPr wrap="square" lIns="0" tIns="0" rIns="0" bIns="0" rtlCol="0" anchor="ctr"/>
          <a:lstStyle/>
          <a:p>
            <a:pPr indent="0" marL="0">
              <a:lnSpc>
                <a:spcPts val="1150"/>
              </a:lnSpc>
              <a:buNone/>
            </a:pPr>
            <a:r>
              <a:rPr lang="en-US" sz="880" dirty="0">
                <a:solidFill>
                  <a:srgbClr val="6E6A85"/>
                </a:solidFill>
                <a:latin typeface="Calibri" pitchFamily="34" charset="0"/>
                <a:ea typeface="Calibri" pitchFamily="34" charset="-122"/>
                <a:cs typeface="Calibri" pitchFamily="34" charset="-120"/>
              </a:rPr>
              <a:t>restrict to the disease-gene panel as regions_bed — exons AND introns — plus a population-AF rarity floor</a:t>
            </a:r>
            <a:endParaRPr lang="en-US" sz="880" dirty="0"/>
          </a:p>
        </p:txBody>
      </p:sp>
      <p:sp>
        <p:nvSpPr>
          <p:cNvPr id="21" name="Shape 19"/>
          <p:cNvSpPr/>
          <p:nvPr/>
        </p:nvSpPr>
        <p:spPr>
          <a:xfrm>
            <a:off x="6025896" y="2560320"/>
            <a:ext cx="146304" cy="0"/>
          </a:xfrm>
          <a:prstGeom prst="line">
            <a:avLst/>
          </a:prstGeom>
          <a:noFill/>
          <a:ln w="19050">
            <a:solidFill>
              <a:srgbClr val="6E63B8"/>
            </a:solidFill>
            <a:prstDash val="solid"/>
            <a:tailEnd type="triangle"/>
          </a:ln>
        </p:spPr>
      </p:sp>
      <p:sp>
        <p:nvSpPr>
          <p:cNvPr id="22" name="Shape 20"/>
          <p:cNvSpPr/>
          <p:nvPr/>
        </p:nvSpPr>
        <p:spPr>
          <a:xfrm>
            <a:off x="6144768" y="1316736"/>
            <a:ext cx="1737360" cy="2514600"/>
          </a:xfrm>
          <a:prstGeom prst="roundRect">
            <a:avLst>
              <a:gd name="adj" fmla="val 3684"/>
            </a:avLst>
          </a:prstGeom>
          <a:solidFill>
            <a:srgbClr val="FFFFFF"/>
          </a:solidFill>
          <a:ln w="12700">
            <a:solidFill>
              <a:srgbClr val="DDDAE8"/>
            </a:solidFill>
            <a:prstDash val="solid"/>
          </a:ln>
        </p:spPr>
      </p:sp>
      <p:sp>
        <p:nvSpPr>
          <p:cNvPr id="23" name="Shape 21"/>
          <p:cNvSpPr/>
          <p:nvPr/>
        </p:nvSpPr>
        <p:spPr>
          <a:xfrm>
            <a:off x="6263640" y="1444752"/>
            <a:ext cx="274320" cy="274320"/>
          </a:xfrm>
          <a:prstGeom prst="ellipse">
            <a:avLst/>
          </a:prstGeom>
          <a:solidFill>
            <a:srgbClr val="3F3684"/>
          </a:solidFill>
          <a:ln w="12700">
            <a:solidFill>
              <a:srgbClr val="3F3684"/>
            </a:solidFill>
            <a:prstDash val="solid"/>
          </a:ln>
        </p:spPr>
      </p:sp>
      <p:sp>
        <p:nvSpPr>
          <p:cNvPr id="24" name="Text 22"/>
          <p:cNvSpPr/>
          <p:nvPr/>
        </p:nvSpPr>
        <p:spPr>
          <a:xfrm>
            <a:off x="6263640" y="14447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5" name="Text 23"/>
          <p:cNvSpPr/>
          <p:nvPr/>
        </p:nvSpPr>
        <p:spPr>
          <a:xfrm>
            <a:off x="6236208" y="1773936"/>
            <a:ext cx="1554480" cy="457200"/>
          </a:xfrm>
          <a:prstGeom prst="rect">
            <a:avLst/>
          </a:prstGeom>
          <a:noFill/>
          <a:ln/>
        </p:spPr>
        <p:txBody>
          <a:bodyPr wrap="square" lIns="0" tIns="0" rIns="0" bIns="0" rtlCol="0" anchor="ctr"/>
          <a:lstStyle/>
          <a:p>
            <a:pPr indent="0" marL="0">
              <a:buNone/>
            </a:pPr>
            <a:r>
              <a:rPr lang="en-US" sz="1100" b="1" dirty="0">
                <a:solidFill>
                  <a:srgbClr val="1E1B33"/>
                </a:solidFill>
                <a:latin typeface="Calibri" pitchFamily="34" charset="0"/>
                <a:ea typeface="Calibri" pitchFamily="34" charset="-122"/>
                <a:cs typeface="Calibri" pitchFamily="34" charset="-120"/>
              </a:rPr>
              <a:t>VEP --offline</a:t>
            </a:r>
            <a:endParaRPr lang="en-US" sz="1100" dirty="0"/>
          </a:p>
        </p:txBody>
      </p:sp>
      <p:sp>
        <p:nvSpPr>
          <p:cNvPr id="26" name="Text 24"/>
          <p:cNvSpPr/>
          <p:nvPr/>
        </p:nvSpPr>
        <p:spPr>
          <a:xfrm>
            <a:off x="6236208" y="2231136"/>
            <a:ext cx="1554480" cy="1517904"/>
          </a:xfrm>
          <a:prstGeom prst="rect">
            <a:avLst/>
          </a:prstGeom>
          <a:noFill/>
          <a:ln/>
        </p:spPr>
        <p:txBody>
          <a:bodyPr wrap="square" lIns="0" tIns="0" rIns="0" bIns="0" rtlCol="0" anchor="ctr"/>
          <a:lstStyle/>
          <a:p>
            <a:pPr indent="0" marL="0">
              <a:lnSpc>
                <a:spcPts val="1150"/>
              </a:lnSpc>
              <a:buNone/>
            </a:pPr>
            <a:r>
              <a:rPr lang="en-US" sz="880" dirty="0">
                <a:solidFill>
                  <a:srgbClr val="6E6A85"/>
                </a:solidFill>
                <a:latin typeface="Calibri" pitchFamily="34" charset="0"/>
                <a:ea typeface="Calibri" pitchFamily="34" charset="-122"/>
                <a:cs typeface="Calibri" pitchFamily="34" charset="-120"/>
              </a:rPr>
              <a:t>gene, consequence, canonical/MANE, SIFT/PolyPhen, gnomAD AF; ClinVar via --custom; CADD / REVEL / AlphaMissense via plugins</a:t>
            </a:r>
            <a:endParaRPr lang="en-US" sz="880" dirty="0"/>
          </a:p>
        </p:txBody>
      </p:sp>
      <p:sp>
        <p:nvSpPr>
          <p:cNvPr id="27" name="Shape 25"/>
          <p:cNvSpPr/>
          <p:nvPr/>
        </p:nvSpPr>
        <p:spPr>
          <a:xfrm>
            <a:off x="7891272" y="2560320"/>
            <a:ext cx="146304" cy="0"/>
          </a:xfrm>
          <a:prstGeom prst="line">
            <a:avLst/>
          </a:prstGeom>
          <a:noFill/>
          <a:ln w="19050">
            <a:solidFill>
              <a:srgbClr val="6E63B8"/>
            </a:solidFill>
            <a:prstDash val="solid"/>
            <a:tailEnd type="triangle"/>
          </a:ln>
        </p:spPr>
      </p:sp>
      <p:sp>
        <p:nvSpPr>
          <p:cNvPr id="28" name="Shape 26"/>
          <p:cNvSpPr/>
          <p:nvPr/>
        </p:nvSpPr>
        <p:spPr>
          <a:xfrm>
            <a:off x="8010144" y="1316736"/>
            <a:ext cx="1737360" cy="2514600"/>
          </a:xfrm>
          <a:prstGeom prst="roundRect">
            <a:avLst>
              <a:gd name="adj" fmla="val 3684"/>
            </a:avLst>
          </a:prstGeom>
          <a:solidFill>
            <a:srgbClr val="FFFFFF"/>
          </a:solidFill>
          <a:ln w="12700">
            <a:solidFill>
              <a:srgbClr val="DDDAE8"/>
            </a:solidFill>
            <a:prstDash val="solid"/>
          </a:ln>
        </p:spPr>
      </p:sp>
      <p:sp>
        <p:nvSpPr>
          <p:cNvPr id="29" name="Shape 27"/>
          <p:cNvSpPr/>
          <p:nvPr/>
        </p:nvSpPr>
        <p:spPr>
          <a:xfrm>
            <a:off x="8129016" y="1444752"/>
            <a:ext cx="274320" cy="274320"/>
          </a:xfrm>
          <a:prstGeom prst="ellipse">
            <a:avLst/>
          </a:prstGeom>
          <a:solidFill>
            <a:srgbClr val="3F3684"/>
          </a:solidFill>
          <a:ln w="12700">
            <a:solidFill>
              <a:srgbClr val="3F3684"/>
            </a:solidFill>
            <a:prstDash val="solid"/>
          </a:ln>
        </p:spPr>
      </p:sp>
      <p:sp>
        <p:nvSpPr>
          <p:cNvPr id="30" name="Text 28"/>
          <p:cNvSpPr/>
          <p:nvPr/>
        </p:nvSpPr>
        <p:spPr>
          <a:xfrm>
            <a:off x="8129016" y="14447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1" name="Text 29"/>
          <p:cNvSpPr/>
          <p:nvPr/>
        </p:nvSpPr>
        <p:spPr>
          <a:xfrm>
            <a:off x="8101584" y="1773936"/>
            <a:ext cx="1554480" cy="457200"/>
          </a:xfrm>
          <a:prstGeom prst="rect">
            <a:avLst/>
          </a:prstGeom>
          <a:noFill/>
          <a:ln/>
        </p:spPr>
        <p:txBody>
          <a:bodyPr wrap="square" lIns="0" tIns="0" rIns="0" bIns="0" rtlCol="0" anchor="ctr"/>
          <a:lstStyle/>
          <a:p>
            <a:pPr indent="0" marL="0">
              <a:buNone/>
            </a:pPr>
            <a:r>
              <a:rPr lang="en-US" sz="1100" b="1" dirty="0">
                <a:solidFill>
                  <a:srgbClr val="1E1B33"/>
                </a:solidFill>
                <a:latin typeface="Calibri" pitchFamily="34" charset="0"/>
                <a:ea typeface="Calibri" pitchFamily="34" charset="-122"/>
                <a:cs typeface="Calibri" pitchFamily="34" charset="-120"/>
              </a:rPr>
              <a:t>Splice + IRD layers</a:t>
            </a:r>
            <a:endParaRPr lang="en-US" sz="1100" dirty="0"/>
          </a:p>
        </p:txBody>
      </p:sp>
      <p:sp>
        <p:nvSpPr>
          <p:cNvPr id="32" name="Text 30"/>
          <p:cNvSpPr/>
          <p:nvPr/>
        </p:nvSpPr>
        <p:spPr>
          <a:xfrm>
            <a:off x="8101584" y="2231136"/>
            <a:ext cx="1554480" cy="1517904"/>
          </a:xfrm>
          <a:prstGeom prst="rect">
            <a:avLst/>
          </a:prstGeom>
          <a:noFill/>
          <a:ln/>
        </p:spPr>
        <p:txBody>
          <a:bodyPr wrap="square" lIns="0" tIns="0" rIns="0" bIns="0" rtlCol="0" anchor="ctr"/>
          <a:lstStyle/>
          <a:p>
            <a:pPr indent="0" marL="0">
              <a:lnSpc>
                <a:spcPts val="1150"/>
              </a:lnSpc>
              <a:buNone/>
            </a:pPr>
            <a:r>
              <a:rPr lang="en-US" sz="880" dirty="0">
                <a:solidFill>
                  <a:srgbClr val="6E6A85"/>
                </a:solidFill>
                <a:latin typeface="Calibri" pitchFamily="34" charset="0"/>
                <a:ea typeface="Calibri" pitchFamily="34" charset="-122"/>
                <a:cs typeface="Calibri" pitchFamily="34" charset="-120"/>
              </a:rPr>
              <a:t>OpenSpliceAI inside the same container (gated); HGMD, retina-specific exons, retina ATAC peaks, dbscSNV</a:t>
            </a:r>
            <a:endParaRPr lang="en-US" sz="880" dirty="0"/>
          </a:p>
        </p:txBody>
      </p:sp>
      <p:sp>
        <p:nvSpPr>
          <p:cNvPr id="33" name="Shape 31"/>
          <p:cNvSpPr/>
          <p:nvPr/>
        </p:nvSpPr>
        <p:spPr>
          <a:xfrm>
            <a:off x="9756648" y="2560320"/>
            <a:ext cx="146304" cy="0"/>
          </a:xfrm>
          <a:prstGeom prst="line">
            <a:avLst/>
          </a:prstGeom>
          <a:noFill/>
          <a:ln w="19050">
            <a:solidFill>
              <a:srgbClr val="6E63B8"/>
            </a:solidFill>
            <a:prstDash val="solid"/>
            <a:tailEnd type="triangle"/>
          </a:ln>
        </p:spPr>
      </p:sp>
      <p:sp>
        <p:nvSpPr>
          <p:cNvPr id="34" name="Shape 32"/>
          <p:cNvSpPr/>
          <p:nvPr/>
        </p:nvSpPr>
        <p:spPr>
          <a:xfrm>
            <a:off x="9875520" y="1316736"/>
            <a:ext cx="1737360" cy="2514600"/>
          </a:xfrm>
          <a:prstGeom prst="roundRect">
            <a:avLst>
              <a:gd name="adj" fmla="val 3684"/>
            </a:avLst>
          </a:prstGeom>
          <a:solidFill>
            <a:srgbClr val="FFFFFF"/>
          </a:solidFill>
          <a:ln w="12700">
            <a:solidFill>
              <a:srgbClr val="DDDAE8"/>
            </a:solidFill>
            <a:prstDash val="solid"/>
          </a:ln>
        </p:spPr>
      </p:sp>
      <p:sp>
        <p:nvSpPr>
          <p:cNvPr id="35" name="Shape 33"/>
          <p:cNvSpPr/>
          <p:nvPr/>
        </p:nvSpPr>
        <p:spPr>
          <a:xfrm>
            <a:off x="9994392" y="1444752"/>
            <a:ext cx="274320" cy="274320"/>
          </a:xfrm>
          <a:prstGeom prst="ellipse">
            <a:avLst/>
          </a:prstGeom>
          <a:solidFill>
            <a:srgbClr val="3F3684"/>
          </a:solidFill>
          <a:ln w="12700">
            <a:solidFill>
              <a:srgbClr val="3F3684"/>
            </a:solidFill>
            <a:prstDash val="solid"/>
          </a:ln>
        </p:spPr>
      </p:sp>
      <p:sp>
        <p:nvSpPr>
          <p:cNvPr id="36" name="Text 34"/>
          <p:cNvSpPr/>
          <p:nvPr/>
        </p:nvSpPr>
        <p:spPr>
          <a:xfrm>
            <a:off x="9994392" y="14447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7" name="Text 35"/>
          <p:cNvSpPr/>
          <p:nvPr/>
        </p:nvSpPr>
        <p:spPr>
          <a:xfrm>
            <a:off x="9966960" y="1773936"/>
            <a:ext cx="1554480" cy="457200"/>
          </a:xfrm>
          <a:prstGeom prst="rect">
            <a:avLst/>
          </a:prstGeom>
          <a:noFill/>
          <a:ln/>
        </p:spPr>
        <p:txBody>
          <a:bodyPr wrap="square" lIns="0" tIns="0" rIns="0" bIns="0" rtlCol="0" anchor="ctr"/>
          <a:lstStyle/>
          <a:p>
            <a:pPr indent="0" marL="0">
              <a:buNone/>
            </a:pPr>
            <a:r>
              <a:rPr lang="en-US" sz="1100" b="1" dirty="0">
                <a:solidFill>
                  <a:srgbClr val="1E1B33"/>
                </a:solidFill>
                <a:latin typeface="Calibri" pitchFamily="34" charset="0"/>
                <a:ea typeface="Calibri" pitchFamily="34" charset="-122"/>
                <a:cs typeface="Calibri" pitchFamily="34" charset="-120"/>
              </a:rPr>
              <a:t>Tier + deliver</a:t>
            </a:r>
            <a:endParaRPr lang="en-US" sz="1100" dirty="0"/>
          </a:p>
        </p:txBody>
      </p:sp>
      <p:sp>
        <p:nvSpPr>
          <p:cNvPr id="38" name="Text 36"/>
          <p:cNvSpPr/>
          <p:nvPr/>
        </p:nvSpPr>
        <p:spPr>
          <a:xfrm>
            <a:off x="9966960" y="2231136"/>
            <a:ext cx="1554480" cy="1517904"/>
          </a:xfrm>
          <a:prstGeom prst="rect">
            <a:avLst/>
          </a:prstGeom>
          <a:noFill/>
          <a:ln/>
        </p:spPr>
        <p:txBody>
          <a:bodyPr wrap="square" lIns="0" tIns="0" rIns="0" bIns="0" rtlCol="0" anchor="ctr"/>
          <a:lstStyle/>
          <a:p>
            <a:pPr indent="0" marL="0">
              <a:lnSpc>
                <a:spcPts val="1150"/>
              </a:lnSpc>
              <a:buNone/>
            </a:pPr>
            <a:r>
              <a:rPr lang="en-US" sz="880" dirty="0">
                <a:solidFill>
                  <a:srgbClr val="6E6A85"/>
                </a:solidFill>
                <a:latin typeface="Calibri" pitchFamily="34" charset="0"/>
                <a:ea typeface="Calibri" pitchFamily="34" charset="-122"/>
                <a:cs typeface="Calibri" pitchFamily="34" charset="-120"/>
              </a:rPr>
              <a:t>per-gene inheritance model — dominant ≤1e-4 · recessive ≥2 alleles ≤5e-3 · X-linked — then 5 standard tables and a ranked shortlist</a:t>
            </a:r>
            <a:endParaRPr lang="en-US" sz="880" dirty="0"/>
          </a:p>
        </p:txBody>
      </p:sp>
      <p:sp>
        <p:nvSpPr>
          <p:cNvPr id="39" name="Shape 37"/>
          <p:cNvSpPr/>
          <p:nvPr/>
        </p:nvSpPr>
        <p:spPr>
          <a:xfrm>
            <a:off x="548640" y="4005072"/>
            <a:ext cx="6766560" cy="2011680"/>
          </a:xfrm>
          <a:prstGeom prst="roundRect">
            <a:avLst>
              <a:gd name="adj" fmla="val 3182"/>
            </a:avLst>
          </a:prstGeom>
          <a:solidFill>
            <a:srgbClr val="16142B"/>
          </a:solidFill>
          <a:ln w="6350">
            <a:solidFill>
              <a:srgbClr val="16142B"/>
            </a:solidFill>
            <a:prstDash val="solid"/>
          </a:ln>
        </p:spPr>
      </p:sp>
      <p:sp>
        <p:nvSpPr>
          <p:cNvPr id="40" name="Text 38"/>
          <p:cNvSpPr/>
          <p:nvPr/>
        </p:nvSpPr>
        <p:spPr>
          <a:xfrm>
            <a:off x="786384" y="4114800"/>
            <a:ext cx="6309360" cy="310896"/>
          </a:xfrm>
          <a:prstGeom prst="rect">
            <a:avLst/>
          </a:prstGeom>
          <a:noFill/>
          <a:ln/>
        </p:spPr>
        <p:txBody>
          <a:bodyPr wrap="square" lIns="0" tIns="0" rIns="0" bIns="0" rtlCol="0" anchor="ctr"/>
          <a:lstStyle/>
          <a:p>
            <a:pPr indent="0" marL="0">
              <a:buNone/>
            </a:pPr>
            <a:r>
              <a:rPr lang="en-US" sz="1200" b="1" dirty="0">
                <a:solidFill>
                  <a:srgbClr val="17B8A6"/>
                </a:solidFill>
                <a:latin typeface="Calibri" pitchFamily="34" charset="0"/>
                <a:ea typeface="Calibri" pitchFamily="34" charset="-122"/>
                <a:cs typeface="Calibri" pitchFamily="34" charset="-120"/>
              </a:rPr>
              <a:t>Verified end-to-end on HPC3 (2026-07-13, same benchmark VCF)</a:t>
            </a:r>
            <a:endParaRPr lang="en-US" sz="1200" dirty="0"/>
          </a:p>
        </p:txBody>
      </p:sp>
      <p:sp>
        <p:nvSpPr>
          <p:cNvPr id="41" name="Text 39"/>
          <p:cNvSpPr/>
          <p:nvPr/>
        </p:nvSpPr>
        <p:spPr>
          <a:xfrm>
            <a:off x="786384" y="4498848"/>
            <a:ext cx="265176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~52 min → 99 s</a:t>
            </a:r>
            <a:endParaRPr lang="en-US" sz="1400" dirty="0"/>
          </a:p>
        </p:txBody>
      </p:sp>
      <p:sp>
        <p:nvSpPr>
          <p:cNvPr id="42" name="Text 40"/>
          <p:cNvSpPr/>
          <p:nvPr/>
        </p:nvSpPr>
        <p:spPr>
          <a:xfrm>
            <a:off x="3566160" y="4498848"/>
            <a:ext cx="3520440" cy="365760"/>
          </a:xfrm>
          <a:prstGeom prst="rect">
            <a:avLst/>
          </a:prstGeom>
          <a:noFill/>
          <a:ln/>
        </p:spPr>
        <p:txBody>
          <a:bodyPr wrap="square" lIns="0" tIns="0" rIns="0" bIns="0" rtlCol="0" anchor="ctr"/>
          <a:lstStyle/>
          <a:p>
            <a:pPr indent="0" marL="0">
              <a:buNone/>
            </a:pPr>
            <a:r>
              <a:rPr lang="en-US" sz="950" dirty="0">
                <a:solidFill>
                  <a:srgbClr val="B9B4D6"/>
                </a:solidFill>
                <a:latin typeface="Calibri" pitchFamily="34" charset="0"/>
                <a:ea typeface="Calibri" pitchFamily="34" charset="-122"/>
                <a:cs typeface="Calibri" pitchFamily="34" charset="-120"/>
              </a:rPr>
              <a:t>whole-VCF annotation, after restricting to the panel before VEP</a:t>
            </a:r>
            <a:endParaRPr lang="en-US" sz="950" dirty="0"/>
          </a:p>
        </p:txBody>
      </p:sp>
      <p:sp>
        <p:nvSpPr>
          <p:cNvPr id="43" name="Text 41"/>
          <p:cNvSpPr/>
          <p:nvPr/>
        </p:nvSpPr>
        <p:spPr>
          <a:xfrm>
            <a:off x="786384" y="4956048"/>
            <a:ext cx="265176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4.67 M → 1,544</a:t>
            </a:r>
            <a:endParaRPr lang="en-US" sz="1400" dirty="0"/>
          </a:p>
        </p:txBody>
      </p:sp>
      <p:sp>
        <p:nvSpPr>
          <p:cNvPr id="44" name="Text 42"/>
          <p:cNvSpPr/>
          <p:nvPr/>
        </p:nvSpPr>
        <p:spPr>
          <a:xfrm>
            <a:off x="3566160" y="4956048"/>
            <a:ext cx="3520440" cy="365760"/>
          </a:xfrm>
          <a:prstGeom prst="rect">
            <a:avLst/>
          </a:prstGeom>
          <a:noFill/>
          <a:ln/>
        </p:spPr>
        <p:txBody>
          <a:bodyPr wrap="square" lIns="0" tIns="0" rIns="0" bIns="0" rtlCol="0" anchor="ctr"/>
          <a:lstStyle/>
          <a:p>
            <a:pPr indent="0" marL="0">
              <a:buNone/>
            </a:pPr>
            <a:r>
              <a:rPr lang="en-US" sz="950" dirty="0">
                <a:solidFill>
                  <a:srgbClr val="B9B4D6"/>
                </a:solidFill>
                <a:latin typeface="Calibri" pitchFamily="34" charset="0"/>
                <a:ea typeface="Calibri" pitchFamily="34" charset="-122"/>
                <a:cs typeface="Calibri" pitchFamily="34" charset="-120"/>
              </a:rPr>
              <a:t>variants VEP actually has to see</a:t>
            </a:r>
            <a:endParaRPr lang="en-US" sz="950" dirty="0"/>
          </a:p>
        </p:txBody>
      </p:sp>
      <p:sp>
        <p:nvSpPr>
          <p:cNvPr id="45" name="Text 43"/>
          <p:cNvSpPr/>
          <p:nvPr/>
        </p:nvSpPr>
        <p:spPr>
          <a:xfrm>
            <a:off x="786384" y="5413248"/>
            <a:ext cx="265176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CRB1 · TRPM1 · CROCC</a:t>
            </a:r>
            <a:endParaRPr lang="en-US" sz="1400" dirty="0"/>
          </a:p>
        </p:txBody>
      </p:sp>
      <p:sp>
        <p:nvSpPr>
          <p:cNvPr id="46" name="Text 44"/>
          <p:cNvSpPr/>
          <p:nvPr/>
        </p:nvSpPr>
        <p:spPr>
          <a:xfrm>
            <a:off x="3566160" y="5413248"/>
            <a:ext cx="3520440" cy="365760"/>
          </a:xfrm>
          <a:prstGeom prst="rect">
            <a:avLst/>
          </a:prstGeom>
          <a:noFill/>
          <a:ln/>
        </p:spPr>
        <p:txBody>
          <a:bodyPr wrap="square" lIns="0" tIns="0" rIns="0" bIns="0" rtlCol="0" anchor="ctr"/>
          <a:lstStyle/>
          <a:p>
            <a:pPr indent="0" marL="0">
              <a:buNone/>
            </a:pPr>
            <a:r>
              <a:rPr lang="en-US" sz="950" dirty="0">
                <a:solidFill>
                  <a:srgbClr val="B9B4D6"/>
                </a:solidFill>
                <a:latin typeface="Calibri" pitchFamily="34" charset="0"/>
                <a:ea typeface="Calibri" pitchFamily="34" charset="-122"/>
                <a:cs typeface="Calibri" pitchFamily="34" charset="-120"/>
              </a:rPr>
              <a:t>the shortlist now leads with real retinal-disease genes</a:t>
            </a:r>
            <a:endParaRPr lang="en-US" sz="950" dirty="0"/>
          </a:p>
        </p:txBody>
      </p:sp>
      <p:sp>
        <p:nvSpPr>
          <p:cNvPr id="47" name="Shape 45"/>
          <p:cNvSpPr/>
          <p:nvPr/>
        </p:nvSpPr>
        <p:spPr>
          <a:xfrm>
            <a:off x="7479792" y="4005072"/>
            <a:ext cx="4160520" cy="2011680"/>
          </a:xfrm>
          <a:prstGeom prst="roundRect">
            <a:avLst>
              <a:gd name="adj" fmla="val 3182"/>
            </a:avLst>
          </a:prstGeom>
          <a:solidFill>
            <a:srgbClr val="E9E7F3"/>
          </a:solidFill>
          <a:ln w="6350">
            <a:solidFill>
              <a:srgbClr val="E9E7F3"/>
            </a:solidFill>
            <a:prstDash val="solid"/>
          </a:ln>
        </p:spPr>
      </p:sp>
      <p:sp>
        <p:nvSpPr>
          <p:cNvPr id="48" name="Text 46"/>
          <p:cNvSpPr/>
          <p:nvPr/>
        </p:nvSpPr>
        <p:spPr>
          <a:xfrm>
            <a:off x="7699248" y="4114800"/>
            <a:ext cx="3749040" cy="292608"/>
          </a:xfrm>
          <a:prstGeom prst="rect">
            <a:avLst/>
          </a:prstGeom>
          <a:noFill/>
          <a:ln/>
        </p:spPr>
        <p:txBody>
          <a:bodyPr wrap="square" lIns="0" tIns="0" rIns="0" bIns="0" rtlCol="0" anchor="ctr"/>
          <a:lstStyle/>
          <a:p>
            <a:pPr indent="0" marL="0">
              <a:buNone/>
            </a:pPr>
            <a:r>
              <a:rPr lang="en-US" sz="1200" b="1" dirty="0">
                <a:solidFill>
                  <a:srgbClr val="1E1B33"/>
                </a:solidFill>
                <a:latin typeface="Calibri" pitchFamily="34" charset="0"/>
                <a:ea typeface="Calibri" pitchFamily="34" charset="-122"/>
                <a:cs typeface="Calibri" pitchFamily="34" charset="-120"/>
              </a:rPr>
              <a:t>The standout finding</a:t>
            </a:r>
            <a:endParaRPr lang="en-US" sz="1200" dirty="0"/>
          </a:p>
        </p:txBody>
      </p:sp>
      <p:sp>
        <p:nvSpPr>
          <p:cNvPr id="49" name="Text 47"/>
          <p:cNvSpPr/>
          <p:nvPr/>
        </p:nvSpPr>
        <p:spPr>
          <a:xfrm>
            <a:off x="7699248" y="4443984"/>
            <a:ext cx="3749040" cy="1463040"/>
          </a:xfrm>
          <a:prstGeom prst="rect">
            <a:avLst/>
          </a:prstGeom>
          <a:noFill/>
          <a:ln/>
        </p:spPr>
        <p:txBody>
          <a:bodyPr wrap="square" lIns="0" tIns="0" rIns="0" bIns="0" rtlCol="0" anchor="t"/>
          <a:lstStyle/>
          <a:p>
            <a:pPr indent="0" marL="0">
              <a:lnSpc>
                <a:spcPts val="1250"/>
              </a:lnSpc>
              <a:buNone/>
            </a:pPr>
            <a:r>
              <a:rPr lang="en-US" sz="950" dirty="0">
                <a:solidFill>
                  <a:srgbClr val="6E6A85"/>
                </a:solidFill>
                <a:latin typeface="Calibri" pitchFamily="34" charset="0"/>
                <a:ea typeface="Calibri" pitchFamily="34" charset="-122"/>
                <a:cs typeface="Calibri" pitchFamily="34" charset="-120"/>
              </a:rPr>
              <a:t>ClinVar pathogenic / likely-pathogenic hits in CRB1 and USH2A — and a compound-heterozygous CRB1 candidate in the same patient: one ClinVar-pathogenic allele plus a novel loss-of-function allele. This is the lab-style IRD output the earlier generic run could not produce.</a:t>
            </a:r>
            <a:endParaRPr lang="en-US" sz="950" dirty="0"/>
          </a:p>
        </p:txBody>
      </p:sp>
      <p:sp>
        <p:nvSpPr>
          <p:cNvPr id="50" name="Text 48"/>
          <p:cNvSpPr/>
          <p:nvPr/>
        </p:nvSpPr>
        <p:spPr>
          <a:xfrm>
            <a:off x="548640" y="6382512"/>
            <a:ext cx="9144000" cy="274320"/>
          </a:xfrm>
          <a:prstGeom prst="rect">
            <a:avLst/>
          </a:prstGeom>
          <a:noFill/>
          <a:ln/>
        </p:spPr>
        <p:txBody>
          <a:bodyPr wrap="square" lIns="0" tIns="0" rIns="0" bIns="0" rtlCol="0" anchor="ctr"/>
          <a:lstStyle/>
          <a:p>
            <a:pPr indent="0" marL="0">
              <a:buNone/>
            </a:pPr>
            <a:r>
              <a:rPr lang="en-US" sz="900" dirty="0">
                <a:solidFill>
                  <a:srgbClr val="A6A2B8"/>
                </a:solidFill>
                <a:latin typeface="Calibri" pitchFamily="34" charset="0"/>
                <a:ea typeface="Calibri" pitchFamily="34" charset="-122"/>
                <a:cs typeface="Calibri" pitchFamily="34" charset="-120"/>
              </a:rPr>
              <a:t>AiScientist · Technical Specification · v0.2.0</a:t>
            </a:r>
            <a:endParaRPr lang="en-US" sz="900" dirty="0"/>
          </a:p>
        </p:txBody>
      </p:sp>
      <p:sp>
        <p:nvSpPr>
          <p:cNvPr id="51" name="Text 49"/>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A6A2B8"/>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310896"/>
            <a:ext cx="11091672" cy="502920"/>
          </a:xfrm>
          <a:prstGeom prst="rect">
            <a:avLst/>
          </a:prstGeom>
          <a:noFill/>
          <a:ln/>
        </p:spPr>
        <p:txBody>
          <a:bodyPr wrap="square" lIns="0" tIns="0" rIns="0" bIns="0" rtlCol="0" anchor="ctr"/>
          <a:lstStyle/>
          <a:p>
            <a:pPr algn="l" indent="0" marL="0">
              <a:buNone/>
            </a:pPr>
            <a:r>
              <a:rPr lang="en-US" sz="2700" b="1" dirty="0">
                <a:solidFill>
                  <a:srgbClr val="1E1B33"/>
                </a:solidFill>
                <a:latin typeface="Cambria" pitchFamily="34" charset="0"/>
                <a:ea typeface="Cambria" pitchFamily="34" charset="-122"/>
                <a:cs typeface="Cambria" pitchFamily="34" charset="-120"/>
              </a:rPr>
              <a:t>IRD parity: 11 layers, honestly scored</a:t>
            </a:r>
            <a:endParaRPr lang="en-US" sz="2700" dirty="0"/>
          </a:p>
        </p:txBody>
      </p:sp>
      <p:sp>
        <p:nvSpPr>
          <p:cNvPr id="3" name="Text 1"/>
          <p:cNvSpPr/>
          <p:nvPr/>
        </p:nvSpPr>
        <p:spPr>
          <a:xfrm>
            <a:off x="548640" y="841248"/>
            <a:ext cx="11091672" cy="329184"/>
          </a:xfrm>
          <a:prstGeom prst="rect">
            <a:avLst/>
          </a:prstGeom>
          <a:noFill/>
          <a:ln/>
        </p:spPr>
        <p:txBody>
          <a:bodyPr wrap="square" lIns="0" tIns="0" rIns="0" bIns="0" rtlCol="0" anchor="t"/>
          <a:lstStyle/>
          <a:p>
            <a:pPr algn="l" indent="0" marL="0">
              <a:buNone/>
            </a:pPr>
            <a:r>
              <a:rPr lang="en-US" sz="1200" dirty="0">
                <a:solidFill>
                  <a:srgbClr val="6E6A85"/>
                </a:solidFill>
                <a:latin typeface="Calibri" pitchFamily="34" charset="0"/>
                <a:ea typeface="Calibri" pitchFamily="34" charset="-122"/>
                <a:cs typeface="Calibri" pitchFamily="34" charset="-120"/>
              </a:rPr>
              <a:t>The target is clinical-grade parity — the same candidates surface — not byte-identical output; engines differ (our VEP/Ensembl vs their ANNOVAR/refGene)</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365760"/>
                <a:gridCol w="2331720"/>
                <a:gridCol w="5943600"/>
                <a:gridCol w="1170432"/>
                <a:gridCol w="640080"/>
              </a:tblGrid>
              <a:tr h="34747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IRD layer</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Our state</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Phase</a:t>
                      </a:r>
                      <a:endParaRPr lang="en-US" sz="100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F3684"/>
                    </a:solidFill>
                  </a:tcPr>
                </a:tc>
              </a:tr>
              <a:tr h="347472">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1</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Known-gene / panel first</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258-gene RetNet panel imported as a repo asset and injected as the default gene set</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b="1" dirty="0">
                          <a:solidFill>
                            <a:srgbClr val="0E8577"/>
                          </a:solidFill>
                          <a:latin typeface="Calibri" pitchFamily="34" charset="0"/>
                          <a:ea typeface="Calibri" pitchFamily="34" charset="-122"/>
                          <a:cs typeface="Calibri" pitchFamily="34" charset="-120"/>
                        </a:rPr>
                        <a:t>DONE</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1</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347472">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2</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Disease-model allele frequency</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dominant ≤1e-4 / recessive ≥2 alleles ≤5e-3 / X-linked, replacing a single flat cutoff</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b="1" dirty="0">
                          <a:solidFill>
                            <a:srgbClr val="0E8577"/>
                          </a:solidFill>
                          <a:latin typeface="Calibri" pitchFamily="34" charset="0"/>
                          <a:ea typeface="Calibri" pitchFamily="34" charset="-122"/>
                          <a:cs typeface="Calibri" pitchFamily="34" charset="-120"/>
                        </a:rPr>
                        <a:t>DONE</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2</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347472">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3</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Protein-altering focus</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consequence + impact present; promoted as an explicit shortlist tier</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b="1" dirty="0">
                          <a:solidFill>
                            <a:srgbClr val="0E8577"/>
                          </a:solidFill>
                          <a:latin typeface="Calibri" pitchFamily="34" charset="0"/>
                          <a:ea typeface="Calibri" pitchFamily="34" charset="-122"/>
                          <a:cs typeface="Calibri" pitchFamily="34" charset="-120"/>
                        </a:rPr>
                        <a:t>DONE</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2</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347472">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4</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Known-mutation match (HGMD)</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annotator ported; the lab's public HGMD copy on HPC3 is authorized for reuse</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b="1" dirty="0">
                          <a:solidFill>
                            <a:srgbClr val="D9832B"/>
                          </a:solidFill>
                          <a:latin typeface="Calibri" pitchFamily="34" charset="0"/>
                          <a:ea typeface="Calibri" pitchFamily="34" charset="-122"/>
                          <a:cs typeface="Calibri" pitchFamily="34" charset="-120"/>
                        </a:rPr>
                        <a:t>GATED</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3</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347472">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5</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Retina-specific exons</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BED overlap annotator ported; the Eric Pierce RNA-seq BED is on HPC3</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b="1" dirty="0">
                          <a:solidFill>
                            <a:srgbClr val="D9832B"/>
                          </a:solidFill>
                          <a:latin typeface="Calibri" pitchFamily="34" charset="0"/>
                          <a:ea typeface="Calibri" pitchFamily="34" charset="-122"/>
                          <a:cs typeface="Calibri" pitchFamily="34" charset="-120"/>
                        </a:rPr>
                        <a:t>GATED</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3</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347472">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6</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Splice prediction</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OpenSpliceAI built and verified (DS_DL 0.917 / 0.755); dbscSNV annotator ported</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b="1" dirty="0">
                          <a:solidFill>
                            <a:srgbClr val="D9832B"/>
                          </a:solidFill>
                          <a:latin typeface="Calibri" pitchFamily="34" charset="0"/>
                          <a:ea typeface="Calibri" pitchFamily="34" charset="-122"/>
                          <a:cs typeface="Calibri" pitchFamily="34" charset="-120"/>
                        </a:rPr>
                        <a:t>GATED</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1/3</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347472">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7</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Deep predictor panel</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VEP plugins for CADD / REVEL / AlphaMissense coded; 96 GB CADD + 2.3 GB REVEL + 131 GB dbNSFP staged on HPC3</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b="1" dirty="0">
                          <a:solidFill>
                            <a:srgbClr val="D9832B"/>
                          </a:solidFill>
                          <a:latin typeface="Calibri" pitchFamily="34" charset="0"/>
                          <a:ea typeface="Calibri" pitchFamily="34" charset="-122"/>
                          <a:cs typeface="Calibri" pitchFamily="34" charset="-120"/>
                        </a:rPr>
                        <a:t>GATED</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1</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347472">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8</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Gene-level constraint</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pLI / pRec / RVIS / GDI not yet annotated or folded into tiering</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b="1" dirty="0">
                          <a:solidFill>
                            <a:srgbClr val="B8433A"/>
                          </a:solidFill>
                          <a:latin typeface="Calibri" pitchFamily="34" charset="0"/>
                          <a:ea typeface="Calibri" pitchFamily="34" charset="-122"/>
                          <a:cs typeface="Calibri" pitchFamily="34" charset="-120"/>
                        </a:rPr>
                        <a:t>TO BUILD</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2</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347472">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9</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Phenotype integration</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LIRICAL + Exomiser line built and verified; Exomiser gene-phenotype scoring not yet folded into the variant tiering</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b="1" dirty="0">
                          <a:solidFill>
                            <a:srgbClr val="D9832B"/>
                          </a:solidFill>
                          <a:latin typeface="Calibri" pitchFamily="34" charset="0"/>
                          <a:ea typeface="Calibri" pitchFamily="34" charset="-122"/>
                          <a:cs typeface="Calibri" pitchFamily="34" charset="-120"/>
                        </a:rPr>
                        <a:t>GATED</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3</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347472">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10</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Compound-het phasing</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cis/trans phasing from genotypes not implemented — frequency + count gate only</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b="1" dirty="0">
                          <a:solidFill>
                            <a:srgbClr val="B8433A"/>
                          </a:solidFill>
                          <a:latin typeface="Calibri" pitchFamily="34" charset="0"/>
                          <a:ea typeface="Calibri" pitchFamily="34" charset="-122"/>
                          <a:cs typeface="Calibri" pitchFamily="34" charset="-120"/>
                        </a:rPr>
                        <a:t>TO BUILD</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2</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3F2F8"/>
                    </a:solidFill>
                  </a:tcPr>
                </a:tc>
              </a:tr>
              <a:tr h="347472">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11</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Regulatory accessibility</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narrowPeak overlap annotator ported; the retina ATAC peak file is on HPC3</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b="1" dirty="0">
                          <a:solidFill>
                            <a:srgbClr val="D9832B"/>
                          </a:solidFill>
                          <a:latin typeface="Calibri" pitchFamily="34" charset="0"/>
                          <a:ea typeface="Calibri" pitchFamily="34" charset="-122"/>
                          <a:cs typeface="Calibri" pitchFamily="34" charset="-120"/>
                        </a:rPr>
                        <a:t>GATED</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860" dirty="0">
                          <a:solidFill>
                            <a:srgbClr val="1E1B33"/>
                          </a:solidFill>
                          <a:latin typeface="Calibri" pitchFamily="34" charset="0"/>
                          <a:ea typeface="Calibri" pitchFamily="34" charset="-122"/>
                          <a:cs typeface="Calibri" pitchFamily="34" charset="-120"/>
                        </a:rPr>
                        <a:t>3</a:t>
                      </a:r>
                      <a:endParaRPr lang="en-US" sz="860" dirty="0">
                        <a:latin typeface="Calibri" charset="0"/>
                        <a:ea typeface="Calibri" charset="0"/>
                        <a:cs typeface="Calibri" charset="0"/>
                      </a:endParaRPr>
                    </a:p>
                  </a:txBody>
                  <a:tcPr marL="91440" marR="91440" marT="45720" marB="4572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5943600"/>
            <a:ext cx="11091672" cy="365760"/>
          </a:xfrm>
          <a:prstGeom prst="rect">
            <a:avLst/>
          </a:prstGeom>
          <a:noFill/>
          <a:ln/>
        </p:spPr>
        <p:txBody>
          <a:bodyPr wrap="square" lIns="0" tIns="0" rIns="0" bIns="0" rtlCol="0" anchor="ctr"/>
          <a:lstStyle/>
          <a:p>
            <a:pPr indent="0" marL="0">
              <a:buNone/>
            </a:pPr>
            <a:r>
              <a:rPr lang="en-US" sz="950" i="1" dirty="0">
                <a:solidFill>
                  <a:srgbClr val="6E6A85"/>
                </a:solidFill>
                <a:latin typeface="Calibri" pitchFamily="34" charset="0"/>
                <a:ea typeface="Calibri" pitchFamily="34" charset="-122"/>
                <a:cs typeface="Calibri" pitchFamily="34" charset="-120"/>
              </a:rPr>
              <a:t>GATED = the code exists and the data is staged; what remains is an ops decision (an env flag, a deploy) rather than engineering.</a:t>
            </a:r>
            <a:endParaRPr lang="en-US" sz="950" dirty="0"/>
          </a:p>
        </p:txBody>
      </p:sp>
      <p:sp>
        <p:nvSpPr>
          <p:cNvPr id="6" name="Text 3"/>
          <p:cNvSpPr/>
          <p:nvPr/>
        </p:nvSpPr>
        <p:spPr>
          <a:xfrm>
            <a:off x="548640" y="6382512"/>
            <a:ext cx="9144000" cy="274320"/>
          </a:xfrm>
          <a:prstGeom prst="rect">
            <a:avLst/>
          </a:prstGeom>
          <a:noFill/>
          <a:ln/>
        </p:spPr>
        <p:txBody>
          <a:bodyPr wrap="square" lIns="0" tIns="0" rIns="0" bIns="0" rtlCol="0" anchor="ctr"/>
          <a:lstStyle/>
          <a:p>
            <a:pPr indent="0" marL="0">
              <a:buNone/>
            </a:pPr>
            <a:r>
              <a:rPr lang="en-US" sz="900" dirty="0">
                <a:solidFill>
                  <a:srgbClr val="A6A2B8"/>
                </a:solidFill>
                <a:latin typeface="Calibri" pitchFamily="34" charset="0"/>
                <a:ea typeface="Calibri" pitchFamily="34" charset="-122"/>
                <a:cs typeface="Calibri" pitchFamily="34" charset="-120"/>
              </a:rPr>
              <a:t>AiScientist · Technical Specification · v0.2.0</a:t>
            </a:r>
            <a:endParaRPr lang="en-US" sz="900" dirty="0"/>
          </a:p>
        </p:txBody>
      </p:sp>
      <p:sp>
        <p:nvSpPr>
          <p:cNvPr id="7" name="Text 4"/>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A6A2B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310896"/>
            <a:ext cx="11091672" cy="502920"/>
          </a:xfrm>
          <a:prstGeom prst="rect">
            <a:avLst/>
          </a:prstGeom>
          <a:noFill/>
          <a:ln/>
        </p:spPr>
        <p:txBody>
          <a:bodyPr wrap="square" lIns="0" tIns="0" rIns="0" bIns="0" rtlCol="0" anchor="ctr"/>
          <a:lstStyle/>
          <a:p>
            <a:pPr algn="l" indent="0" marL="0">
              <a:buNone/>
            </a:pPr>
            <a:r>
              <a:rPr lang="en-US" sz="2700" b="1" dirty="0">
                <a:solidFill>
                  <a:srgbClr val="1E1B33"/>
                </a:solidFill>
                <a:latin typeface="Cambria" pitchFamily="34" charset="0"/>
                <a:ea typeface="Cambria" pitchFamily="34" charset="-122"/>
                <a:cs typeface="Cambria" pitchFamily="34" charset="-120"/>
              </a:rPr>
              <a:t>The phenotype track — and where it structurally stops</a:t>
            </a:r>
            <a:endParaRPr lang="en-US" sz="2700" dirty="0"/>
          </a:p>
        </p:txBody>
      </p:sp>
      <p:sp>
        <p:nvSpPr>
          <p:cNvPr id="3" name="Text 1"/>
          <p:cNvSpPr/>
          <p:nvPr/>
        </p:nvSpPr>
        <p:spPr>
          <a:xfrm>
            <a:off x="548640" y="841248"/>
            <a:ext cx="11091672" cy="329184"/>
          </a:xfrm>
          <a:prstGeom prst="rect">
            <a:avLst/>
          </a:prstGeom>
          <a:noFill/>
          <a:ln/>
        </p:spPr>
        <p:txBody>
          <a:bodyPr wrap="square" lIns="0" tIns="0" rIns="0" bIns="0" rtlCol="0" anchor="t"/>
          <a:lstStyle/>
          <a:p>
            <a:pPr algn="l" indent="0" marL="0">
              <a:buNone/>
            </a:pPr>
            <a:r>
              <a:rPr lang="en-US" sz="1200" dirty="0">
                <a:solidFill>
                  <a:srgbClr val="6E6A85"/>
                </a:solidFill>
                <a:latin typeface="Calibri" pitchFamily="34" charset="0"/>
                <a:ea typeface="Calibri" pitchFamily="34" charset="-122"/>
                <a:cs typeface="Calibri" pitchFamily="34" charset="-120"/>
              </a:rPr>
              <a:t>A variant shortlist cannot say WHICH disease; a phenotype cannot say WHICH variant. Run both, then reconcile.</a:t>
            </a:r>
            <a:endParaRPr lang="en-US" sz="1200" dirty="0"/>
          </a:p>
        </p:txBody>
      </p:sp>
      <p:sp>
        <p:nvSpPr>
          <p:cNvPr id="4" name="Shape 2"/>
          <p:cNvSpPr/>
          <p:nvPr/>
        </p:nvSpPr>
        <p:spPr>
          <a:xfrm>
            <a:off x="548640" y="1371600"/>
            <a:ext cx="3538728" cy="2286000"/>
          </a:xfrm>
          <a:prstGeom prst="roundRect">
            <a:avLst>
              <a:gd name="adj" fmla="val 2800"/>
            </a:avLst>
          </a:prstGeom>
          <a:solidFill>
            <a:srgbClr val="FFFFFF"/>
          </a:solidFill>
          <a:ln w="12700">
            <a:solidFill>
              <a:srgbClr val="DDDAE8"/>
            </a:solidFill>
            <a:prstDash val="solid"/>
          </a:ln>
        </p:spPr>
      </p:sp>
      <p:sp>
        <p:nvSpPr>
          <p:cNvPr id="5" name="Shape 3"/>
          <p:cNvSpPr/>
          <p:nvPr/>
        </p:nvSpPr>
        <p:spPr>
          <a:xfrm>
            <a:off x="548640" y="1371600"/>
            <a:ext cx="3538728" cy="438912"/>
          </a:xfrm>
          <a:prstGeom prst="roundRect">
            <a:avLst>
              <a:gd name="adj" fmla="val 14583"/>
            </a:avLst>
          </a:prstGeom>
          <a:solidFill>
            <a:srgbClr val="17B8A6"/>
          </a:solidFill>
          <a:ln w="12700">
            <a:solidFill>
              <a:srgbClr val="17B8A6"/>
            </a:solidFill>
            <a:prstDash val="solid"/>
          </a:ln>
        </p:spPr>
      </p:sp>
      <p:sp>
        <p:nvSpPr>
          <p:cNvPr id="6" name="Shape 4"/>
          <p:cNvSpPr/>
          <p:nvPr/>
        </p:nvSpPr>
        <p:spPr>
          <a:xfrm>
            <a:off x="548640" y="1645920"/>
            <a:ext cx="3538728" cy="164592"/>
          </a:xfrm>
          <a:prstGeom prst="rect">
            <a:avLst/>
          </a:prstGeom>
          <a:solidFill>
            <a:srgbClr val="17B8A6"/>
          </a:solidFill>
          <a:ln w="12700">
            <a:solidFill>
              <a:srgbClr val="17B8A6"/>
            </a:solidFill>
            <a:prstDash val="solid"/>
          </a:ln>
        </p:spPr>
      </p:sp>
      <p:sp>
        <p:nvSpPr>
          <p:cNvPr id="7" name="Text 5"/>
          <p:cNvSpPr/>
          <p:nvPr/>
        </p:nvSpPr>
        <p:spPr>
          <a:xfrm>
            <a:off x="731520" y="1399032"/>
            <a:ext cx="3172968"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Free text → HPO</a:t>
            </a:r>
            <a:endParaRPr lang="en-US" sz="1200" dirty="0"/>
          </a:p>
        </p:txBody>
      </p:sp>
      <p:sp>
        <p:nvSpPr>
          <p:cNvPr id="8" name="Text 6"/>
          <p:cNvSpPr/>
          <p:nvPr/>
        </p:nvSpPr>
        <p:spPr>
          <a:xfrm>
            <a:off x="731520" y="1920240"/>
            <a:ext cx="3172968" cy="1627632"/>
          </a:xfrm>
          <a:prstGeom prst="rect">
            <a:avLst/>
          </a:prstGeom>
          <a:noFill/>
          <a:ln/>
        </p:spPr>
        <p:txBody>
          <a:bodyPr wrap="square" lIns="0" tIns="0" rIns="0" bIns="0" rtlCol="0" anchor="t"/>
          <a:lstStyle/>
          <a:p>
            <a:pPr indent="0" marL="0">
              <a:lnSpc>
                <a:spcPts val="1250"/>
              </a:lnSpc>
              <a:buNone/>
            </a:pPr>
            <a:r>
              <a:rPr lang="en-US" sz="980" dirty="0">
                <a:solidFill>
                  <a:srgbClr val="1E1B33"/>
                </a:solidFill>
                <a:latin typeface="Calibri" pitchFamily="34" charset="0"/>
                <a:ea typeface="Calibri" pitchFamily="34" charset="-122"/>
                <a:cs typeface="Calibri" pitchFamily="34" charset="-120"/>
              </a:rPr>
              <a:t>The clinician writes in their own words, in any language. An LLM extracts phrases and negation; the ONTOLOGY owns the identifiers — the model picks a candidate NUMBER and never types an HPO ID. The lexicon is committed to the repo, so it runs offline.</a:t>
            </a:r>
            <a:endParaRPr lang="en-US" sz="980" dirty="0"/>
          </a:p>
        </p:txBody>
      </p:sp>
      <p:sp>
        <p:nvSpPr>
          <p:cNvPr id="9" name="Shape 7"/>
          <p:cNvSpPr/>
          <p:nvPr/>
        </p:nvSpPr>
        <p:spPr>
          <a:xfrm>
            <a:off x="4091940" y="2514600"/>
            <a:ext cx="132588" cy="0"/>
          </a:xfrm>
          <a:prstGeom prst="line">
            <a:avLst/>
          </a:prstGeom>
          <a:noFill/>
          <a:ln w="19050">
            <a:solidFill>
              <a:srgbClr val="6E63B8"/>
            </a:solidFill>
            <a:prstDash val="solid"/>
            <a:tailEnd type="triangle"/>
          </a:ln>
        </p:spPr>
      </p:sp>
      <p:sp>
        <p:nvSpPr>
          <p:cNvPr id="10" name="Shape 8"/>
          <p:cNvSpPr/>
          <p:nvPr/>
        </p:nvSpPr>
        <p:spPr>
          <a:xfrm>
            <a:off x="4233672" y="1371600"/>
            <a:ext cx="3538728" cy="2286000"/>
          </a:xfrm>
          <a:prstGeom prst="roundRect">
            <a:avLst>
              <a:gd name="adj" fmla="val 2800"/>
            </a:avLst>
          </a:prstGeom>
          <a:solidFill>
            <a:srgbClr val="FFFFFF"/>
          </a:solidFill>
          <a:ln w="12700">
            <a:solidFill>
              <a:srgbClr val="DDDAE8"/>
            </a:solidFill>
            <a:prstDash val="solid"/>
          </a:ln>
        </p:spPr>
      </p:sp>
      <p:sp>
        <p:nvSpPr>
          <p:cNvPr id="11" name="Shape 9"/>
          <p:cNvSpPr/>
          <p:nvPr/>
        </p:nvSpPr>
        <p:spPr>
          <a:xfrm>
            <a:off x="4233672" y="1371600"/>
            <a:ext cx="3538728" cy="438912"/>
          </a:xfrm>
          <a:prstGeom prst="roundRect">
            <a:avLst>
              <a:gd name="adj" fmla="val 14583"/>
            </a:avLst>
          </a:prstGeom>
          <a:solidFill>
            <a:srgbClr val="3F3684"/>
          </a:solidFill>
          <a:ln w="12700">
            <a:solidFill>
              <a:srgbClr val="3F3684"/>
            </a:solidFill>
            <a:prstDash val="solid"/>
          </a:ln>
        </p:spPr>
      </p:sp>
      <p:sp>
        <p:nvSpPr>
          <p:cNvPr id="12" name="Shape 10"/>
          <p:cNvSpPr/>
          <p:nvPr/>
        </p:nvSpPr>
        <p:spPr>
          <a:xfrm>
            <a:off x="4233672" y="1645920"/>
            <a:ext cx="3538728" cy="164592"/>
          </a:xfrm>
          <a:prstGeom prst="rect">
            <a:avLst/>
          </a:prstGeom>
          <a:solidFill>
            <a:srgbClr val="3F3684"/>
          </a:solidFill>
          <a:ln w="12700">
            <a:solidFill>
              <a:srgbClr val="3F3684"/>
            </a:solidFill>
            <a:prstDash val="solid"/>
          </a:ln>
        </p:spPr>
      </p:sp>
      <p:sp>
        <p:nvSpPr>
          <p:cNvPr id="13" name="Text 11"/>
          <p:cNvSpPr/>
          <p:nvPr/>
        </p:nvSpPr>
        <p:spPr>
          <a:xfrm>
            <a:off x="4416552" y="1399032"/>
            <a:ext cx="3172968"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HPO + VCF → LIRICAL</a:t>
            </a:r>
            <a:endParaRPr lang="en-US" sz="1200" dirty="0"/>
          </a:p>
        </p:txBody>
      </p:sp>
      <p:sp>
        <p:nvSpPr>
          <p:cNvPr id="14" name="Text 12"/>
          <p:cNvSpPr/>
          <p:nvPr/>
        </p:nvSpPr>
        <p:spPr>
          <a:xfrm>
            <a:off x="4416552" y="1920240"/>
            <a:ext cx="3172968" cy="1627632"/>
          </a:xfrm>
          <a:prstGeom prst="rect">
            <a:avLst/>
          </a:prstGeom>
          <a:noFill/>
          <a:ln/>
        </p:spPr>
        <p:txBody>
          <a:bodyPr wrap="square" lIns="0" tIns="0" rIns="0" bIns="0" rtlCol="0" anchor="t"/>
          <a:lstStyle/>
          <a:p>
            <a:pPr indent="0" marL="0">
              <a:lnSpc>
                <a:spcPts val="1250"/>
              </a:lnSpc>
              <a:buNone/>
            </a:pPr>
            <a:r>
              <a:rPr lang="en-US" sz="980" dirty="0">
                <a:solidFill>
                  <a:srgbClr val="1E1B33"/>
                </a:solidFill>
                <a:latin typeface="Calibri" pitchFamily="34" charset="0"/>
                <a:ea typeface="Calibri" pitchFamily="34" charset="-122"/>
                <a:cs typeface="Calibri" pitchFamily="34" charset="-120"/>
              </a:rPr>
              <a:t>LIRICAL v2.4.1 with Exomiser fuses the HPO profile with the variant shortlist into a per-disease POST-TEST PROBABILITY via a likelihood-ratio model. Rare, specific symptoms carry more information than common ones — which is exactly what handles IRD's heavy symptom overlap.</a:t>
            </a:r>
            <a:endParaRPr lang="en-US" sz="980" dirty="0"/>
          </a:p>
        </p:txBody>
      </p:sp>
      <p:sp>
        <p:nvSpPr>
          <p:cNvPr id="15" name="Shape 13"/>
          <p:cNvSpPr/>
          <p:nvPr/>
        </p:nvSpPr>
        <p:spPr>
          <a:xfrm>
            <a:off x="7776972" y="2514600"/>
            <a:ext cx="132588" cy="0"/>
          </a:xfrm>
          <a:prstGeom prst="line">
            <a:avLst/>
          </a:prstGeom>
          <a:noFill/>
          <a:ln w="19050">
            <a:solidFill>
              <a:srgbClr val="6E63B8"/>
            </a:solidFill>
            <a:prstDash val="solid"/>
            <a:tailEnd type="triangle"/>
          </a:ln>
        </p:spPr>
      </p:sp>
      <p:sp>
        <p:nvSpPr>
          <p:cNvPr id="16" name="Shape 14"/>
          <p:cNvSpPr/>
          <p:nvPr/>
        </p:nvSpPr>
        <p:spPr>
          <a:xfrm>
            <a:off x="7918704" y="1371600"/>
            <a:ext cx="3538728" cy="2286000"/>
          </a:xfrm>
          <a:prstGeom prst="roundRect">
            <a:avLst>
              <a:gd name="adj" fmla="val 2800"/>
            </a:avLst>
          </a:prstGeom>
          <a:solidFill>
            <a:srgbClr val="FFFFFF"/>
          </a:solidFill>
          <a:ln w="12700">
            <a:solidFill>
              <a:srgbClr val="DDDAE8"/>
            </a:solidFill>
            <a:prstDash val="solid"/>
          </a:ln>
        </p:spPr>
      </p:sp>
      <p:sp>
        <p:nvSpPr>
          <p:cNvPr id="17" name="Shape 15"/>
          <p:cNvSpPr/>
          <p:nvPr/>
        </p:nvSpPr>
        <p:spPr>
          <a:xfrm>
            <a:off x="7918704" y="1371600"/>
            <a:ext cx="3538728" cy="438912"/>
          </a:xfrm>
          <a:prstGeom prst="roundRect">
            <a:avLst>
              <a:gd name="adj" fmla="val 14583"/>
            </a:avLst>
          </a:prstGeom>
          <a:solidFill>
            <a:srgbClr val="D9832B"/>
          </a:solidFill>
          <a:ln w="12700">
            <a:solidFill>
              <a:srgbClr val="D9832B"/>
            </a:solidFill>
            <a:prstDash val="solid"/>
          </a:ln>
        </p:spPr>
      </p:sp>
      <p:sp>
        <p:nvSpPr>
          <p:cNvPr id="18" name="Shape 16"/>
          <p:cNvSpPr/>
          <p:nvPr/>
        </p:nvSpPr>
        <p:spPr>
          <a:xfrm>
            <a:off x="7918704" y="1645920"/>
            <a:ext cx="3538728" cy="164592"/>
          </a:xfrm>
          <a:prstGeom prst="rect">
            <a:avLst/>
          </a:prstGeom>
          <a:solidFill>
            <a:srgbClr val="D9832B"/>
          </a:solidFill>
          <a:ln w="12700">
            <a:solidFill>
              <a:srgbClr val="D9832B"/>
            </a:solidFill>
            <a:prstDash val="solid"/>
          </a:ln>
        </p:spPr>
      </p:sp>
      <p:sp>
        <p:nvSpPr>
          <p:cNvPr id="19" name="Text 17"/>
          <p:cNvSpPr/>
          <p:nvPr/>
        </p:nvSpPr>
        <p:spPr>
          <a:xfrm>
            <a:off x="8101584" y="1399032"/>
            <a:ext cx="3172968"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Two numbers, never averaged</a:t>
            </a:r>
            <a:endParaRPr lang="en-US" sz="1200" dirty="0"/>
          </a:p>
        </p:txBody>
      </p:sp>
      <p:sp>
        <p:nvSpPr>
          <p:cNvPr id="20" name="Text 18"/>
          <p:cNvSpPr/>
          <p:nvPr/>
        </p:nvSpPr>
        <p:spPr>
          <a:xfrm>
            <a:off x="8101584" y="1920240"/>
            <a:ext cx="3172968" cy="1627632"/>
          </a:xfrm>
          <a:prstGeom prst="rect">
            <a:avLst/>
          </a:prstGeom>
          <a:noFill/>
          <a:ln/>
        </p:spPr>
        <p:txBody>
          <a:bodyPr wrap="square" lIns="0" tIns="0" rIns="0" bIns="0" rtlCol="0" anchor="t"/>
          <a:lstStyle/>
          <a:p>
            <a:pPr indent="0" marL="0">
              <a:lnSpc>
                <a:spcPts val="1250"/>
              </a:lnSpc>
              <a:buNone/>
            </a:pPr>
            <a:r>
              <a:rPr lang="en-US" sz="980" dirty="0">
                <a:solidFill>
                  <a:srgbClr val="1E1B33"/>
                </a:solidFill>
                <a:latin typeface="Calibri" pitchFamily="34" charset="0"/>
                <a:ea typeface="Calibri" pitchFamily="34" charset="-122"/>
                <a:cs typeface="Calibri" pitchFamily="34" charset="-120"/>
              </a:rPr>
              <a:t>LIRICAL's calibrated probability is the trusted confidence. The literature track returns a ClinGen-style gene-disease VALIDITY tier — an evidence GRADE, not a probability — so it can only ATTACH support to a call or RESCUE a candidate for human review, never be blended into the number.</a:t>
            </a:r>
            <a:endParaRPr lang="en-US" sz="980" dirty="0"/>
          </a:p>
        </p:txBody>
      </p:sp>
      <p:sp>
        <p:nvSpPr>
          <p:cNvPr id="21" name="Shape 19"/>
          <p:cNvSpPr/>
          <p:nvPr/>
        </p:nvSpPr>
        <p:spPr>
          <a:xfrm>
            <a:off x="548640" y="3822192"/>
            <a:ext cx="5468112" cy="2212848"/>
          </a:xfrm>
          <a:prstGeom prst="roundRect">
            <a:avLst>
              <a:gd name="adj" fmla="val 2893"/>
            </a:avLst>
          </a:prstGeom>
          <a:solidFill>
            <a:srgbClr val="F3F2F8"/>
          </a:solidFill>
          <a:ln w="6350">
            <a:solidFill>
              <a:srgbClr val="F3F2F8"/>
            </a:solidFill>
            <a:prstDash val="solid"/>
          </a:ln>
        </p:spPr>
      </p:sp>
      <p:sp>
        <p:nvSpPr>
          <p:cNvPr id="22" name="Text 20"/>
          <p:cNvSpPr/>
          <p:nvPr/>
        </p:nvSpPr>
        <p:spPr>
          <a:xfrm>
            <a:off x="768096" y="3913632"/>
            <a:ext cx="4937760" cy="292608"/>
          </a:xfrm>
          <a:prstGeom prst="rect">
            <a:avLst/>
          </a:prstGeom>
          <a:noFill/>
          <a:ln/>
        </p:spPr>
        <p:txBody>
          <a:bodyPr wrap="square" lIns="0" tIns="0" rIns="0" bIns="0" rtlCol="0" anchor="ctr"/>
          <a:lstStyle/>
          <a:p>
            <a:pPr indent="0" marL="0">
              <a:buNone/>
            </a:pPr>
            <a:r>
              <a:rPr lang="en-US" sz="1200" b="1" dirty="0">
                <a:solidFill>
                  <a:srgbClr val="1E1B33"/>
                </a:solidFill>
                <a:latin typeface="Calibri" pitchFamily="34" charset="0"/>
                <a:ea typeface="Calibri" pitchFamily="34" charset="-122"/>
                <a:cs typeface="Calibri" pitchFamily="34" charset="-120"/>
              </a:rPr>
              <a:t>Verified on the demo case</a:t>
            </a:r>
            <a:endParaRPr lang="en-US" sz="1200" dirty="0"/>
          </a:p>
        </p:txBody>
      </p:sp>
      <p:sp>
        <p:nvSpPr>
          <p:cNvPr id="23" name="Text 21"/>
          <p:cNvSpPr/>
          <p:nvPr/>
        </p:nvSpPr>
        <p:spPr>
          <a:xfrm>
            <a:off x="768096" y="4261104"/>
            <a:ext cx="5029200" cy="1645920"/>
          </a:xfrm>
          <a:prstGeom prst="rect">
            <a:avLst/>
          </a:prstGeom>
          <a:noFill/>
          <a:ln/>
        </p:spPr>
        <p:txBody>
          <a:bodyPr wrap="square" lIns="0" tIns="0" rIns="0" bIns="0" rtlCol="0" anchor="t"/>
          <a:lstStyle/>
          <a:p>
            <a:pPr marL="342900" indent="-342900">
              <a:lnSpc>
                <a:spcPts val="1300"/>
              </a:lnSpc>
              <a:spcAft>
                <a:spcPts val="700"/>
              </a:spcAft>
              <a:buSzPct val="100000"/>
              <a:buChar char="•"/>
            </a:pPr>
            <a:r>
              <a:rPr lang="en-US" sz="1000" dirty="0">
                <a:solidFill>
                  <a:srgbClr val="6E6A85"/>
                </a:solidFill>
                <a:latin typeface="Calibri" pitchFamily="34" charset="0"/>
                <a:ea typeface="Calibri" pitchFamily="34" charset="-122"/>
                <a:cs typeface="Calibri" pitchFamily="34" charset="-120"/>
              </a:rPr>
              <a:t>An informal note mapped to 4 observed + 12 excluded HPO terms with no human curation</a:t>
            </a:r>
            <a:endParaRPr lang="en-US" sz="1000" dirty="0"/>
          </a:p>
          <a:p>
            <a:pPr marL="342900" indent="-342900">
              <a:lnSpc>
                <a:spcPts val="1300"/>
              </a:lnSpc>
              <a:spcAft>
                <a:spcPts val="700"/>
              </a:spcAft>
              <a:buSzPct val="100000"/>
              <a:buChar char="•"/>
            </a:pPr>
            <a:r>
              <a:rPr lang="en-US" sz="1000" dirty="0">
                <a:solidFill>
                  <a:srgbClr val="6E6A85"/>
                </a:solidFill>
                <a:latin typeface="Calibri" pitchFamily="34" charset="0"/>
                <a:ea typeface="Calibri" pitchFamily="34" charset="-122"/>
                <a:cs typeface="Calibri" pitchFamily="34" charset="-120"/>
              </a:rPr>
              <a:t>LIRICAL ranked the true answer, IMPG2, at #1 (compositeLR 12.647) — reproduced on both a synthetic and a real WGS VCF</a:t>
            </a:r>
            <a:endParaRPr lang="en-US" sz="1000" dirty="0"/>
          </a:p>
          <a:p>
            <a:pPr marL="342900" indent="-342900">
              <a:lnSpc>
                <a:spcPts val="1300"/>
              </a:lnSpc>
              <a:spcAft>
                <a:spcPts val="700"/>
              </a:spcAft>
              <a:buSzPct val="100000"/>
              <a:buChar char="•"/>
            </a:pPr>
            <a:r>
              <a:rPr lang="en-US" sz="1000" dirty="0">
                <a:solidFill>
                  <a:srgbClr val="6E6A85"/>
                </a:solidFill>
                <a:latin typeface="Calibri" pitchFamily="34" charset="0"/>
                <a:ea typeface="Calibri" pitchFamily="34" charset="-122"/>
                <a:cs typeface="Calibri" pitchFamily="34" charset="-120"/>
              </a:rPr>
              <a:t>Pertinent negatives do real work: adding 5 "the patient does NOT have…" sentences drove the wrong front-runner from #1 to #18</a:t>
            </a:r>
            <a:endParaRPr lang="en-US" sz="1000" dirty="0"/>
          </a:p>
        </p:txBody>
      </p:sp>
      <p:sp>
        <p:nvSpPr>
          <p:cNvPr id="24" name="Shape 22"/>
          <p:cNvSpPr/>
          <p:nvPr/>
        </p:nvSpPr>
        <p:spPr>
          <a:xfrm>
            <a:off x="6163056" y="3822192"/>
            <a:ext cx="5477256" cy="2212848"/>
          </a:xfrm>
          <a:prstGeom prst="roundRect">
            <a:avLst>
              <a:gd name="adj" fmla="val 2893"/>
            </a:avLst>
          </a:prstGeom>
          <a:solidFill>
            <a:srgbClr val="FBEEE9"/>
          </a:solidFill>
          <a:ln w="12700">
            <a:solidFill>
              <a:srgbClr val="E8C8BC"/>
            </a:solidFill>
            <a:prstDash val="solid"/>
          </a:ln>
        </p:spPr>
      </p:sp>
      <p:sp>
        <p:nvSpPr>
          <p:cNvPr id="25" name="Text 23"/>
          <p:cNvSpPr/>
          <p:nvPr/>
        </p:nvSpPr>
        <p:spPr>
          <a:xfrm>
            <a:off x="6382512" y="3913632"/>
            <a:ext cx="5029200" cy="292608"/>
          </a:xfrm>
          <a:prstGeom prst="rect">
            <a:avLst/>
          </a:prstGeom>
          <a:noFill/>
          <a:ln/>
        </p:spPr>
        <p:txBody>
          <a:bodyPr wrap="square" lIns="0" tIns="0" rIns="0" bIns="0" rtlCol="0" anchor="ctr"/>
          <a:lstStyle/>
          <a:p>
            <a:pPr indent="0" marL="0">
              <a:buNone/>
            </a:pPr>
            <a:r>
              <a:rPr lang="en-US" sz="1200" b="1" dirty="0">
                <a:solidFill>
                  <a:srgbClr val="B8433A"/>
                </a:solidFill>
                <a:latin typeface="Calibri" pitchFamily="34" charset="0"/>
                <a:ea typeface="Calibri" pitchFamily="34" charset="-122"/>
                <a:cs typeface="Calibri" pitchFamily="34" charset="-120"/>
              </a:rPr>
              <a:t>The structural limit — state it, don't hide it</a:t>
            </a:r>
            <a:endParaRPr lang="en-US" sz="1200" dirty="0"/>
          </a:p>
        </p:txBody>
      </p:sp>
      <p:sp>
        <p:nvSpPr>
          <p:cNvPr id="26" name="Text 24"/>
          <p:cNvSpPr/>
          <p:nvPr/>
        </p:nvSpPr>
        <p:spPr>
          <a:xfrm>
            <a:off x="6382512" y="4261104"/>
            <a:ext cx="5029200" cy="1645920"/>
          </a:xfrm>
          <a:prstGeom prst="rect">
            <a:avLst/>
          </a:prstGeom>
          <a:noFill/>
          <a:ln/>
        </p:spPr>
        <p:txBody>
          <a:bodyPr wrap="square" lIns="0" tIns="0" rIns="0" bIns="0" rtlCol="0" anchor="t"/>
          <a:lstStyle/>
          <a:p>
            <a:pPr indent="0" marL="0">
              <a:lnSpc>
                <a:spcPts val="1300"/>
              </a:lnSpc>
              <a:buNone/>
            </a:pPr>
            <a:r>
              <a:rPr lang="en-US" sz="980" dirty="0">
                <a:solidFill>
                  <a:srgbClr val="7A3D33"/>
                </a:solidFill>
                <a:latin typeface="Calibri" pitchFamily="34" charset="0"/>
                <a:ea typeface="Calibri" pitchFamily="34" charset="-122"/>
                <a:cs typeface="Calibri" pitchFamily="34" charset="-120"/>
              </a:rPr>
              <a:t>Evaluated on 20 real solved cases from the lab (7 VCFs run): the pipeline recovers the causal gene when that gene has a known OMIM disease — rank-1 twice, top-6 in 4 of 7. But it CANNOT rank a gene with zero OMIM entries, because both LIRICAL and the panel are built on curated gene-disease annotations. The lab's cases are enriched for exactly those novel genes (AP5B1, WASF3). Closing this needs a variant-FIRST line, not a better prompt.</a:t>
            </a:r>
            <a:endParaRPr lang="en-US" sz="980" dirty="0"/>
          </a:p>
        </p:txBody>
      </p:sp>
      <p:sp>
        <p:nvSpPr>
          <p:cNvPr id="27" name="Text 25"/>
          <p:cNvSpPr/>
          <p:nvPr/>
        </p:nvSpPr>
        <p:spPr>
          <a:xfrm>
            <a:off x="548640" y="6382512"/>
            <a:ext cx="9144000" cy="274320"/>
          </a:xfrm>
          <a:prstGeom prst="rect">
            <a:avLst/>
          </a:prstGeom>
          <a:noFill/>
          <a:ln/>
        </p:spPr>
        <p:txBody>
          <a:bodyPr wrap="square" lIns="0" tIns="0" rIns="0" bIns="0" rtlCol="0" anchor="ctr"/>
          <a:lstStyle/>
          <a:p>
            <a:pPr indent="0" marL="0">
              <a:buNone/>
            </a:pPr>
            <a:r>
              <a:rPr lang="en-US" sz="900" dirty="0">
                <a:solidFill>
                  <a:srgbClr val="A6A2B8"/>
                </a:solidFill>
                <a:latin typeface="Calibri" pitchFamily="34" charset="0"/>
                <a:ea typeface="Calibri" pitchFamily="34" charset="-122"/>
                <a:cs typeface="Calibri" pitchFamily="34" charset="-120"/>
              </a:rPr>
              <a:t>AiScientist · Technical Specification · v0.2.0</a:t>
            </a:r>
            <a:endParaRPr lang="en-US" sz="900" dirty="0"/>
          </a:p>
        </p:txBody>
      </p:sp>
      <p:sp>
        <p:nvSpPr>
          <p:cNvPr id="28" name="Text 26"/>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A6A2B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310896"/>
            <a:ext cx="11091672" cy="502920"/>
          </a:xfrm>
          <a:prstGeom prst="rect">
            <a:avLst/>
          </a:prstGeom>
          <a:noFill/>
          <a:ln/>
        </p:spPr>
        <p:txBody>
          <a:bodyPr wrap="square" lIns="0" tIns="0" rIns="0" bIns="0" rtlCol="0" anchor="ctr"/>
          <a:lstStyle/>
          <a:p>
            <a:pPr algn="l" indent="0" marL="0">
              <a:buNone/>
            </a:pPr>
            <a:r>
              <a:rPr lang="en-US" sz="2700" b="1" dirty="0">
                <a:solidFill>
                  <a:srgbClr val="1E1B33"/>
                </a:solidFill>
                <a:latin typeface="Cambria" pitchFamily="34" charset="0"/>
                <a:ea typeface="Cambria" pitchFamily="34" charset="-122"/>
                <a:cs typeface="Cambria" pitchFamily="34" charset="-120"/>
              </a:rPr>
              <a:t>Roadmap and current status</a:t>
            </a:r>
            <a:endParaRPr lang="en-US" sz="2700" dirty="0"/>
          </a:p>
        </p:txBody>
      </p:sp>
      <p:sp>
        <p:nvSpPr>
          <p:cNvPr id="3" name="Text 1"/>
          <p:cNvSpPr/>
          <p:nvPr/>
        </p:nvSpPr>
        <p:spPr>
          <a:xfrm>
            <a:off x="548640" y="841248"/>
            <a:ext cx="11091672" cy="329184"/>
          </a:xfrm>
          <a:prstGeom prst="rect">
            <a:avLst/>
          </a:prstGeom>
          <a:noFill/>
          <a:ln/>
        </p:spPr>
        <p:txBody>
          <a:bodyPr wrap="square" lIns="0" tIns="0" rIns="0" bIns="0" rtlCol="0" anchor="t"/>
          <a:lstStyle/>
          <a:p>
            <a:pPr algn="l" indent="0" marL="0">
              <a:buNone/>
            </a:pPr>
            <a:r>
              <a:rPr lang="en-US" sz="1200" dirty="0">
                <a:solidFill>
                  <a:srgbClr val="6E6A85"/>
                </a:solidFill>
                <a:latin typeface="Calibri" pitchFamily="34" charset="0"/>
                <a:ea typeface="Calibri" pitchFamily="34" charset="-122"/>
                <a:cs typeface="Calibri" pitchFamily="34" charset="-120"/>
              </a:rPr>
              <a:t>Four phases, ordered by leverage-per-risk; the data blockers are cleared</a:t>
            </a:r>
            <a:endParaRPr lang="en-US" sz="1200" dirty="0"/>
          </a:p>
        </p:txBody>
      </p:sp>
      <p:sp>
        <p:nvSpPr>
          <p:cNvPr id="4" name="Shape 2"/>
          <p:cNvSpPr/>
          <p:nvPr/>
        </p:nvSpPr>
        <p:spPr>
          <a:xfrm>
            <a:off x="548640" y="1316736"/>
            <a:ext cx="11091672" cy="1005840"/>
          </a:xfrm>
          <a:prstGeom prst="roundRect">
            <a:avLst>
              <a:gd name="adj" fmla="val 6364"/>
            </a:avLst>
          </a:prstGeom>
          <a:solidFill>
            <a:srgbClr val="FFFFFF"/>
          </a:solidFill>
          <a:ln w="12700">
            <a:solidFill>
              <a:srgbClr val="DDDAE8"/>
            </a:solidFill>
            <a:prstDash val="solid"/>
          </a:ln>
        </p:spPr>
      </p:sp>
      <p:sp>
        <p:nvSpPr>
          <p:cNvPr id="5" name="Shape 3"/>
          <p:cNvSpPr/>
          <p:nvPr/>
        </p:nvSpPr>
        <p:spPr>
          <a:xfrm>
            <a:off x="731520" y="1499616"/>
            <a:ext cx="1051560" cy="384048"/>
          </a:xfrm>
          <a:prstGeom prst="roundRect">
            <a:avLst>
              <a:gd name="adj" fmla="val 14286"/>
            </a:avLst>
          </a:prstGeom>
          <a:solidFill>
            <a:srgbClr val="0E8577"/>
          </a:solidFill>
          <a:ln w="12700">
            <a:solidFill>
              <a:srgbClr val="333333"/>
            </a:solidFill>
            <a:prstDash val="solid"/>
          </a:ln>
        </p:spPr>
      </p:sp>
      <p:sp>
        <p:nvSpPr>
          <p:cNvPr id="6" name="Text 4"/>
          <p:cNvSpPr/>
          <p:nvPr/>
        </p:nvSpPr>
        <p:spPr>
          <a:xfrm>
            <a:off x="731520" y="1499616"/>
            <a:ext cx="105156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0</a:t>
            </a:r>
            <a:endParaRPr lang="en-US" sz="1100" dirty="0"/>
          </a:p>
        </p:txBody>
      </p:sp>
      <p:sp>
        <p:nvSpPr>
          <p:cNvPr id="7" name="Text 5"/>
          <p:cNvSpPr/>
          <p:nvPr/>
        </p:nvSpPr>
        <p:spPr>
          <a:xfrm>
            <a:off x="1920240" y="1463040"/>
            <a:ext cx="3200400" cy="457200"/>
          </a:xfrm>
          <a:prstGeom prst="rect">
            <a:avLst/>
          </a:prstGeom>
          <a:noFill/>
          <a:ln/>
        </p:spPr>
        <p:txBody>
          <a:bodyPr wrap="square" lIns="0" tIns="0" rIns="0" bIns="0" rtlCol="0" anchor="ctr"/>
          <a:lstStyle/>
          <a:p>
            <a:pPr indent="0" marL="0">
              <a:buNone/>
            </a:pPr>
            <a:r>
              <a:rPr lang="en-US" sz="1250" b="1" dirty="0">
                <a:solidFill>
                  <a:srgbClr val="1E1B33"/>
                </a:solidFill>
                <a:latin typeface="Calibri" pitchFamily="34" charset="0"/>
                <a:ea typeface="Calibri" pitchFamily="34" charset="-122"/>
                <a:cs typeface="Calibri" pitchFamily="34" charset="-120"/>
              </a:rPr>
              <a:t>Deploy the already-fixed regressions</a:t>
            </a:r>
            <a:endParaRPr lang="en-US" sz="1250" dirty="0"/>
          </a:p>
        </p:txBody>
      </p:sp>
      <p:sp>
        <p:nvSpPr>
          <p:cNvPr id="8" name="Text 6"/>
          <p:cNvSpPr/>
          <p:nvPr/>
        </p:nvSpPr>
        <p:spPr>
          <a:xfrm>
            <a:off x="5212080" y="1444752"/>
            <a:ext cx="6199632" cy="859536"/>
          </a:xfrm>
          <a:prstGeom prst="rect">
            <a:avLst/>
          </a:prstGeom>
          <a:noFill/>
          <a:ln/>
        </p:spPr>
        <p:txBody>
          <a:bodyPr wrap="square" lIns="0" tIns="0" rIns="0" bIns="0" rtlCol="0" anchor="ctr"/>
          <a:lstStyle/>
          <a:p>
            <a:pPr indent="0" marL="0">
              <a:lnSpc>
                <a:spcPts val="1250"/>
              </a:lnSpc>
              <a:buNone/>
            </a:pPr>
            <a:r>
              <a:rPr lang="en-US" sz="980" dirty="0">
                <a:solidFill>
                  <a:srgbClr val="6E6A85"/>
                </a:solidFill>
                <a:latin typeface="Calibri" pitchFamily="34" charset="0"/>
                <a:ea typeface="Calibri" pitchFamily="34" charset="-122"/>
                <a:cs typeface="Calibri" pitchFamily="34" charset="-120"/>
              </a:rPr>
              <a:t>An inline comment on a production .env value silently fell back to defaults — vLLM ran a 32K window instead of the configured 128K, and run_code fell off HPC3. Fixed in code; the remaining item is a duplicate key dedupe at the next .env edit.</a:t>
            </a:r>
            <a:endParaRPr lang="en-US" sz="980" dirty="0"/>
          </a:p>
        </p:txBody>
      </p:sp>
      <p:sp>
        <p:nvSpPr>
          <p:cNvPr id="9" name="Shape 7"/>
          <p:cNvSpPr/>
          <p:nvPr/>
        </p:nvSpPr>
        <p:spPr>
          <a:xfrm>
            <a:off x="548640" y="2414016"/>
            <a:ext cx="11091672" cy="1005840"/>
          </a:xfrm>
          <a:prstGeom prst="roundRect">
            <a:avLst>
              <a:gd name="adj" fmla="val 6364"/>
            </a:avLst>
          </a:prstGeom>
          <a:solidFill>
            <a:srgbClr val="FFFFFF"/>
          </a:solidFill>
          <a:ln w="12700">
            <a:solidFill>
              <a:srgbClr val="DDDAE8"/>
            </a:solidFill>
            <a:prstDash val="solid"/>
          </a:ln>
        </p:spPr>
      </p:sp>
      <p:sp>
        <p:nvSpPr>
          <p:cNvPr id="10" name="Shape 8"/>
          <p:cNvSpPr/>
          <p:nvPr/>
        </p:nvSpPr>
        <p:spPr>
          <a:xfrm>
            <a:off x="731520" y="2596896"/>
            <a:ext cx="1051560" cy="384048"/>
          </a:xfrm>
          <a:prstGeom prst="roundRect">
            <a:avLst>
              <a:gd name="adj" fmla="val 14286"/>
            </a:avLst>
          </a:prstGeom>
          <a:solidFill>
            <a:srgbClr val="3F3684"/>
          </a:solidFill>
          <a:ln w="12700">
            <a:solidFill>
              <a:srgbClr val="333333"/>
            </a:solidFill>
            <a:prstDash val="solid"/>
          </a:ln>
        </p:spPr>
      </p:sp>
      <p:sp>
        <p:nvSpPr>
          <p:cNvPr id="11" name="Text 9"/>
          <p:cNvSpPr/>
          <p:nvPr/>
        </p:nvSpPr>
        <p:spPr>
          <a:xfrm>
            <a:off x="731520" y="2596896"/>
            <a:ext cx="105156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1</a:t>
            </a:r>
            <a:endParaRPr lang="en-US" sz="1100" dirty="0"/>
          </a:p>
        </p:txBody>
      </p:sp>
      <p:sp>
        <p:nvSpPr>
          <p:cNvPr id="12" name="Text 10"/>
          <p:cNvSpPr/>
          <p:nvPr/>
        </p:nvSpPr>
        <p:spPr>
          <a:xfrm>
            <a:off x="1920240" y="2560320"/>
            <a:ext cx="3200400" cy="457200"/>
          </a:xfrm>
          <a:prstGeom prst="rect">
            <a:avLst/>
          </a:prstGeom>
          <a:noFill/>
          <a:ln/>
        </p:spPr>
        <p:txBody>
          <a:bodyPr wrap="square" lIns="0" tIns="0" rIns="0" bIns="0" rtlCol="0" anchor="ctr"/>
          <a:lstStyle/>
          <a:p>
            <a:pPr indent="0" marL="0">
              <a:buNone/>
            </a:pPr>
            <a:r>
              <a:rPr lang="en-US" sz="1250" b="1" dirty="0">
                <a:solidFill>
                  <a:srgbClr val="1E1B33"/>
                </a:solidFill>
                <a:latin typeface="Calibri" pitchFamily="34" charset="0"/>
                <a:ea typeface="Calibri" pitchFamily="34" charset="-122"/>
                <a:cs typeface="Calibri" pitchFamily="34" charset="-120"/>
              </a:rPr>
              <a:t>Turn on what is already built</a:t>
            </a:r>
            <a:endParaRPr lang="en-US" sz="1250" dirty="0"/>
          </a:p>
        </p:txBody>
      </p:sp>
      <p:sp>
        <p:nvSpPr>
          <p:cNvPr id="13" name="Text 11"/>
          <p:cNvSpPr/>
          <p:nvPr/>
        </p:nvSpPr>
        <p:spPr>
          <a:xfrm>
            <a:off x="5212080" y="2542032"/>
            <a:ext cx="6199632" cy="859536"/>
          </a:xfrm>
          <a:prstGeom prst="rect">
            <a:avLst/>
          </a:prstGeom>
          <a:noFill/>
          <a:ln/>
        </p:spPr>
        <p:txBody>
          <a:bodyPr wrap="square" lIns="0" tIns="0" rIns="0" bIns="0" rtlCol="0" anchor="ctr"/>
          <a:lstStyle/>
          <a:p>
            <a:pPr indent="0" marL="0">
              <a:lnSpc>
                <a:spcPts val="1250"/>
              </a:lnSpc>
              <a:buNone/>
            </a:pPr>
            <a:r>
              <a:rPr lang="en-US" sz="980" dirty="0">
                <a:solidFill>
                  <a:srgbClr val="6E6A85"/>
                </a:solidFill>
                <a:latin typeface="Calibri" pitchFamily="34" charset="0"/>
                <a:ea typeface="Calibri" pitchFamily="34" charset="-122"/>
                <a:cs typeface="Calibri" pitchFamily="34" charset="-120"/>
              </a:rPr>
              <a:t>Highest leverage, lowest risk: the panel is wired, the predictors are staged, SpliceAI is built and verified. What remains is env flags and a benchmark re-run — no new logic.</a:t>
            </a:r>
            <a:endParaRPr lang="en-US" sz="980" dirty="0"/>
          </a:p>
        </p:txBody>
      </p:sp>
      <p:sp>
        <p:nvSpPr>
          <p:cNvPr id="14" name="Shape 12"/>
          <p:cNvSpPr/>
          <p:nvPr/>
        </p:nvSpPr>
        <p:spPr>
          <a:xfrm>
            <a:off x="548640" y="3511296"/>
            <a:ext cx="11091672" cy="1005840"/>
          </a:xfrm>
          <a:prstGeom prst="roundRect">
            <a:avLst>
              <a:gd name="adj" fmla="val 6364"/>
            </a:avLst>
          </a:prstGeom>
          <a:solidFill>
            <a:srgbClr val="FFFFFF"/>
          </a:solidFill>
          <a:ln w="12700">
            <a:solidFill>
              <a:srgbClr val="DDDAE8"/>
            </a:solidFill>
            <a:prstDash val="solid"/>
          </a:ln>
        </p:spPr>
      </p:sp>
      <p:sp>
        <p:nvSpPr>
          <p:cNvPr id="15" name="Shape 13"/>
          <p:cNvSpPr/>
          <p:nvPr/>
        </p:nvSpPr>
        <p:spPr>
          <a:xfrm>
            <a:off x="731520" y="3694176"/>
            <a:ext cx="1051560" cy="384048"/>
          </a:xfrm>
          <a:prstGeom prst="roundRect">
            <a:avLst>
              <a:gd name="adj" fmla="val 14286"/>
            </a:avLst>
          </a:prstGeom>
          <a:solidFill>
            <a:srgbClr val="D9832B"/>
          </a:solidFill>
          <a:ln w="12700">
            <a:solidFill>
              <a:srgbClr val="333333"/>
            </a:solidFill>
            <a:prstDash val="solid"/>
          </a:ln>
        </p:spPr>
      </p:sp>
      <p:sp>
        <p:nvSpPr>
          <p:cNvPr id="16" name="Text 14"/>
          <p:cNvSpPr/>
          <p:nvPr/>
        </p:nvSpPr>
        <p:spPr>
          <a:xfrm>
            <a:off x="731520" y="3694176"/>
            <a:ext cx="105156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2</a:t>
            </a:r>
            <a:endParaRPr lang="en-US" sz="1100" dirty="0"/>
          </a:p>
        </p:txBody>
      </p:sp>
      <p:sp>
        <p:nvSpPr>
          <p:cNvPr id="17" name="Text 15"/>
          <p:cNvSpPr/>
          <p:nvPr/>
        </p:nvSpPr>
        <p:spPr>
          <a:xfrm>
            <a:off x="1920240" y="3657600"/>
            <a:ext cx="3200400" cy="457200"/>
          </a:xfrm>
          <a:prstGeom prst="rect">
            <a:avLst/>
          </a:prstGeom>
          <a:noFill/>
          <a:ln/>
        </p:spPr>
        <p:txBody>
          <a:bodyPr wrap="square" lIns="0" tIns="0" rIns="0" bIns="0" rtlCol="0" anchor="ctr"/>
          <a:lstStyle/>
          <a:p>
            <a:pPr indent="0" marL="0">
              <a:buNone/>
            </a:pPr>
            <a:r>
              <a:rPr lang="en-US" sz="1250" b="1" dirty="0">
                <a:solidFill>
                  <a:srgbClr val="1E1B33"/>
                </a:solidFill>
                <a:latin typeface="Calibri" pitchFamily="34" charset="0"/>
                <a:ea typeface="Calibri" pitchFamily="34" charset="-122"/>
                <a:cs typeface="Calibri" pitchFamily="34" charset="-120"/>
              </a:rPr>
              <a:t>Prioritization logic in code</a:t>
            </a:r>
            <a:endParaRPr lang="en-US" sz="1250" dirty="0"/>
          </a:p>
        </p:txBody>
      </p:sp>
      <p:sp>
        <p:nvSpPr>
          <p:cNvPr id="18" name="Text 16"/>
          <p:cNvSpPr/>
          <p:nvPr/>
        </p:nvSpPr>
        <p:spPr>
          <a:xfrm>
            <a:off x="5212080" y="3639312"/>
            <a:ext cx="6199632" cy="859536"/>
          </a:xfrm>
          <a:prstGeom prst="rect">
            <a:avLst/>
          </a:prstGeom>
          <a:noFill/>
          <a:ln/>
        </p:spPr>
        <p:txBody>
          <a:bodyPr wrap="square" lIns="0" tIns="0" rIns="0" bIns="0" rtlCol="0" anchor="ctr"/>
          <a:lstStyle/>
          <a:p>
            <a:pPr indent="0" marL="0">
              <a:lnSpc>
                <a:spcPts val="1250"/>
              </a:lnSpc>
              <a:buNone/>
            </a:pPr>
            <a:r>
              <a:rPr lang="en-US" sz="980" dirty="0">
                <a:solidFill>
                  <a:srgbClr val="6E6A85"/>
                </a:solidFill>
                <a:latin typeface="Calibri" pitchFamily="34" charset="0"/>
                <a:ea typeface="Calibri" pitchFamily="34" charset="-122"/>
                <a:cs typeface="Calibri" pitchFamily="34" charset="-120"/>
              </a:rPr>
              <a:t>Disease-model AF tiers and the protein-altering tier are done. Still to build: gene-level constraint (pLI/pRec/RVIS/GDI) annotation, and cis/trans compound-het phasing from genotypes.</a:t>
            </a:r>
            <a:endParaRPr lang="en-US" sz="980" dirty="0"/>
          </a:p>
        </p:txBody>
      </p:sp>
      <p:sp>
        <p:nvSpPr>
          <p:cNvPr id="19" name="Shape 17"/>
          <p:cNvSpPr/>
          <p:nvPr/>
        </p:nvSpPr>
        <p:spPr>
          <a:xfrm>
            <a:off x="548640" y="4608576"/>
            <a:ext cx="11091672" cy="1005840"/>
          </a:xfrm>
          <a:prstGeom prst="roundRect">
            <a:avLst>
              <a:gd name="adj" fmla="val 6364"/>
            </a:avLst>
          </a:prstGeom>
          <a:solidFill>
            <a:srgbClr val="FFFFFF"/>
          </a:solidFill>
          <a:ln w="12700">
            <a:solidFill>
              <a:srgbClr val="DDDAE8"/>
            </a:solidFill>
            <a:prstDash val="solid"/>
          </a:ln>
        </p:spPr>
      </p:sp>
      <p:sp>
        <p:nvSpPr>
          <p:cNvPr id="20" name="Shape 18"/>
          <p:cNvSpPr/>
          <p:nvPr/>
        </p:nvSpPr>
        <p:spPr>
          <a:xfrm>
            <a:off x="731520" y="4791456"/>
            <a:ext cx="1051560" cy="384048"/>
          </a:xfrm>
          <a:prstGeom prst="roundRect">
            <a:avLst>
              <a:gd name="adj" fmla="val 14286"/>
            </a:avLst>
          </a:prstGeom>
          <a:solidFill>
            <a:srgbClr val="6E63B8"/>
          </a:solidFill>
          <a:ln w="12700">
            <a:solidFill>
              <a:srgbClr val="333333"/>
            </a:solidFill>
            <a:prstDash val="solid"/>
          </a:ln>
        </p:spPr>
      </p:sp>
      <p:sp>
        <p:nvSpPr>
          <p:cNvPr id="21" name="Text 19"/>
          <p:cNvSpPr/>
          <p:nvPr/>
        </p:nvSpPr>
        <p:spPr>
          <a:xfrm>
            <a:off x="731520" y="4791456"/>
            <a:ext cx="105156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3</a:t>
            </a:r>
            <a:endParaRPr lang="en-US" sz="1100" dirty="0"/>
          </a:p>
        </p:txBody>
      </p:sp>
      <p:sp>
        <p:nvSpPr>
          <p:cNvPr id="22" name="Text 20"/>
          <p:cNvSpPr/>
          <p:nvPr/>
        </p:nvSpPr>
        <p:spPr>
          <a:xfrm>
            <a:off x="1920240" y="4754880"/>
            <a:ext cx="3200400" cy="457200"/>
          </a:xfrm>
          <a:prstGeom prst="rect">
            <a:avLst/>
          </a:prstGeom>
          <a:noFill/>
          <a:ln/>
        </p:spPr>
        <p:txBody>
          <a:bodyPr wrap="square" lIns="0" tIns="0" rIns="0" bIns="0" rtlCol="0" anchor="ctr"/>
          <a:lstStyle/>
          <a:p>
            <a:pPr indent="0" marL="0">
              <a:buNone/>
            </a:pPr>
            <a:r>
              <a:rPr lang="en-US" sz="1250" b="1" dirty="0">
                <a:solidFill>
                  <a:srgbClr val="1E1B33"/>
                </a:solidFill>
                <a:latin typeface="Calibri" pitchFamily="34" charset="0"/>
                <a:ea typeface="Calibri" pitchFamily="34" charset="-122"/>
                <a:cs typeface="Calibri" pitchFamily="34" charset="-120"/>
              </a:rPr>
              <a:t>External-data layers</a:t>
            </a:r>
            <a:endParaRPr lang="en-US" sz="1250" dirty="0"/>
          </a:p>
        </p:txBody>
      </p:sp>
      <p:sp>
        <p:nvSpPr>
          <p:cNvPr id="23" name="Text 21"/>
          <p:cNvSpPr/>
          <p:nvPr/>
        </p:nvSpPr>
        <p:spPr>
          <a:xfrm>
            <a:off x="5212080" y="4736592"/>
            <a:ext cx="6199632" cy="859536"/>
          </a:xfrm>
          <a:prstGeom prst="rect">
            <a:avLst/>
          </a:prstGeom>
          <a:noFill/>
          <a:ln/>
        </p:spPr>
        <p:txBody>
          <a:bodyPr wrap="square" lIns="0" tIns="0" rIns="0" bIns="0" rtlCol="0" anchor="ctr"/>
          <a:lstStyle/>
          <a:p>
            <a:pPr indent="0" marL="0">
              <a:lnSpc>
                <a:spcPts val="1250"/>
              </a:lnSpc>
              <a:buNone/>
            </a:pPr>
            <a:r>
              <a:rPr lang="en-US" sz="980" dirty="0">
                <a:solidFill>
                  <a:srgbClr val="6E6A85"/>
                </a:solidFill>
                <a:latin typeface="Calibri" pitchFamily="34" charset="0"/>
                <a:ea typeface="Calibri" pitchFamily="34" charset="-122"/>
                <a:cs typeface="Calibri" pitchFamily="34" charset="-120"/>
              </a:rPr>
              <a:t>HGMD, retina-specific exons, retina ATAC and Exomiser scoring — all annotators are ported and all reference data is staged and authorized. ONE open item remains, and it is a product decision, not a file: how patient HPO terms enter a run.</a:t>
            </a:r>
            <a:endParaRPr lang="en-US" sz="980" dirty="0"/>
          </a:p>
        </p:txBody>
      </p:sp>
      <p:sp>
        <p:nvSpPr>
          <p:cNvPr id="24" name="Shape 22"/>
          <p:cNvSpPr/>
          <p:nvPr/>
        </p:nvSpPr>
        <p:spPr>
          <a:xfrm>
            <a:off x="548640" y="5687568"/>
            <a:ext cx="11091672" cy="585216"/>
          </a:xfrm>
          <a:prstGeom prst="roundRect">
            <a:avLst>
              <a:gd name="adj" fmla="val 10938"/>
            </a:avLst>
          </a:prstGeom>
          <a:solidFill>
            <a:srgbClr val="E9E7F3"/>
          </a:solidFill>
          <a:ln w="6350">
            <a:solidFill>
              <a:srgbClr val="E9E7F3"/>
            </a:solidFill>
            <a:prstDash val="solid"/>
          </a:ln>
        </p:spPr>
      </p:sp>
      <p:sp>
        <p:nvSpPr>
          <p:cNvPr id="25" name="Text 23"/>
          <p:cNvSpPr/>
          <p:nvPr/>
        </p:nvSpPr>
        <p:spPr>
          <a:xfrm>
            <a:off x="768096" y="5742432"/>
            <a:ext cx="10652760" cy="475488"/>
          </a:xfrm>
          <a:prstGeom prst="rect">
            <a:avLst/>
          </a:prstGeom>
          <a:noFill/>
          <a:ln/>
        </p:spPr>
        <p:txBody>
          <a:bodyPr wrap="square" lIns="0" tIns="0" rIns="0" bIns="0" rtlCol="0" anchor="ctr"/>
          <a:lstStyle/>
          <a:p>
            <a:pPr indent="0" marL="0">
              <a:buNone/>
            </a:pPr>
            <a:r>
              <a:rPr lang="en-US" sz="1000" b="1" dirty="0">
                <a:solidFill>
                  <a:srgbClr val="1E1B33"/>
                </a:solidFill>
                <a:latin typeface="Calibri" pitchFamily="34" charset="0"/>
                <a:ea typeface="Calibri" pitchFamily="34" charset="-122"/>
                <a:cs typeface="Calibri" pitchFamily="34" charset="-120"/>
              </a:rPr>
              <a:t>Beyond the variant line:  </a:t>
            </a:r>
            <a:pPr indent="0" marL="0">
              <a:buNone/>
            </a:pPr>
            <a:r>
              <a:rPr lang="en-US" sz="1000" dirty="0">
                <a:solidFill>
                  <a:srgbClr val="6E6A85"/>
                </a:solidFill>
                <a:latin typeface="Calibri" pitchFamily="34" charset="0"/>
                <a:ea typeface="Calibri" pitchFamily="34" charset="-122"/>
                <a:cs typeface="Calibri" pitchFamily="34" charset="-120"/>
              </a:rPr>
              <a:t>a LangGraph + Postgres-checkpointer port of the loop, provenance stamping toward Kosmos-parity, multi-cycle research loops, and a pluggable backend so a lab can bring its own endpoint in place of HPC3.</a:t>
            </a:r>
            <a:endParaRPr lang="en-US" sz="1000" dirty="0"/>
          </a:p>
        </p:txBody>
      </p:sp>
      <p:sp>
        <p:nvSpPr>
          <p:cNvPr id="26" name="Text 24"/>
          <p:cNvSpPr/>
          <p:nvPr/>
        </p:nvSpPr>
        <p:spPr>
          <a:xfrm>
            <a:off x="548640" y="6382512"/>
            <a:ext cx="9144000" cy="274320"/>
          </a:xfrm>
          <a:prstGeom prst="rect">
            <a:avLst/>
          </a:prstGeom>
          <a:noFill/>
          <a:ln/>
        </p:spPr>
        <p:txBody>
          <a:bodyPr wrap="square" lIns="0" tIns="0" rIns="0" bIns="0" rtlCol="0" anchor="ctr"/>
          <a:lstStyle/>
          <a:p>
            <a:pPr indent="0" marL="0">
              <a:buNone/>
            </a:pPr>
            <a:r>
              <a:rPr lang="en-US" sz="900" dirty="0">
                <a:solidFill>
                  <a:srgbClr val="A6A2B8"/>
                </a:solidFill>
                <a:latin typeface="Calibri" pitchFamily="34" charset="0"/>
                <a:ea typeface="Calibri" pitchFamily="34" charset="-122"/>
                <a:cs typeface="Calibri" pitchFamily="34" charset="-120"/>
              </a:rPr>
              <a:t>AiScientist · Technical Specification · v0.2.0</a:t>
            </a:r>
            <a:endParaRPr lang="en-US" sz="900" dirty="0"/>
          </a:p>
        </p:txBody>
      </p:sp>
      <p:sp>
        <p:nvSpPr>
          <p:cNvPr id="27" name="Text 25"/>
          <p:cNvSpPr/>
          <p:nvPr/>
        </p:nvSpPr>
        <p:spPr>
          <a:xfrm>
            <a:off x="11091672" y="6382512"/>
            <a:ext cx="548640" cy="274320"/>
          </a:xfrm>
          <a:prstGeom prst="rect">
            <a:avLst/>
          </a:prstGeom>
          <a:noFill/>
          <a:ln/>
        </p:spPr>
        <p:txBody>
          <a:bodyPr wrap="square" lIns="0" tIns="0" rIns="0" bIns="0" rtlCol="0" anchor="ctr"/>
          <a:lstStyle/>
          <a:p>
            <a:pPr algn="r" indent="0" marL="0">
              <a:buNone/>
            </a:pPr>
            <a:r>
              <a:rPr lang="en-US" sz="900" dirty="0">
                <a:solidFill>
                  <a:srgbClr val="A6A2B8"/>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142B"/>
        </a:solidFill>
      </p:bgPr>
    </p:bg>
    <p:spTree>
      <p:nvGrpSpPr>
        <p:cNvPr id="1" name=""/>
        <p:cNvGrpSpPr/>
        <p:nvPr/>
      </p:nvGrpSpPr>
      <p:grpSpPr>
        <a:xfrm>
          <a:off x="0" y="0"/>
          <a:ext cx="0" cy="0"/>
          <a:chOff x="0" y="0"/>
          <a:chExt cx="0" cy="0"/>
        </a:xfrm>
      </p:grpSpPr>
      <p:sp>
        <p:nvSpPr>
          <p:cNvPr id="2" name="Shape 0"/>
          <p:cNvSpPr/>
          <p:nvPr/>
        </p:nvSpPr>
        <p:spPr>
          <a:xfrm>
            <a:off x="9326880" y="-1463040"/>
            <a:ext cx="4572000" cy="4572000"/>
          </a:xfrm>
          <a:prstGeom prst="ellipse">
            <a:avLst/>
          </a:prstGeom>
          <a:solidFill>
            <a:srgbClr val="201C40"/>
          </a:solidFill>
          <a:ln w="12700">
            <a:solidFill>
              <a:srgbClr val="333333"/>
            </a:solidFill>
            <a:prstDash val="solid"/>
          </a:ln>
        </p:spPr>
      </p:sp>
      <p:sp>
        <p:nvSpPr>
          <p:cNvPr id="3" name="Text 1"/>
          <p:cNvSpPr/>
          <p:nvPr/>
        </p:nvSpPr>
        <p:spPr>
          <a:xfrm>
            <a:off x="548640" y="1051560"/>
            <a:ext cx="8229600" cy="457200"/>
          </a:xfrm>
          <a:prstGeom prst="rect">
            <a:avLst/>
          </a:prstGeom>
          <a:noFill/>
          <a:ln/>
        </p:spPr>
        <p:txBody>
          <a:bodyPr wrap="square" lIns="0" tIns="0" rIns="0" bIns="0" rtlCol="0" anchor="ctr"/>
          <a:lstStyle/>
          <a:p>
            <a:pPr indent="0" marL="0">
              <a:buNone/>
            </a:pPr>
            <a:r>
              <a:rPr lang="en-US" sz="1300" dirty="0">
                <a:solidFill>
                  <a:srgbClr val="17B8A6"/>
                </a:solidFill>
                <a:latin typeface="Calibri" pitchFamily="34" charset="0"/>
                <a:ea typeface="Calibri" pitchFamily="34" charset="-122"/>
                <a:cs typeface="Calibri" pitchFamily="34" charset="-120"/>
              </a:rPr>
              <a:t>In one sentence</a:t>
            </a:r>
            <a:endParaRPr lang="en-US" sz="1300" dirty="0"/>
          </a:p>
        </p:txBody>
      </p:sp>
      <p:sp>
        <p:nvSpPr>
          <p:cNvPr id="4" name="Text 2"/>
          <p:cNvSpPr/>
          <p:nvPr/>
        </p:nvSpPr>
        <p:spPr>
          <a:xfrm>
            <a:off x="548640" y="1508760"/>
            <a:ext cx="10058400" cy="1097280"/>
          </a:xfrm>
          <a:prstGeom prst="rect">
            <a:avLst/>
          </a:prstGeom>
          <a:noFill/>
          <a:ln/>
        </p:spPr>
        <p:txBody>
          <a:bodyPr wrap="square" lIns="0" tIns="0" rIns="0" bIns="0" rtlCol="0" anchor="ctr"/>
          <a:lstStyle/>
          <a:p>
            <a:pPr indent="0" marL="0">
              <a:lnSpc>
                <a:spcPts val="3600"/>
              </a:lnSpc>
              <a:buNone/>
            </a:pPr>
            <a:r>
              <a:rPr lang="en-US" sz="2700" b="1" dirty="0">
                <a:solidFill>
                  <a:srgbClr val="FFFFFF"/>
                </a:solidFill>
                <a:latin typeface="Cambria" pitchFamily="34" charset="0"/>
                <a:ea typeface="Cambria" pitchFamily="34" charset="-122"/>
                <a:cs typeface="Cambria" pitchFamily="34" charset="-120"/>
              </a:rPr>
              <a:t>Real compute, real tools, real data — kept on the lab's own hardware, with the honesty guarantees written in code rather than in prompts.</a:t>
            </a:r>
            <a:endParaRPr lang="en-US" sz="2700" dirty="0"/>
          </a:p>
        </p:txBody>
      </p:sp>
      <p:sp>
        <p:nvSpPr>
          <p:cNvPr id="5" name="Shape 3"/>
          <p:cNvSpPr/>
          <p:nvPr/>
        </p:nvSpPr>
        <p:spPr>
          <a:xfrm>
            <a:off x="548640" y="3108960"/>
            <a:ext cx="2615184" cy="1737360"/>
          </a:xfrm>
          <a:prstGeom prst="roundRect">
            <a:avLst>
              <a:gd name="adj" fmla="val 3684"/>
            </a:avLst>
          </a:prstGeom>
          <a:solidFill>
            <a:srgbClr val="221E45"/>
          </a:solidFill>
          <a:ln w="12700">
            <a:solidFill>
              <a:srgbClr val="332D5E"/>
            </a:solidFill>
            <a:prstDash val="solid"/>
          </a:ln>
        </p:spPr>
      </p:sp>
      <p:sp>
        <p:nvSpPr>
          <p:cNvPr id="6" name="Text 4"/>
          <p:cNvSpPr/>
          <p:nvPr/>
        </p:nvSpPr>
        <p:spPr>
          <a:xfrm>
            <a:off x="731520" y="3246120"/>
            <a:ext cx="2249424" cy="329184"/>
          </a:xfrm>
          <a:prstGeom prst="rect">
            <a:avLst/>
          </a:prstGeom>
          <a:noFill/>
          <a:ln/>
        </p:spPr>
        <p:txBody>
          <a:bodyPr wrap="square" lIns="0" tIns="0" rIns="0" bIns="0" rtlCol="0" anchor="ctr"/>
          <a:lstStyle/>
          <a:p>
            <a:pPr indent="0" marL="0">
              <a:buNone/>
            </a:pPr>
            <a:r>
              <a:rPr lang="en-US" sz="1250" b="1" dirty="0">
                <a:solidFill>
                  <a:srgbClr val="17B8A6"/>
                </a:solidFill>
                <a:latin typeface="Calibri" pitchFamily="34" charset="0"/>
                <a:ea typeface="Calibri" pitchFamily="34" charset="-122"/>
                <a:cs typeface="Calibri" pitchFamily="34" charset="-120"/>
              </a:rPr>
              <a:t>State</a:t>
            </a:r>
            <a:endParaRPr lang="en-US" sz="1250" dirty="0"/>
          </a:p>
        </p:txBody>
      </p:sp>
      <p:sp>
        <p:nvSpPr>
          <p:cNvPr id="7" name="Text 5"/>
          <p:cNvSpPr/>
          <p:nvPr/>
        </p:nvSpPr>
        <p:spPr>
          <a:xfrm>
            <a:off x="731520" y="3602736"/>
            <a:ext cx="2249424" cy="1133856"/>
          </a:xfrm>
          <a:prstGeom prst="rect">
            <a:avLst/>
          </a:prstGeom>
          <a:noFill/>
          <a:ln/>
        </p:spPr>
        <p:txBody>
          <a:bodyPr wrap="square" lIns="0" tIns="0" rIns="0" bIns="0" rtlCol="0" anchor="t"/>
          <a:lstStyle/>
          <a:p>
            <a:pPr indent="0" marL="0">
              <a:lnSpc>
                <a:spcPts val="1250"/>
              </a:lnSpc>
              <a:buNone/>
            </a:pPr>
            <a:r>
              <a:rPr lang="en-US" sz="980" dirty="0">
                <a:solidFill>
                  <a:srgbClr val="BAB5D8"/>
                </a:solidFill>
                <a:latin typeface="Calibri" pitchFamily="34" charset="0"/>
                <a:ea typeface="Calibri" pitchFamily="34" charset="-122"/>
                <a:cs typeface="Calibri" pitchFamily="34" charset="-120"/>
              </a:rPr>
              <a:t>Layered by lifetime: session, run, step, durable record — so a run is isolatable, cancellable and resumable.</a:t>
            </a:r>
            <a:endParaRPr lang="en-US" sz="980" dirty="0"/>
          </a:p>
        </p:txBody>
      </p:sp>
      <p:sp>
        <p:nvSpPr>
          <p:cNvPr id="8" name="Shape 6"/>
          <p:cNvSpPr/>
          <p:nvPr/>
        </p:nvSpPr>
        <p:spPr>
          <a:xfrm>
            <a:off x="3374136" y="3108960"/>
            <a:ext cx="2615184" cy="1737360"/>
          </a:xfrm>
          <a:prstGeom prst="roundRect">
            <a:avLst>
              <a:gd name="adj" fmla="val 3684"/>
            </a:avLst>
          </a:prstGeom>
          <a:solidFill>
            <a:srgbClr val="221E45"/>
          </a:solidFill>
          <a:ln w="12700">
            <a:solidFill>
              <a:srgbClr val="332D5E"/>
            </a:solidFill>
            <a:prstDash val="solid"/>
          </a:ln>
        </p:spPr>
      </p:sp>
      <p:sp>
        <p:nvSpPr>
          <p:cNvPr id="9" name="Text 7"/>
          <p:cNvSpPr/>
          <p:nvPr/>
        </p:nvSpPr>
        <p:spPr>
          <a:xfrm>
            <a:off x="3557016" y="3246120"/>
            <a:ext cx="2249424" cy="329184"/>
          </a:xfrm>
          <a:prstGeom prst="rect">
            <a:avLst/>
          </a:prstGeom>
          <a:noFill/>
          <a:ln/>
        </p:spPr>
        <p:txBody>
          <a:bodyPr wrap="square" lIns="0" tIns="0" rIns="0" bIns="0" rtlCol="0" anchor="ctr"/>
          <a:lstStyle/>
          <a:p>
            <a:pPr indent="0" marL="0">
              <a:buNone/>
            </a:pPr>
            <a:r>
              <a:rPr lang="en-US" sz="1250" b="1" dirty="0">
                <a:solidFill>
                  <a:srgbClr val="6E63B8"/>
                </a:solidFill>
                <a:latin typeface="Calibri" pitchFamily="34" charset="0"/>
                <a:ea typeface="Calibri" pitchFamily="34" charset="-122"/>
                <a:cs typeface="Calibri" pitchFamily="34" charset="-120"/>
              </a:rPr>
              <a:t>Context</a:t>
            </a:r>
            <a:endParaRPr lang="en-US" sz="1250" dirty="0"/>
          </a:p>
        </p:txBody>
      </p:sp>
      <p:sp>
        <p:nvSpPr>
          <p:cNvPr id="10" name="Text 8"/>
          <p:cNvSpPr/>
          <p:nvPr/>
        </p:nvSpPr>
        <p:spPr>
          <a:xfrm>
            <a:off x="3557016" y="3602736"/>
            <a:ext cx="2249424" cy="1133856"/>
          </a:xfrm>
          <a:prstGeom prst="rect">
            <a:avLst/>
          </a:prstGeom>
          <a:noFill/>
          <a:ln/>
        </p:spPr>
        <p:txBody>
          <a:bodyPr wrap="square" lIns="0" tIns="0" rIns="0" bIns="0" rtlCol="0" anchor="t"/>
          <a:lstStyle/>
          <a:p>
            <a:pPr indent="0" marL="0">
              <a:lnSpc>
                <a:spcPts val="1250"/>
              </a:lnSpc>
              <a:buNone/>
            </a:pPr>
            <a:r>
              <a:rPr lang="en-US" sz="980" dirty="0">
                <a:solidFill>
                  <a:srgbClr val="BAB5D8"/>
                </a:solidFill>
                <a:latin typeface="Calibri" pitchFamily="34" charset="0"/>
                <a:ea typeface="Calibri" pitchFamily="34" charset="-122"/>
                <a:cs typeface="Calibri" pitchFamily="34" charset="-120"/>
              </a:rPr>
              <a:t>Two paths with one estimator, exact server-side counting, and compaction that degrades rather than fails.</a:t>
            </a:r>
            <a:endParaRPr lang="en-US" sz="980" dirty="0"/>
          </a:p>
        </p:txBody>
      </p:sp>
      <p:sp>
        <p:nvSpPr>
          <p:cNvPr id="11" name="Shape 9"/>
          <p:cNvSpPr/>
          <p:nvPr/>
        </p:nvSpPr>
        <p:spPr>
          <a:xfrm>
            <a:off x="6199632" y="3108960"/>
            <a:ext cx="2615184" cy="1737360"/>
          </a:xfrm>
          <a:prstGeom prst="roundRect">
            <a:avLst>
              <a:gd name="adj" fmla="val 3684"/>
            </a:avLst>
          </a:prstGeom>
          <a:solidFill>
            <a:srgbClr val="221E45"/>
          </a:solidFill>
          <a:ln w="12700">
            <a:solidFill>
              <a:srgbClr val="332D5E"/>
            </a:solidFill>
            <a:prstDash val="solid"/>
          </a:ln>
        </p:spPr>
      </p:sp>
      <p:sp>
        <p:nvSpPr>
          <p:cNvPr id="12" name="Text 10"/>
          <p:cNvSpPr/>
          <p:nvPr/>
        </p:nvSpPr>
        <p:spPr>
          <a:xfrm>
            <a:off x="6382512" y="3246120"/>
            <a:ext cx="2249424" cy="329184"/>
          </a:xfrm>
          <a:prstGeom prst="rect">
            <a:avLst/>
          </a:prstGeom>
          <a:noFill/>
          <a:ln/>
        </p:spPr>
        <p:txBody>
          <a:bodyPr wrap="square" lIns="0" tIns="0" rIns="0" bIns="0" rtlCol="0" anchor="ctr"/>
          <a:lstStyle/>
          <a:p>
            <a:pPr indent="0" marL="0">
              <a:buNone/>
            </a:pPr>
            <a:r>
              <a:rPr lang="en-US" sz="1250" b="1" dirty="0">
                <a:solidFill>
                  <a:srgbClr val="D9832B"/>
                </a:solidFill>
                <a:latin typeface="Calibri" pitchFamily="34" charset="0"/>
                <a:ea typeface="Calibri" pitchFamily="34" charset="-122"/>
                <a:cs typeface="Calibri" pitchFamily="34" charset="-120"/>
              </a:rPr>
              <a:t>Compute</a:t>
            </a:r>
            <a:endParaRPr lang="en-US" sz="1250" dirty="0"/>
          </a:p>
        </p:txBody>
      </p:sp>
      <p:sp>
        <p:nvSpPr>
          <p:cNvPr id="13" name="Text 11"/>
          <p:cNvSpPr/>
          <p:nvPr/>
        </p:nvSpPr>
        <p:spPr>
          <a:xfrm>
            <a:off x="6382512" y="3602736"/>
            <a:ext cx="2249424" cy="1133856"/>
          </a:xfrm>
          <a:prstGeom prst="rect">
            <a:avLst/>
          </a:prstGeom>
          <a:noFill/>
          <a:ln/>
        </p:spPr>
        <p:txBody>
          <a:bodyPr wrap="square" lIns="0" tIns="0" rIns="0" bIns="0" rtlCol="0" anchor="t"/>
          <a:lstStyle/>
          <a:p>
            <a:pPr indent="0" marL="0">
              <a:lnSpc>
                <a:spcPts val="1250"/>
              </a:lnSpc>
              <a:buNone/>
            </a:pPr>
            <a:r>
              <a:rPr lang="en-US" sz="980" dirty="0">
                <a:solidFill>
                  <a:srgbClr val="BAB5D8"/>
                </a:solidFill>
                <a:latin typeface="Calibri" pitchFamily="34" charset="0"/>
                <a:ea typeface="Calibri" pitchFamily="34" charset="-122"/>
                <a:cs typeface="Calibri" pitchFamily="34" charset="-120"/>
              </a:rPr>
              <a:t>One RemoteExecutor interface over SSH; Slurm owns the job, an atomic registry lets us reattach after a restart.</a:t>
            </a:r>
            <a:endParaRPr lang="en-US" sz="980" dirty="0"/>
          </a:p>
        </p:txBody>
      </p:sp>
      <p:sp>
        <p:nvSpPr>
          <p:cNvPr id="14" name="Shape 12"/>
          <p:cNvSpPr/>
          <p:nvPr/>
        </p:nvSpPr>
        <p:spPr>
          <a:xfrm>
            <a:off x="9025128" y="3108960"/>
            <a:ext cx="2615184" cy="1737360"/>
          </a:xfrm>
          <a:prstGeom prst="roundRect">
            <a:avLst>
              <a:gd name="adj" fmla="val 3684"/>
            </a:avLst>
          </a:prstGeom>
          <a:solidFill>
            <a:srgbClr val="221E45"/>
          </a:solidFill>
          <a:ln w="12700">
            <a:solidFill>
              <a:srgbClr val="332D5E"/>
            </a:solidFill>
            <a:prstDash val="solid"/>
          </a:ln>
        </p:spPr>
      </p:sp>
      <p:sp>
        <p:nvSpPr>
          <p:cNvPr id="15" name="Text 13"/>
          <p:cNvSpPr/>
          <p:nvPr/>
        </p:nvSpPr>
        <p:spPr>
          <a:xfrm>
            <a:off x="9208008" y="3246120"/>
            <a:ext cx="2249424"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Variants</a:t>
            </a:r>
            <a:endParaRPr lang="en-US" sz="1250" dirty="0"/>
          </a:p>
        </p:txBody>
      </p:sp>
      <p:sp>
        <p:nvSpPr>
          <p:cNvPr id="16" name="Text 14"/>
          <p:cNvSpPr/>
          <p:nvPr/>
        </p:nvSpPr>
        <p:spPr>
          <a:xfrm>
            <a:off x="9208008" y="3602736"/>
            <a:ext cx="2249424" cy="1133856"/>
          </a:xfrm>
          <a:prstGeom prst="rect">
            <a:avLst/>
          </a:prstGeom>
          <a:noFill/>
          <a:ln/>
        </p:spPr>
        <p:txBody>
          <a:bodyPr wrap="square" lIns="0" tIns="0" rIns="0" bIns="0" rtlCol="0" anchor="t"/>
          <a:lstStyle/>
          <a:p>
            <a:pPr indent="0" marL="0">
              <a:lnSpc>
                <a:spcPts val="1250"/>
              </a:lnSpc>
              <a:buNone/>
            </a:pPr>
            <a:r>
              <a:rPr lang="en-US" sz="980" dirty="0">
                <a:solidFill>
                  <a:srgbClr val="BAB5D8"/>
                </a:solidFill>
                <a:latin typeface="Calibri" pitchFamily="34" charset="0"/>
                <a:ea typeface="Calibri" pitchFamily="34" charset="-122"/>
                <a:cs typeface="Calibri" pitchFamily="34" charset="-120"/>
              </a:rPr>
              <a:t>WGS-scale offline annotation with the lab's IRD protocol reproduced — panel-first turned 52 minutes into 99 seconds.</a:t>
            </a:r>
            <a:endParaRPr lang="en-US" sz="980" dirty="0"/>
          </a:p>
        </p:txBody>
      </p:sp>
      <p:sp>
        <p:nvSpPr>
          <p:cNvPr id="17" name="Text 15"/>
          <p:cNvSpPr/>
          <p:nvPr/>
        </p:nvSpPr>
        <p:spPr>
          <a:xfrm>
            <a:off x="548640" y="5852160"/>
            <a:ext cx="10058400" cy="310896"/>
          </a:xfrm>
          <a:prstGeom prst="rect">
            <a:avLst/>
          </a:prstGeom>
          <a:noFill/>
          <a:ln/>
        </p:spPr>
        <p:txBody>
          <a:bodyPr wrap="square" lIns="0" tIns="0" rIns="0" bIns="0" rtlCol="0" anchor="ctr"/>
          <a:lstStyle/>
          <a:p>
            <a:pPr indent="0" marL="0">
              <a:buNone/>
            </a:pPr>
            <a:r>
              <a:rPr lang="en-US" sz="1050" dirty="0">
                <a:solidFill>
                  <a:srgbClr val="7D78A3"/>
                </a:solidFill>
                <a:latin typeface="Calibri" pitchFamily="34" charset="0"/>
                <a:ea typeface="Calibri" pitchFamily="34" charset="-122"/>
                <a:cs typeface="Calibri" pitchFamily="34" charset="-120"/>
              </a:rPr>
              <a:t>AiScientist · UCI Vision / Ocular-Biology Lab · v0.2.0 "DAG"</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AiScientist — Technical Specification</dc:title>
  <dc:subject>PptxGenJS Presentation</dc:subject>
  <dc:creator>AiScientist</dc:creator>
  <cp:lastModifiedBy>AiScientist</cp:lastModifiedBy>
  <cp:revision>1</cp:revision>
  <dcterms:created xsi:type="dcterms:W3CDTF">2026-07-29T01:33:17Z</dcterms:created>
  <dcterms:modified xsi:type="dcterms:W3CDTF">2026-07-29T01:33:17Z</dcterms:modified>
</cp:coreProperties>
</file>