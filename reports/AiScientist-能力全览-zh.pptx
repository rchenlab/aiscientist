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2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判为显著的基因数</c:v>
                </c:pt>
              </c:strCache>
            </c:strRef>
          </c:tx>
          <c:spPr>
            <a:solidFill>
              <a:srgbClr val="17827C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02F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7827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781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E3B2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真实存在差异的基因</c:v>
                  </c:pt>
                  <c:pt idx="1">
                    <c:v>细胞层面 Wilcoxon</c:v>
                  </c:pt>
                  <c:pt idx="2">
                    <c:v>pseudobulk（按供体）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310</c:v>
                </c:pt>
                <c:pt idx="2">
                  <c:v>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14202F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675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40"/>
          <c:min val="0"/>
        </c:scaling>
        <c:delete val="0"/>
        <c:axPos val="l"/>
        <c:majorGridlines>
          <c:spPr>
            <a:ln w="12700" cap="flat">
              <a:solidFill>
                <a:srgbClr val="D9DD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675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KV 缓存 (GiB)</c:v>
                </c:pt>
              </c:strCache>
            </c:strRef>
          </c:tx>
          <c:spPr>
            <a:solidFill>
              <a:srgbClr val="17827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02F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A100 80GB（付费分区）</c:v>
                  </c:pt>
                  <c:pt idx="1">
                    <c:v>RTX PRO 6000 Blackwell 96GB（免费分区）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47.8</c:v>
                </c:pt>
                <c:pt idx="1">
                  <c:v>58.8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满长并发倍数</c:v>
                </c:pt>
              </c:strCache>
            </c:strRef>
          </c:tx>
          <c:spPr>
            <a:solidFill>
              <a:srgbClr val="C8781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02F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A100 80GB（付费分区）</c:v>
                  </c:pt>
                  <c:pt idx="1">
                    <c:v>RTX PRO 6000 Blackwell 96GB（免费分区）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9.41</c:v>
                </c:pt>
                <c:pt idx="1">
                  <c:v>11.58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4202F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675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D9DD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675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1"><p:bg><p:bgPr><a:solidFill><a:srgbClr val="0E1B2B"/></a:solidFill></p:bgPr></p:bg><p:spTree><p:nvGrpSpPr><p:cNvPr id="1" name=""/><p:cNvGrpSpPr/><p:nvPr/></p:nvGrpSpPr><p:grpSpPr><a:xfrm><a:off x="0" y="0"/><a:ext cx="0" cy="0"/><a:chOff x="0" y="0"/><a:chExt cx="0" cy="0"/></a:xfrm></p:grpSpPr><p:sp><p:nvSpPr><p:cNvPr id="2" name="Text 0"></p:cNvPr><p:cNvSpPr/><p:nvPr></p:nvPr></p:nvSpPr><p:spPr><a:xfrm><a:off x="566928" y="1874520"/><a:ext cx="11057839" cy="27432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200" b="1" spc="300" kern="0" dirty="0"><a:solidFill><a:srgbClr val="3FA9A2"/></a:solidFill><a:latin typeface="Microsoft YaHei" pitchFamily="34" charset="0"/><a:ea typeface="Microsoft YaHei" pitchFamily="34" charset="-122"/><a:cs typeface="Microsoft YaHei" pitchFamily="34" charset="-120"/></a:rPr><a:t>UCI 眼科 / 视觉生物学实验室</a:t></a:r><a:endParaRPr lang="en-US" sz="1200" dirty="0"/></a:p></p:txBody></p:sp><p:sp><p:nvSpPr><p:cNvPr id="3" name="Text 1"></p:cNvPr><p:cNvSpPr/><p:nvPr></p:nvPr></p:nvSpPr><p:spPr><a:xfrm><a:off x="566928" y="2240280"/><a:ext cx="11057839" cy="137160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5000" b="1" dirty="0"><a:solidFill><a:srgbClr val="FFFFFF"/></a:solidFill><a:latin typeface="Microsoft YaHei" pitchFamily="34" charset="0"/><a:ea typeface="Microsoft YaHei" pitchFamily="34" charset="-122"/><a:cs typeface="Microsoft YaHei" pitchFamily="34" charset="-120"/></a:rPr><a:t>AiScientist 能力全览</a:t></a:r><a:endParaRPr lang="en-US" sz="5000" dirty="0"/></a:p></p:txBody></p:sp><p:sp><p:nvSpPr><p:cNvPr id="4" name="Text 2"></p:cNvPr><p:cNvSpPr/><p:nvPr></p:nvPr></p:nvSpPr><p:spPr><a:xfrm><a:off x="566928" y="3657600"/><a:ext cx="8778240" cy="1005840"/></a:xfrm><a:prstGeom prst="rect"><a:avLst></a:avLst></a:prstGeom><a:noFill/><a:ln></a:ln></p:spPr><p:txBody><a:bodyPr wrap="square" lIns="0" tIns="0" rIns="0" bIns="0" rtlCol="0" anchor="ctr"></a:bodyPr><a:lstStyle/><a:p><a:pPr indent="0" marL="0"><a:lnSpc><a:spcPts val="2600"/></a:lnSpc><a:buNone/></a:pPr><a:r><a:rPr lang="en-US" sz="1600" dirty="0"><a:solidFill><a:srgbClr val="C7D0DB"/></a:solidFill><a:latin typeface="Microsoft YaHei" pitchFamily="34" charset="0"/><a:ea typeface="Microsoft YaHei" pitchFamily="34" charset="-122"/><a:cs typeface="Microsoft YaHei" pitchFamily="34" charset="-120"/></a:rPr><a:t>一个隐私优先的多智能体生物信息学研究台。提出问题、指向数据，得到可复现的分析和可发表格式的手稿。本文档介绍现有功能与技术细节。</a:t></a:r><a:endParaRPr lang="en-US" sz="1600" dirty="0"/></a:p></p:txBody></p:sp><p:sp><p:nvSpPr><p:cNvPr id="5" name="Text 3"></p:cNvPr><p:cNvSpPr/><p:nvPr></p:nvPr></p:nvSpPr><p:spPr><a:xfrm><a:off x="566928" y="5715000"/><a:ext cx="11057839" cy="36576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100" dirty="0"><a:solidFill><a:srgbClr val="8C99A8"/></a:solidFill><a:latin typeface="Microsoft YaHei" pitchFamily="34" charset="0"/><a:ea typeface="Microsoft YaHei" pitchFamily="34" charset="-122"/><a:cs typeface="Microsoft YaHei" pitchFamily="34" charset="-120"/></a:rPr><a:t><PUBLIC_HOSTNAME>　·　23 个工具　·　7 条预置流程　·　15 个原子技能　·　2026 年 8 月</a:t></a:r><a:endParaRPr lang="en-US" sz="1100" dirty="0"/></a:p></p:txBody></p:sp></p:spTree></p:cSld><p:clrMapOvr><a:masterClrMapping/></p:clrMapOvr>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本文档结构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四个问题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6949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我现在能用它做什么研究？六条研究线，每条的输入、步骤和产出。</a:t>
            </a:r>
            <a:endParaRPr lang="en-US" sz="15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一次运行是怎么跑的？PI → Scientist → Critic、计划审阅、DAG 调度、专家团队。</a:t>
            </a:r>
            <a:endParaRPr lang="en-US" sz="15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技术上做对了什么？统计正确性、离线注释栈、表型推理、基础设施。</a:t>
            </a:r>
            <a:endParaRPr lang="en-US" sz="15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凭什么信它？数据边界、反编造分层、确定性护栏、可复现性。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818120" y="1691640"/>
            <a:ext cx="3806647" cy="1609344"/>
          </a:xfrm>
          <a:prstGeom prst="roundRect">
            <a:avLst>
              <a:gd name="adj" fmla="val 4545"/>
            </a:avLst>
          </a:prstGeom>
          <a:solidFill>
            <a:srgbClr val="E8EEF0"/>
          </a:solidFill>
          <a:ln w="12700">
            <a:solidFill>
              <a:srgbClr val="E8EE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2440" y="1874520"/>
            <a:ext cx="32580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关于这些数字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92440" y="2212848"/>
            <a:ext cx="3258007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所有数字都来自代码库现状，或在 HPC3 / eyeserver 上的实测，没有一个是估计值。做不到的事单列一页。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68880"/>
            <a:ext cx="841248" cy="8412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6888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801368" y="2395728"/>
            <a:ext cx="98233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你现在能做什么研究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801368" y="31546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EBB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六条研究线，覆盖单细胞表达、基因组变异、罕见病诊断、扰动筛选和文献。每条都有预置流程，也都能由自由提问驱动。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六条研究线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490874" cy="1933956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75104"/>
            <a:ext cx="384048" cy="3840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98448" y="1956816"/>
            <a:ext cx="2530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细胞类型注释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514600"/>
            <a:ext cx="3015386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scRNA / snRNA → QC、双细胞剔除、样本整合、聚类、marker、按面板定标签。输入 .h5ad / 10x / loom / 文本矩阵。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50410" y="1737360"/>
            <a:ext cx="3490874" cy="1933956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88154" y="1975104"/>
            <a:ext cx="384048" cy="3840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11" name="Text 9"/>
          <p:cNvSpPr/>
          <p:nvPr/>
        </p:nvSpPr>
        <p:spPr>
          <a:xfrm>
            <a:off x="4588154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81930" y="1956816"/>
            <a:ext cx="2530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条件差异表达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88154" y="2514600"/>
            <a:ext cx="3015386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疾病 vs 对照、KO vs WT，按细胞类型分层。有生物学重复时走 pseudobulk；没有就明说这是描述性的。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3893" y="1737360"/>
            <a:ext cx="3490874" cy="1933956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71637" y="1975104"/>
            <a:ext cx="384048" cy="3840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16" name="Text 14"/>
          <p:cNvSpPr/>
          <p:nvPr/>
        </p:nvSpPr>
        <p:spPr>
          <a:xfrm>
            <a:off x="8371637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5413" y="1956816"/>
            <a:ext cx="2530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变异注释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71637" y="2514600"/>
            <a:ext cx="3015386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VCF → 离线 VEP + ClinVar + gnomAD + CADD / REVEL / AlphaMissense。WGS 规模，全部通过变异都注释，无截断。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963924"/>
            <a:ext cx="3490874" cy="1933956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4201668"/>
            <a:ext cx="384048" cy="3840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2016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98448" y="4183380"/>
            <a:ext cx="2530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罕见病诊断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04672" y="4741164"/>
            <a:ext cx="3015386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VCF + 临床描述（任何语言）→ 变异短名单 与 HPO/LIRICAL 疾病鉴别，两条独立轨道最后汇合。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50410" y="3963924"/>
            <a:ext cx="3490874" cy="1933956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88154" y="4201668"/>
            <a:ext cx="384048" cy="3840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26" name="Text 24"/>
          <p:cNvSpPr/>
          <p:nvPr/>
        </p:nvSpPr>
        <p:spPr>
          <a:xfrm>
            <a:off x="4588154" y="42016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81930" y="4183380"/>
            <a:ext cx="2530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扰动筛选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88154" y="4741164"/>
            <a:ext cx="3015386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Perturb-seq / CROP-seq：按 E-distance 排序哪些扰动真的改变了转录组，再逐个对非靶向对照做 DE。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3893" y="3963924"/>
            <a:ext cx="3490874" cy="1933956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71637" y="4201668"/>
            <a:ext cx="384048" cy="3840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31" name="Text 29"/>
          <p:cNvSpPr/>
          <p:nvPr/>
        </p:nvSpPr>
        <p:spPr>
          <a:xfrm>
            <a:off x="8371637" y="42016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865413" y="4183380"/>
            <a:ext cx="2530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文献检索与问答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71637" y="4741164"/>
            <a:ext cx="3015386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Europe PMC 关键词检索 + PaperQA2 全文 RAG，跑在校内模型和本地向量上，语料不出校园。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研究线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单细胞细胞类型注释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9222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792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25296" y="17556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QC + 双细胞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44568" y="175564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每细胞指标、过滤、归一化、log1p、HVG；原始计数保留在 layers['counts']。Scrublet 打分并剔除双细胞——不做的话它们会形成「中间态」簇，被读成新的过渡细胞类型。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61518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615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25296" y="25786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样本整合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44568" y="257860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多样本对象必做。有 harmonypy 用 Harmony，否则退到 scanpy 自带的 ComBat；报告实际跑的是哪个，以及整合前后的批次轮廓系数——不下降会给出警告。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43814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438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25296" y="34015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聚类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44568" y="340156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 → 近邻图 → Leiden → UMAP。分辨率可由 bootstrap-ARI 稳定性扫描选出：取重采样后仍可复现的最细分辨率，而不是默认的 1.0。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26110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261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25296" y="4224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Marker 基因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44568" y="422452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Wilcoxon rank_genes_groups。同时写出每组的完整排序列表和真实检验全集，供 preranked GSEA 和 ORA 背景使用。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08406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5084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25296" y="50474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定标签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44568" y="504748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signature 打分给第一遍；最终判定看原始 marker 表达并要求优势比。信号不成形的簇留 Unassigned，被原始表达纠正过的簇会被单独报出来。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研究线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 vs 对照差异表达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9222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792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25296" y="17556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自动读设计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44568" y="175564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obs 元数据里识别条件列、参考（对照）组和细胞类型列。用户说一句「分析一下这个数据集」就够——数据自己定义了实验。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61518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615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25296" y="25786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选对检验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44568" y="257860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 ≥2 个样本 → pseudobulk：按样本聚合原始计数再检验。每组只有 1 个样本 → 明确声明这是描述性比较，不输出无效的推断 p 值。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43814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438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25296" y="34015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按细胞类型分层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44568" y="340156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每个细胞类型独立比较。样本数不够的类型进入 skipped_groups 并被报出来——「这个类型测不了」是关于研究设计的发现，不是实现细节。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26110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261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25296" y="4224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群体组成变化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44568" y="422452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哪些细胞群比例发生变化。用中心对数比（CLR）变换后检验：比例之和恒为 1，直接检验会让每个群体看起来都和其他群体耦合。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08406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5084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25296" y="50474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通路解释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44568" y="504748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ORA（对真实检验全集做背景）+ preranked GSEA（走完整排序、保留带符号 NES）。两者输入和零假设都不同，不要求一致，阴性结果保留。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研究线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变异注释：WGS 规模，全离线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9222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792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25296" y="17556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callset QC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44568" y="175564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Ti/Tv、Het/Hom、SNP / indel / 多等位比例、call rate。callset 被标记有问题，会给后面所有结论加上限定。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61518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615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25296" y="25786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先缩范围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44568" y="257860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孟德尔病默认已知基因优先：传基因列表或 panel BED——离线线在 VEP 之前就限制区域，在 WGS 上是很大的算力节省。同时丢弃 gnomAD AF &gt; 1% 的变异。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43814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438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25296" y="34015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注释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44568" y="340156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装配版本从 VCF 头自动识别（GRCh37/38 都支持）。bcftools PASS 过滤 → offline VEP --cache --fork，作为 Slurm CPU 作业运行。全部通过变异都注释，无上限，无网络依赖。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26110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261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25296" y="4224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预测器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44568" y="422452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ClinVar 临床意义、gnomAD 频率、CADD、REVEL、AlphaMissense。SpliceAI（OpenSpliceAI + OSAI-MANE 模型）已装好并验证，默认关闭。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08406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5084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25296" y="50474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标准交付表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44568" y="504748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工具自己写出完整逐变异表和五张交付表：consequence 分布、impact 分布、临床意义分布、ClinVar 致病变异、稀有未分类的高优先短名单。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研究线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罕见病诊断：变异 × 表型双轨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9222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792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25296" y="17556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为什么要双轨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44568" y="175564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只有变异短名单说不出「是哪个病」；只有表型说不出「是哪个变异」——遗传性视网膜病的症状高度重叠。把两者对上才叫诊断。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61518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615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25296" y="25786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轨道 A：变异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44568" y="257860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走研究线 3 的完整流程，产出优先级短名单。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43814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438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25296" y="34015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轨道 B：表型 → HPO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44568" y="340156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临床描述（中文、英文、口语都可以）→ LLM 抽取表述和否定，本体负责给 ID：模型只能从候选里挑编号，永远不自己写 HPO ID。相差一位数就是完全不同的真实表型。未匹配的表述会被报出来。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26110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261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25296" y="4224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轨道 B：疾病鉴别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44568" y="422452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LIRICAL v2 用这些 HPO 项做基因型感知打分——它通过自带的 Exomiser 数据库直接读原始 VCF，给出每个疾病的检验后概率。明确为「缺失」的体征也是证据，会把相关疾病压下去。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08406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5084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25296" y="50474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汇合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44568" y="504748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两轨在最后一步才汇合，中间互不等待。置信度来自 LIRICAL 的统计量，不是模型的语气。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研究线 5 与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扰动筛选 · 文献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530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扰动筛选（Perturb-seq / CROP-seq）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5300320" cy="0"/>
          </a:xfrm>
          <a:prstGeom prst="line">
            <a:avLst/>
          </a:prstGeom>
          <a:noFill/>
          <a:ln w="12700">
            <a:solidFill>
              <a:srgbClr val="D9DD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2240280"/>
            <a:ext cx="5300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E-distance 排序：哪些扰动真的重塑了转录组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逐扰动对共享的非靶向对照做差异表达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Mixscape 可选：先标出并剔除未被有效编辑的「逃逸」细胞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为现实设计：多数 guide 没有效应，阴性是预期结果而不是失败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24448" y="1691640"/>
            <a:ext cx="530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78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24448" y="2103120"/>
            <a:ext cx="5300320" cy="0"/>
          </a:xfrm>
          <a:prstGeom prst="line">
            <a:avLst/>
          </a:prstGeom>
          <a:noFill/>
          <a:ln w="12700">
            <a:solidFill>
              <a:srgbClr val="D9DD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24448" y="2240280"/>
            <a:ext cx="5300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literature_search —— Europe PMC 关键词检索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deep_literature —— PaperQA2 全文 RAG，跑在校内 Qwen 和本地向量上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检索式在运行时由已接受的发现构建，不是从问题套模板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手稿参考文献由已接受的引用确定性生成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外发的只有一个文件名和问题本身，绝不含数据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一次运行产出什么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490874" cy="1933956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75104"/>
            <a:ext cx="384048" cy="3840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98448" y="1956816"/>
            <a:ext cx="2530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514600"/>
            <a:ext cx="3015386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QC 小提琴与散点、UMAP（按簇 / 按标签）、marker 点图、rank plot、富集条形图。全部由 scanpy / matplotlib 确定性渲染——没有任何一张图是模型画的。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50410" y="1737360"/>
            <a:ext cx="3490874" cy="1933956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88154" y="1975104"/>
            <a:ext cx="384048" cy="3840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11" name="Text 9"/>
          <p:cNvSpPr/>
          <p:nvPr/>
        </p:nvSpPr>
        <p:spPr>
          <a:xfrm>
            <a:off x="4588154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81930" y="1956816"/>
            <a:ext cx="2530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88154" y="2514600"/>
            <a:ext cx="3015386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逐组 DE 表、完整排序列表、检验全集、ORA 与 GSEA 表、分辨率扫描表、簇→细胞类型映射（带证据列）、组成表、变异五表。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3893" y="1737360"/>
            <a:ext cx="3490874" cy="1933956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71637" y="1975104"/>
            <a:ext cx="384048" cy="3840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16" name="Text 14"/>
          <p:cNvSpPr/>
          <p:nvPr/>
        </p:nvSpPr>
        <p:spPr>
          <a:xfrm>
            <a:off x="8371637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5413" y="1956816"/>
            <a:ext cx="2530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手稿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71637" y="2514600"/>
            <a:ext cx="3015386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pandoc + XeLaTeX 渲染的 PDF 与 DOCX，出版物结构，嵌入工具真正产出的图表，参考文献已格式化。渲染过程完全无 AI 参与。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963924"/>
            <a:ext cx="3490874" cy="1933956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4201668"/>
            <a:ext cx="384048" cy="3840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2016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98448" y="4183380"/>
            <a:ext cx="2530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技术报告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04672" y="4741164"/>
            <a:ext cx="3015386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步骤降级、被跳过的分组、工具报错、参数来源全部记录在这里。最终手稿保持干净——降级不写进正文。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50410" y="3963924"/>
            <a:ext cx="3490874" cy="1933956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88154" y="4201668"/>
            <a:ext cx="384048" cy="3840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26" name="Text 24"/>
          <p:cNvSpPr/>
          <p:nvPr/>
        </p:nvSpPr>
        <p:spPr>
          <a:xfrm>
            <a:off x="4588154" y="42016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81930" y="4183380"/>
            <a:ext cx="2530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可下载打包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88154" y="4741164"/>
            <a:ext cx="3015386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整个 runs/console/&lt;用户&gt;/&lt;run_id&gt;/ 目录打包下载。报告可以在不重跑分析的前提下重新生成。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3893" y="3963924"/>
            <a:ext cx="3490874" cy="1933956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71637" y="4201668"/>
            <a:ext cx="384048" cy="3840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31" name="Text 29"/>
          <p:cNvSpPr/>
          <p:nvPr/>
        </p:nvSpPr>
        <p:spPr>
          <a:xfrm>
            <a:off x="8371637" y="42016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865413" y="4183380"/>
            <a:ext cx="2530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流程示意图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71637" y="4741164"/>
            <a:ext cx="3015386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make_schematic 用 graphviz 确定性地画出这次运行实际执行过的步骤图。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它现在还不能做什么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6949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空间转录组：没有受控工具线（可用 run_code 手写，但没有流程保障）。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多组学联合建模（配对 ATAC + RNA）：没有工具。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 / 拟时序推断：没有工具。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GRCh37 的预测器面板：CADD / REVEL / AlphaMissense 目前只在 GRCh38 上可用，hg19 的 VCF 拿不到预测器打分。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OMIM 疾病记录的新基因：表型线在结构上无法给它们排序，需要变异优先的路线。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无生物学重复的条件比较：系统会拒绝给推断性 p 值，而不是给一个无效的。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渲染层排版缺陷（表格截断、图注重叠）：需要视觉模型审阅，已建好但默认关闭。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818120" y="1691640"/>
            <a:ext cx="3806647" cy="1133856"/>
          </a:xfrm>
          <a:prstGeom prst="roundRect">
            <a:avLst>
              <a:gd name="adj" fmla="val 6452"/>
            </a:avLst>
          </a:prstGeom>
          <a:solidFill>
            <a:srgbClr val="E8EEF0"/>
          </a:solidFill>
          <a:ln w="12700">
            <a:solidFill>
              <a:srgbClr val="E8EE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2440" y="1874520"/>
            <a:ext cx="32580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为什么单列一页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92440" y="2212848"/>
            <a:ext cx="325800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把差距写在这里，好过让用户在运行到一半时撞上。这一页会随开发更新。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68880"/>
            <a:ext cx="841248" cy="8412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6888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801368" y="2395728"/>
            <a:ext cx="98233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一次运行是怎么跑的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801368" y="31546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EBB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角色分工的智能体团队：PI 规划、Scientist 调用工具执行、Critic 逐步判定。人类在计划阶段有一次介入机会。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从登录到报告的五步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9222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792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25296" y="17556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登录并连接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44568" y="175564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账号由管理员创建，不开放自助注册（注册需 @uci.edu）。控制台用你的 UCInetID + 交互式 Duo SSH 到 HPC3。HPC3 凭据从不存储——数据库里只有应用密码的 bcrypt 哈希。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61518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615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25296" y="25786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起模型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44568" y="257860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每用户一个 Slurm GPU 作业，在 Singularity 里用 vLLM 服务 Qwen3.6-35B-A3B-AWQ，OpenAI 兼容 /v1，动态端口，控制台 SSH 隧道过去。作业按用户严格隔离（squeue --me）。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43814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438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25296" y="34015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上传数据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44568" y="340156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断点续传的分块上传，文件直接流向你自己的 HPC3 目录。网关不保留副本。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26110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261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25296" y="4224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跑研究实验室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44568" y="422452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 规划 → 计划模式暂停供人审阅和编辑 → Scientist 执行 → Critic 判定 → 循环收敛。进度按角色逐 token 流式返回，包括模型的可见思考过程。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08406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5084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25296" y="50474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取结果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44568" y="504748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图、表、PDF / DOCX 手稿、可下载打包，全在 runs/console/&lt;用户&gt;/&lt;run_id&gt;/ 下。报告可以不重跑分析而重新生成。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智能体角色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 → Scientist → Critic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490874" cy="4160520"/>
          </a:xfrm>
          <a:prstGeom prst="roundRect">
            <a:avLst>
              <a:gd name="adj" fmla="val 1572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75104"/>
            <a:ext cx="384048" cy="3840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98448" y="1956816"/>
            <a:ext cx="2530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首席研究员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514600"/>
            <a:ext cx="301538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把问题变成一份有序的、具体的步骤议程，会读数据集的 obs 元数据来推断实验设计。计划模式在这里暂停，等人审阅。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50410" y="1737360"/>
            <a:ext cx="3490874" cy="4160520"/>
          </a:xfrm>
          <a:prstGeom prst="roundRect">
            <a:avLst>
              <a:gd name="adj" fmla="val 1572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88154" y="1975104"/>
            <a:ext cx="384048" cy="3840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11" name="Text 9"/>
          <p:cNvSpPr/>
          <p:nvPr/>
        </p:nvSpPr>
        <p:spPr>
          <a:xfrm>
            <a:off x="4588154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81930" y="1956816"/>
            <a:ext cx="2530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科学家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88154" y="2514600"/>
            <a:ext cx="301538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逐步执行：每轮调用一个或多个工具，读完结果再决定下一步。上下文由代码预算裁剪——历史被压缩而不是被截断，成功的结果留摘要，失败的留一行标记。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3893" y="1737360"/>
            <a:ext cx="3490874" cy="4160520"/>
          </a:xfrm>
          <a:prstGeom prst="roundRect">
            <a:avLst>
              <a:gd name="adj" fmla="val 1572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71637" y="1975104"/>
            <a:ext cx="384048" cy="3840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16" name="Text 14"/>
          <p:cNvSpPr/>
          <p:nvPr/>
        </p:nvSpPr>
        <p:spPr>
          <a:xfrm>
            <a:off x="8371637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5413" y="1956816"/>
            <a:ext cx="2530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71637" y="2514600"/>
            <a:ext cx="301538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对每一步给 accept / revise，附分数和具体意见。确定性护栏兜底：工具报错或返回空的步骤，模型评审无权「接受」——它盖不了失败的章。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人在环中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计划模式：在任何东西跑起来之前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6949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 起草完议程，运行会暂停并把整份计划展示给你——这是执行前的闸门，不是事后通知。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你可以编辑步骤、增删步骤、改参数，或者直接取消。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真正的分叉点会显式提问，例如：复用数据里已有的细胞类型标签，还是重新聚类？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运行途中可以注入一条指令，不必重启整个运行。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Stop 会真正 scancel 掉 HPC3 上的作业，不只是断开前端连接。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接近步数上限或到达里程碑时，可以停下来做一次主动压缩，供长程运行使用。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18120" y="1691640"/>
            <a:ext cx="3806647" cy="1371600"/>
          </a:xfrm>
          <a:prstGeom prst="roundRect">
            <a:avLst>
              <a:gd name="adj" fmla="val 5333"/>
            </a:avLst>
          </a:prstGeom>
          <a:solidFill>
            <a:srgbClr val="E8EEF0"/>
          </a:solidFill>
          <a:ln w="12700">
            <a:solidFill>
              <a:srgbClr val="E8EE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2440" y="1874520"/>
            <a:ext cx="32580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设计立场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92440" y="2212848"/>
            <a:ext cx="325800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 Duo 提示是同一个设计立场：在不可逆的事情发生前，给人一次介入机会。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0.2.0 能力（特性开关，默认关闭）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DAG 规划与真正的多智能体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530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DAG 调度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5300320" cy="0"/>
          </a:xfrm>
          <a:prstGeom prst="line">
            <a:avLst/>
          </a:prstGeom>
          <a:noFill/>
          <a:ln w="12700">
            <a:solidFill>
              <a:srgbClr val="D9DD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2240280"/>
            <a:ext cx="5300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结构化过程把议程变成带显式依赖的任务图（LabPlan / TaskNode）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就绪集调度器：前置一完成就跑，不必线性排队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按节点限定的简报（「只做这一件事，之前的产出已经存在」）从结构上治好了「第一步把所有事都干完」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互不相干的分支（文献 vs 分析）在可变足迹不相交时并行执行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24448" y="1691640"/>
            <a:ext cx="530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78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专家团队与记忆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24448" y="2103120"/>
            <a:ext cx="5300320" cy="0"/>
          </a:xfrm>
          <a:prstGeom prst="line">
            <a:avLst/>
          </a:prstGeom>
          <a:noFill/>
          <a:ln w="12700">
            <a:solidFill>
              <a:srgbClr val="D9DD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24448" y="2240280"/>
            <a:ext cx="5300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协调者挑下一个就绪任务，专家按专长「认领」——真正的多智能体，不是固定路由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默认专家：QC 与预处理、聚类与细胞类型、通路与富集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每个专家有私有的、落盘的记忆（episodes.jsonl + 蒸馏出的 lessons.md）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跨运行回忆进简报并反思——在冻结权重上做上下文内学习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默认关闭意味着 0.1.0 的线性流程原样运行，行为不变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技能系统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渐进式披露：15 个原子技能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6949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三层结构：固定的核心工具目录 / 可改写的原子技能 / 固定的预置流程。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简报里只放清单——名字加一行摘要。正文和代码只在真正要用时才进上下文。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search_skills(query) 按关键词找；read_skill_reference(name) 拿使用指导；再加 file= 拿可运行代码。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技能是版本化的：新版在 frontmatter 里声明 supersedes，清单只推新版，旧版留在盘上仍可按名加载以便回滚。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现有技能覆盖：VCF 归一化与 QC、临床变异分级、TileDB-VCF 队列数据库、signature 打分、按细胞类型的条件比较、扰动 E-distance、Mixscape 逃逸过滤、scGPT 与 Leiden 交叉验证。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818120" y="1691640"/>
            <a:ext cx="3806647" cy="1133856"/>
          </a:xfrm>
          <a:prstGeom prst="roundRect">
            <a:avLst>
              <a:gd name="adj" fmla="val 6452"/>
            </a:avLst>
          </a:prstGeom>
          <a:solidFill>
            <a:srgbClr val="E8EEF0"/>
          </a:solidFill>
          <a:ln w="12700">
            <a:solidFill>
              <a:srgbClr val="E8EE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2440" y="1874520"/>
            <a:ext cx="32580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为什么这样做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92440" y="2212848"/>
            <a:ext cx="325800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目的是把上下文窗口花在这次研究上，而不是花在 15 个技能的全文上。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68880"/>
            <a:ext cx="841248" cy="8412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6888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801368" y="2395728"/>
            <a:ext cx="98233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技术细节：分析引擎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801368" y="31546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EBB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个受控工具。这一部分讲的不是「有哪些功能」，而是每个关键步骤在统计上为什么这样做——因为在这条链上，做错不会报错，只会给出一个自洽的错误答案。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工具目录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个工具，按类别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11057839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931920"/>
                <a:gridCol w="53949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0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QC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inspect_dataset · run_qc · run_scanpy_qc · run_doublet_detection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数据集探查、每细胞指标、过滤归一化 HVG、Scrublet 双细胞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0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run_integration · run_clustering · run_de · run_pseudobulk_de · run_composition · run_marker_annotation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批次整合、Leiden 聚类、marker DE、按样本的条件比较、群体组成、按面板定标签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0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run_enrichment · run_gsea_prerank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离线 ORA（本地 .gmt，真实检验全集作背景）与 preranked GSEA（完整排序、带符号 NES）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0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变异 / 表型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annotate_variants · map_phenotype_to_hpo · run_lirical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离线 VEP + 预测器面板、自由文本→HPO 本体映射、LIRICAL 基因型感知疾病鉴别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0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注释模型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scgpt_annotate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scGPT 基础模型逐细胞注释，作为独立的短时 GPU 批作业运行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0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literature_search · deep_literature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Europe PMC 关键词检索；PaperQA2 全文 RAG（校内模型 + 本地向量）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0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代码执行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run_code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CodeAct 沙箱，读本次运行的数据与检查点、写新产物，有真实内存上限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0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自省 / 图 / 控制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read_tool_source · read_skill_reference · search_skills · make_schematic · finish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读自己工具的源码、渐进式取技能、确定性流程图、结束并返回答案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943600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 reads_private_data 的工具会触碰表达矩阵；只有两个通路工具不会——它们只看基因符号。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统计正确性 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条件比较：细胞不是重复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737360"/>
          <a:ext cx="68580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635240" y="1783080"/>
            <a:ext cx="3989527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在一个 4 供体的合成设计里，400 个基因中我们只让 1 个在两组间真的有差异。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细胞层面的 Wilcoxon 判定 310 个显著——78%。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原因是伪重复：同一个供体的细胞不是那个供体所属条件的独立观测。把 5000 个细胞当成 5000 个重复，p 值会错好几个数量级。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pseudobulk 判定 0 个，但把真正那个基因排在第 1 位——n=2 对 2 本来就没有检验效力，这是诚实的结果。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run_de 对 marker（一个簇 vs 其余）有效；对条件无效。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统计正确性 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富集：背景是统计参数，不是形式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11057839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ORA 的 p 值是对背景全集做的超几何尾概率——背景选错，每个条目的显著性都跟着错。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过去用的是常数 20000（「人类基因组大概这么多」）。现在用的是 run_de 写出的真实检验全集。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方向是一致地把结果说得更显著：假设的全集越大，随机重叠的期望越小。举例——通路 500 基因、名单 50、重叠 8：假设 20000 时 p=3.1e-05，真实全集 6000 时 p=0.053。同一份数据，一个是铁的结论，一个根本不显著。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结果里会报出 background_source，所以读者能看到这次 p 值到底是对什么算的。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同时新增了 preranked GSEA：走完整排序列表，能看到任何逐基因阈值都留不住的协同性偏移，并返回带符号的 NES。ORA 与 GSEA 输入和零假设都不同——不要求一致，也不把不一致当成错误。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统计正确性 ③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聚类分辨率：选出来的，不是默认的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11057839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后面每一个细胞类型标签都继承这个划分——所以一个没人检查过的分辨率，是每个标签里一个没人检查过的假设。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做法：候选分辨率逐个重采样重聚类，用调整兰德指数（ARI）和全数据划分比对，取平均值作为稳定性分数。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规则是取「仍然可复现的最细」分辨率，而不是最稳的——取最稳的会永远返回最粗的那个。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单簇划分被排除在选择之外：它每次重采样都完全一致，ARI 恰好等于 1.0，能通过任何稳定性门槛。数据一弱它就必胜——而「一个簇，完美稳定」不是聚类，是聚类的缺席。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扫描表整表落盘（每个分辨率的簇数、稳定性均值与标准差），包括被排除的退化划分——看得到它们才诊断得了这次运行。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结果里报出 resolution_source，报告因此能区分「用了默认值」和「选出了最细可复现值」。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统计正确性 ④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定标签：共享 marker 会给出自信的错标签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11057839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承重的想法：只看 signature 打分，一定会标错共享 marker 的谱系。按细胞类型做 z-score 会把微弱甚至环境来源的信号放大成看起来很确定的峰值。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 z-argmax 只是第一遍。最终判定看几个谱系特异的判别基因的原始对数归一化表达，而且要求它压过第二名一个优势比。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两个例子：LAMP3 同时在 AT2 和树突状细胞的面板里；SLC1A3 同时在 Müller 胶质和星形胶质里。哪个面板碰巧多重叠一个基因，哪个就赢——朴素计数法对此无能为力。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第一遍和原始表达判定不一致时，两个判定都保留并报出来。这个不一致是关于数据的证据，只留赢家等于把证据毁掉。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没有主导信号的簇留 Unassigned——大概率是低质量或双细胞。强行给标签，正是一个双细胞簇变成图里一个命名细胞类型的方式。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面板本身必须由使用者提供并匹配组织：没有安全的默认面板，别的组织的面板只会产出自信的错标签。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统计正确性 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双细胞与批次：两个静默的假阳性来源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530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双细胞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5300320" cy="0"/>
          </a:xfrm>
          <a:prstGeom prst="line">
            <a:avLst/>
          </a:prstGeom>
          <a:noFill/>
          <a:ln w="12700">
            <a:solidFill>
              <a:srgbClr val="D9DD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2240280"/>
            <a:ext cx="5300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一个液滴里的两个细胞会表达双亲的两套程序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于是它们落在两个亲本簇之间，看起来像一个合理的「过渡态」群体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这是单细胞研究凭空造出一个新群体的经典方式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Scrublet 在原始计数上打分，默认剔除；比例超过 20% 会给警告——那通常是阈值的问题，不是数据的问题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24448" y="1691640"/>
            <a:ext cx="530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78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批次 / 供体效应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24448" y="2103120"/>
            <a:ext cx="5300320" cy="0"/>
          </a:xfrm>
          <a:prstGeom prst="line">
            <a:avLst/>
          </a:prstGeom>
          <a:noFill/>
          <a:ln w="12700">
            <a:solidFill>
              <a:srgbClr val="D9DD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24448" y="2240280"/>
            <a:ext cx="5300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多样本对象不整合，细胞会按供体聚类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于是后面每一个细胞类型标签其实是一个供体标签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关键在于：完全没有症状——供体驱动的簇和真实生物学驱动的簇一样干净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工具报告整合前后的批次轮廓系数；不下降就发警告，让这个失败可见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变异线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离线注释栈（全部在 HPC3 上）</a:t>
            </a:r>
            <a:endParaRPr lang="en-US" sz="3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11057839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840480"/>
                <a:gridCol w="47548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用什么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为什么这样选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0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注释引擎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Ensembl VEP（offline --cache --fork）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REST 路线对 WGS 会被限流并截断到几百个变异；离线缓存无上限、无网络、可复现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0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装配版本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GRCh37 与 GRCh38 双缓存，从 VCF 头自动识别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识别错会让约 90% 的基因归属错误，而且不会报错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0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临床意义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ClinVar VCF（两个装配各一份，带 .tbi）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本地绑定，索引一起绑；索引没绑上会静默丢注释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0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致病性预测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CADD · REVEL · AlphaMissense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作为 VEP 插件运行，避免二次比对；目前硬性限定 GRCh38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0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剪接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OpenSpliceAI + OSAI-MANE 模型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 vep.sif 内运行，已验证（DS_DL 0.917 / 0.755）；默认关闭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0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群体频率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gnomAD（max_pop_af 阈值）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&gt;1% 的变异不可能导致罕见病；无频率记录的新变异保留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420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队列规模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TileDB-VCF（原子技能）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多样本队列的可扩展变异库，供跨样本查询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表型线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自由文本 → HPO → 疾病鉴别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9222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792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25296" y="17556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44568" y="175564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负责抽取表述和否定；本体负责给 ID。模型只能从检索出的候选里挑一个编号，永远不自己写 HPO ID。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61518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615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25296" y="25786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为什么这么分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44568" y="257860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HP:0000662（夜盲）和 HP:0000622（视物模糊）只差一位数，都是真实存在的表型。一个「错但真实」的 ID 不会报错，只会静默产出一个错的鉴别诊断。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43814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438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25296" y="340156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多语言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44568" y="340156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中文、英文、口语化描述都可以，词表已随仓库提交，因此完全离线可用。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26110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261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25296" y="4224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否定也是证据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44568" y="422452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文本里明确说「没有」的体征（「无听力障碍」）作为 excluded 项传下去，LIRICAL 用它把相关疾病往下压。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084064"/>
            <a:ext cx="420624" cy="420624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5084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25296" y="50474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打分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44568" y="5047488"/>
            <a:ext cx="70801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LIRICAL v2 基因型感知打分：通过自带的 Exomiser 数据库直接读原始 VCF，输出每个疾病的检验后概率。置信度是统计量，不是模型的措辞。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E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68880"/>
            <a:ext cx="841248" cy="8412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6888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801368" y="2395728"/>
            <a:ext cx="98233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基础设施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801368" y="31546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EBB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两层：校内网页控制台，加上 UCI HPC3 上的 Slurm + Singularity 计算。重活从不悄悄跑在网页服务器上。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28"><p:bg><p:bgPr><a:solidFill><a:srgbClr val="F6F7F9"/></a:solidFill></p:bgPr></p:bg><p:spTree><p:nvGrpSpPr><p:cNvPr id="1" name=""/><p:cNvGrpSpPr/><p:nvPr/></p:nvGrpSpPr><p:grpSpPr><a:xfrm><a:off x="0" y="0"/><a:ext cx="0" cy="0"/><a:chOff x="0" y="0"/><a:chExt cx="0" cy="0"/></a:xfrm></p:grpSpPr><p:sp><p:nvSpPr><p:cNvPr id="2" name="Text 0"></p:cNvPr><p:cNvSpPr/><p:nvPr></p:nvPr></p:nvSpPr><p:spPr><a:xfrm><a:off x="566928" y="384048"/><a:ext cx="11057839" cy="237744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100" b="1" spc="200" kern="0" dirty="0"><a:solidFill><a:srgbClr val="17827C"/></a:solidFill><a:latin typeface="Microsoft YaHei" pitchFamily="34" charset="0"/><a:ea typeface="Microsoft YaHei" pitchFamily="34" charset="-122"/><a:cs typeface="Microsoft YaHei" pitchFamily="34" charset="-120"/></a:rPr><a:t>架构</a:t></a:r><a:endParaRPr lang="en-US" sz="1100" dirty="0"/></a:p></p:txBody></p:sp><p:sp><p:nvSpPr><p:cNvPr id="3" name="Text 1"></p:cNvPr><p:cNvSpPr/><p:nvPr></p:nvPr></p:nvSpPr><p:spPr><a:xfrm><a:off x="566928" y="658368"/><a:ext cx="11057839" cy="777240"/></a:xfrm><a:prstGeom prst="rect"><a:avLst></a:avLst></a:prstGeom><a:noFill/><a:ln></a:ln></p:spPr><p:txBody><a:bodyPr wrap="square" lIns="0" tIns="0" rIns="0" bIns="0" rtlCol="0" anchor="t"></a:bodyPr><a:lstStyle/><a:p><a:pPr indent="0" marL="0"><a:buNone/></a:pPr><a:r><a:rPr lang="en-US" sz="3000" b="1" dirty="0"><a:solidFill><a:srgbClr val="14202F"/></a:solidFill><a:latin typeface="Microsoft YaHei" pitchFamily="34" charset="0"/><a:ea typeface="Microsoft YaHei" pitchFamily="34" charset="-122"/><a:cs typeface="Microsoft YaHei" pitchFamily="34" charset="-120"/></a:rPr><a:t>两层，靠 SSH 隧道解耦</a:t></a:r><a:endParaRPr lang="en-US" sz="3000" dirty="0"/></a:p></p:txBody></p:sp><p:sp><p:nvSpPr><p:cNvPr id="4" name="Shape 2"></p:cNvPr><p:cNvSpPr/><p:nvPr></p:nvPr></p:nvSpPr><p:spPr><a:xfrm><a:off x="566928" y="1792224"/><a:ext cx="420624" cy="420624"/></a:xfrm><a:prstGeom prst="ellipse"><a:avLst></a:avLst></a:prstGeom><a:solidFill><a:srgbClr val="17827C"/></a:solidFill><a:ln></a:ln></p:spPr></p:sp><p:sp><p:nvSpPr><p:cNvPr id="5" name="Text 3"></p:cNvPr><p:cNvSpPr/><p:nvPr></p:nvPr></p:nvSpPr><p:spPr><a:xfrm><a:off x="566928" y="1792224"/><a:ext cx="420624" cy="420624"/></a:xfrm><a:prstGeom prst="rect"><a:avLst></a:avLst></a:prstGeom><a:noFill/><a:ln></a:ln></p:spPr><p:txBody><a:bodyPr wrap="square" lIns="0" tIns="0" rIns="0" bIns="0" rtlCol="0" anchor="ctr"></a:bodyPr><a:lstStyle/><a:p><a:pPr algn="ctr" indent="0" marL="0"><a:buNone/></a:pPr><a:r><a:rPr lang="en-US" sz="1300" b="1" dirty="0"><a:solidFill><a:srgbClr val="FFFFFF"/></a:solidFill><a:latin typeface="Microsoft YaHei" pitchFamily="34" charset="0"/><a:ea typeface="Microsoft YaHei" pitchFamily="34" charset="-122"/><a:cs typeface="Microsoft YaHei" pitchFamily="34" charset="-120"/></a:rPr><a:t>1</a:t></a:r><a:endParaRPr lang="en-US" sz="1300" dirty="0"/></a:p></p:txBody></p:sp><p:sp><p:nvSpPr><p:cNvPr id="6" name="Text 4"></p:cNvPr><p:cNvSpPr/><p:nvPr></p:nvPr></p:nvSpPr><p:spPr><a:xfrm><a:off x="1225296" y="1755648"/><a:ext cx="3200400" cy="384048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450" b="1" dirty="0"><a:solidFill><a:srgbClr val="14202F"/></a:solidFill><a:latin typeface="Microsoft YaHei" pitchFamily="34" charset="0"/><a:ea typeface="Microsoft YaHei" pitchFamily="34" charset="-122"/><a:cs typeface="Microsoft YaHei" pitchFamily="34" charset="-120"/></a:rPr><a:t>浏览器</a:t></a:r><a:endParaRPr lang="en-US" sz="1450" dirty="0"/></a:p></p:txBody></p:sp><p:sp><p:nvSpPr><p:cNvPr id="7" name="Text 5"></p:cNvPr><p:cNvSpPr/><p:nvPr></p:nvPr></p:nvSpPr><p:spPr><a:xfrm><a:off x="4544568" y="1755648"/><a:ext cx="7080199" cy="918972"/></a:xfrm><a:prstGeom prst="rect"><a:avLst></a:avLst></a:prstGeom><a:noFill/><a:ln></a:ln></p:spPr><p:txBody><a:bodyPr wrap="square" lIns="0" tIns="0" rIns="0" bIns="0" rtlCol="0" anchor="t"></a:bodyPr><a:lstStyle/><a:p><a:pPr indent="0" marL="0"><a:lnSpc><a:spcPts val="1800"/></a:lnSpc><a:buNone/></a:pPr><a:r><a:rPr lang="en-US" sz="1250" dirty="0"><a:solidFill><a:srgbClr val="5A6675"/></a:solidFill><a:latin typeface="Microsoft YaHei" pitchFamily="34" charset="0"/><a:ea typeface="Microsoft YaHei" pitchFamily="34" charset="-122"/><a:cs typeface="Microsoft YaHei" pitchFamily="34" charset="-120"/></a:rPr><a:t>HTTPS → Envoy Gateway（<PUBLIC_HOSTNAME>），UCI 校园网 / VPN 内可达。</a:t></a:r><a:endParaRPr lang="en-US" sz="1250" dirty="0"/></a:p></p:txBody></p:sp><p:sp><p:nvSpPr><p:cNvPr id="8" name="Shape 6"></p:cNvPr><p:cNvSpPr/><p:nvPr></p:nvPr></p:nvSpPr><p:spPr><a:xfrm><a:off x="566928" y="2820924"/><a:ext cx="420624" cy="420624"/></a:xfrm><a:prstGeom prst="ellipse"><a:avLst></a:avLst></a:prstGeom><a:solidFill><a:srgbClr val="17827C"/></a:solidFill><a:ln></a:ln></p:spPr></p:sp><p:sp><p:nvSpPr><p:cNvPr id="9" name="Text 7"></p:cNvPr><p:cNvSpPr/><p:nvPr></p:nvPr></p:nvSpPr><p:spPr><a:xfrm><a:off x="566928" y="2820924"/><a:ext cx="420624" cy="420624"/></a:xfrm><a:prstGeom prst="rect"><a:avLst></a:avLst></a:prstGeom><a:noFill/><a:ln></a:ln></p:spPr><p:txBody><a:bodyPr wrap="square" lIns="0" tIns="0" rIns="0" bIns="0" rtlCol="0" anchor="ctr"></a:bodyPr><a:lstStyle/><a:p><a:pPr algn="ctr" indent="0" marL="0"><a:buNone/></a:pPr><a:r><a:rPr lang="en-US" sz="1300" b="1" dirty="0"><a:solidFill><a:srgbClr val="FFFFFF"/></a:solidFill><a:latin typeface="Microsoft YaHei" pitchFamily="34" charset="0"/><a:ea typeface="Microsoft YaHei" pitchFamily="34" charset="-122"/><a:cs typeface="Microsoft YaHei" pitchFamily="34" charset="-120"/></a:rPr><a:t>2</a:t></a:r><a:endParaRPr lang="en-US" sz="1300" dirty="0"/></a:p></p:txBody></p:sp><p:sp><p:nvSpPr><p:cNvPr id="10" name="Text 8"></p:cNvPr><p:cNvSpPr/><p:nvPr></p:nvPr></p:nvSpPr><p:spPr><a:xfrm><a:off x="1225296" y="2784348"/><a:ext cx="3200400" cy="384048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450" b="1" dirty="0"><a:solidFill><a:srgbClr val="14202F"/></a:solidFill><a:latin typeface="Microsoft YaHei" pitchFamily="34" charset="0"/><a:ea typeface="Microsoft YaHei" pitchFamily="34" charset="-122"/><a:cs typeface="Microsoft YaHei" pitchFamily="34" charset="-120"/></a:rPr><a:t>eyeserver</a:t></a:r><a:endParaRPr lang="en-US" sz="1450" dirty="0"/></a:p></p:txBody></p:sp><p:sp><p:nvSpPr><p:cNvPr id="11" name="Text 9"></p:cNvPr><p:cNvSpPr/><p:nvPr></p:nvPr></p:nvSpPr><p:spPr><a:xfrm><a:off x="4544568" y="2784348"/><a:ext cx="7080199" cy="918972"/></a:xfrm><a:prstGeom prst="rect"><a:avLst></a:avLst></a:prstGeom><a:noFill/><a:ln></a:ln></p:spPr><p:txBody><a:bodyPr wrap="square" lIns="0" tIns="0" rIns="0" bIns="0" rtlCol="0" anchor="t"></a:bodyPr><a:lstStyle/><a:p><a:pPr indent="0" marL="0"><a:lnSpc><a:spcPts val="1800"/></a:lnSpc><a:buNone/></a:pPr><a:r><a:rPr lang="en-US" sz="1250" dirty="0"><a:solidFill><a:srgbClr val="5A6675"/></a:solidFill><a:latin typeface="Microsoft YaHei" pitchFamily="34" charset="0"/><a:ea typeface="Microsoft YaHei" pitchFamily="34" charset="-122"/><a:cs typeface="Microsoft YaHei" pitchFamily="34" charset="-120"/></a:rPr><a:t>FastAPI + WebSocket 控制台（systemd 服务，Postgres）：账号、聊天历史、上传、编排、报告组装。不持有 GPU，也不长期保存数据集副本。</a:t></a:r><a:endParaRPr lang="en-US" sz="1250" dirty="0"/></a:p></p:txBody></p:sp><p:sp><p:nvSpPr><p:cNvPr id="12" name="Shape 10"></p:cNvPr><p:cNvSpPr/><p:nvPr></p:nvPr></p:nvSpPr><p:spPr><a:xfrm><a:off x="566928" y="3849624"/><a:ext cx="420624" cy="420624"/></a:xfrm><a:prstGeom prst="ellipse"><a:avLst></a:avLst></a:prstGeom><a:solidFill><a:srgbClr val="17827C"/></a:solidFill><a:ln></a:ln></p:spPr></p:sp><p:sp><p:nvSpPr><p:cNvPr id="13" name="Text 11"></p:cNvPr><p:cNvSpPr/><p:nvPr></p:nvPr></p:nvSpPr><p:spPr><a:xfrm><a:off x="566928" y="3849624"/><a:ext cx="420624" cy="420624"/></a:xfrm><a:prstGeom prst="rect"><a:avLst></a:avLst></a:prstGeom><a:noFill/><a:ln></a:ln></p:spPr><p:txBody><a:bodyPr wrap="square" lIns="0" tIns="0" rIns="0" bIns="0" rtlCol="0" anchor="ctr"></a:bodyPr><a:lstStyle/><a:p><a:pPr algn="ctr" indent="0" marL="0"><a:buNone/></a:pPr><a:r><a:rPr lang="en-US" sz="1300" b="1" dirty="0"><a:solidFill><a:srgbClr val="FFFFFF"/></a:solidFill><a:latin typeface="Microsoft YaHei" pitchFamily="34" charset="0"/><a:ea typeface="Microsoft YaHei" pitchFamily="34" charset="-122"/><a:cs typeface="Microsoft YaHei" pitchFamily="34" charset="-120"/></a:rPr><a:t>3</a:t></a:r><a:endParaRPr lang="en-US" sz="1300" dirty="0"/></a:p></p:txBody></p:sp><p:sp><p:nvSpPr><p:cNvPr id="14" name="Text 12"></p:cNvPr><p:cNvSpPr/><p:nvPr></p:nvPr></p:nvSpPr><p:spPr><a:xfrm><a:off x="1225296" y="3813048"/><a:ext cx="3200400" cy="384048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450" b="1" dirty="0"><a:solidFill><a:srgbClr val="14202F"/></a:solidFill><a:latin typeface="Microsoft YaHei" pitchFamily="34" charset="0"/><a:ea typeface="Microsoft YaHei" pitchFamily="34" charset="-122"/><a:cs typeface="Microsoft YaHei" pitchFamily="34" charset="-120"/></a:rPr><a:t>HPC3</a:t></a:r><a:endParaRPr lang="en-US" sz="1450" dirty="0"/></a:p></p:txBody></p:sp><p:sp><p:nvSpPr><p:cNvPr id="15" name="Text 13"></p:cNvPr><p:cNvSpPr/><p:nvPr></p:nvPr></p:nvSpPr><p:spPr><a:xfrm><a:off x="4544568" y="3813048"/><a:ext cx="7080199" cy="918972"/></a:xfrm><a:prstGeom prst="rect"><a:avLst></a:avLst></a:prstGeom><a:noFill/><a:ln></a:ln></p:spPr><p:txBody><a:bodyPr wrap="square" lIns="0" tIns="0" rIns="0" bIns="0" rtlCol="0" anchor="t"></a:bodyPr><a:lstStyle/><a:p><a:pPr indent="0" marL="0"><a:lnSpc><a:spcPts val="1800"/></a:lnSpc><a:buNone/></a:pPr><a:r><a:rPr lang="en-US" sz="1250" dirty="0"><a:solidFill><a:srgbClr val="5A6675"/></a:solidFill><a:latin typeface="Microsoft YaHei" pitchFamily="34" charset="0"/><a:ea typeface="Microsoft YaHei" pitchFamily="34" charset="-122"/><a:cs typeface="Microsoft YaHei" pitchFamily="34" charset="-120"/></a:rPr><a:t>SSH + Duo，每会话一条隧道。所有重活作为 Slurm 作业提交：vLLM GPU 服务、run_code、scanpy 分析、pandoc/XeLaTeX 渲染、scGPT、VL 审阅——全部 Singularity 容器化。</a:t></a:r><a:endParaRPr lang="en-US" sz="1250" dirty="0"/></a:p></p:txBody></p:sp><p:sp><p:nvSpPr><p:cNvPr id="16" name="Shape 14"></p:cNvPr><p:cNvSpPr/><p:nvPr></p:nvPr></p:nvSpPr><p:spPr><a:xfrm><a:off x="566928" y="4878324"/><a:ext cx="420624" cy="420624"/></a:xfrm><a:prstGeom prst="ellipse"><a:avLst></a:avLst></a:prstGeom><a:solidFill><a:srgbClr val="17827C"/></a:solidFill><a:ln></a:ln></p:spPr></p:sp><p:sp><p:nvSpPr><p:cNvPr id="17" name="Text 15"></p:cNvPr><p:cNvSpPr/><p:nvPr></p:nvPr></p:nvSpPr><p:spPr><a:xfrm><a:off x="566928" y="4878324"/><a:ext cx="420624" cy="420624"/></a:xfrm><a:prstGeom prst="rect"><a:avLst></a:avLst></a:prstGeom><a:noFill/><a:ln></a:ln></p:spPr><p:txBody><a:bodyPr wrap="square" lIns="0" tIns="0" rIns="0" bIns="0" rtlCol="0" anchor="ctr"></a:bodyPr><a:lstStyle/><a:p><a:pPr algn="ctr" indent="0" marL="0"><a:buNone/></a:pPr><a:r><a:rPr lang="en-US" sz="1300" b="1" dirty="0"><a:solidFill><a:srgbClr val="FFFFFF"/></a:solidFill><a:latin typeface="Microsoft YaHei" pitchFamily="34" charset="0"/><a:ea typeface="Microsoft YaHei" pitchFamily="34" charset="-122"/><a:cs typeface="Microsoft YaHei" pitchFamily="34" charset="-120"/></a:rPr><a:t>4</a:t></a:r><a:endParaRPr lang="en-US" sz="1300" dirty="0"/></a:p></p:txBody></p:sp><p:sp><p:nvSpPr><p:cNvPr id="18" name="Text 16"></p:cNvPr><p:cNvSpPr/><p:nvPr></p:nvPr></p:nvSpPr><p:spPr><a:xfrm><a:off x="1225296" y="4841748"/><a:ext cx="3200400" cy="384048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450" b="1" dirty="0"><a:solidFill><a:srgbClr val="14202F"/></a:solidFill><a:latin typeface="Microsoft YaHei" pitchFamily="34" charset="0"/><a:ea typeface="Microsoft YaHei" pitchFamily="34" charset="-122"/><a:cs typeface="Microsoft YaHei" pitchFamily="34" charset="-120"/></a:rPr><a:t>存储</a:t></a:r><a:endParaRPr lang="en-US" sz="1450" dirty="0"/></a:p></p:txBody></p:sp><p:sp><p:nvSpPr><p:cNvPr id="19" name="Text 17"></p:cNvPr><p:cNvSpPr/><p:nvPr></p:nvPr></p:nvSpPr><p:spPr><a:xfrm><a:off x="4544568" y="4841748"/><a:ext cx="7080199" cy="918972"/></a:xfrm><a:prstGeom prst="rect"><a:avLst></a:avLst></a:prstGeom><a:noFill/><a:ln></a:ln></p:spPr><p:txBody><a:bodyPr wrap="square" lIns="0" tIns="0" rIns="0" bIns="0" rtlCol="0" anchor="t"></a:bodyPr><a:lstStyle/><a:p><a:pPr indent="0" marL="0"><a:lnSpc><a:spcPts val="1800"/></a:lnSpc><a:buNone/></a:pPr><a:r><a:rPr lang="en-US" sz="1250" dirty="0"><a:solidFill><a:srgbClr val="5A6675"/></a:solidFill><a:latin typeface="Microsoft YaHei" pitchFamily="34" charset="0"/><a:ea typeface="Microsoft YaHei" pitchFamily="34" charset="-122"/><a:cs typeface="Microsoft YaHei" pitchFamily="34" charset="-120"/></a:rPr><a:t>数据集和产物留在 /dfs3b 实验室存储你自己的目录下；参考数据（VEP 缓存、ClinVar、预测器、Exomiser）集中在共享区域。</a:t></a:r><a:endParaRPr lang="en-US" sz="1250" dirty="0"/></a:p></p:txBody></p:sp><p:sp><p:nvSpPr><p:cNvPr id="20" name="Text 18"></p:cNvPr><p:cNvSpPr/><p:nvPr></p:nvPr></p:nvSpPr><p:spPr><a:xfrm><a:off x="566928" y="6400800"/><a:ext cx="2743200" cy="22860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900" dirty="0"><a:solidFill><a:srgbClr val="5A6675"/></a:solidFill><a:latin typeface="Microsoft YaHei" pitchFamily="34" charset="0"/><a:ea typeface="Microsoft YaHei" pitchFamily="34" charset="-122"/><a:cs typeface="Microsoft YaHei" pitchFamily="34" charset="-120"/></a:rPr><a:t>AiScientist</a:t></a:r><a:endParaRPr lang="en-US" sz="900" dirty="0"/></a:p></p:txBody></p:sp><p:sp><p:nvSpPr><p:cNvPr id="21" name="Text 19"></p:cNvPr><p:cNvSpPr/><p:nvPr></p:nvPr></p:nvSpPr><p:spPr><a:xfrm><a:off x="10710367" y="6400800"/><a:ext cx="914400" cy="228600"/></a:xfrm><a:prstGeom prst="rect"><a:avLst></a:avLst></a:prstGeom><a:noFill/><a:ln></a:ln></p:spPr><p:txBody><a:bodyPr wrap="square" lIns="0" tIns="0" rIns="0" bIns="0" rtlCol="0" anchor="ctr"></a:bodyPr><a:lstStyle/><a:p><a:pPr algn="r" indent="0" marL="0"><a:buNone/></a:pPr><a:r><a:rPr lang="en-US" sz="900" dirty="0"><a:solidFill><a:srgbClr val="5A6675"/></a:solidFill><a:latin typeface="Microsoft YaHei" pitchFamily="34" charset="0"/><a:ea typeface="Microsoft YaHei" pitchFamily="34" charset="-122"/><a:cs typeface="Microsoft YaHei" pitchFamily="34" charset="-120"/></a:rPr><a:t>28</a:t></a:r><a:endParaRPr lang="en-US" sz="900" dirty="0"/></a:p></p:txBody></p:sp></p:spTree></p:cSld><p:clrMapOvr><a:masterClrMapping/></p:clrMapOvr>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七个 Singularity 镜像</a:t>
            </a:r>
            <a:endParaRPr lang="en-US" sz="3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11057839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023360"/>
                <a:gridCol w="49377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镜像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作业类型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0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vllm.sif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vLLM 0.22 + torch 2.11 (cu130)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常驻 GPU 服务作业，每用户一个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0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analysis.sif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scanpy · gseapy · bcftools 1.21 · samtools · bedtools · pysam · cyvcf2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run_code 与分析步骤的 CPU 作业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0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vep.sif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Ensembl VEP + 插件 + OpenSpliceAI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变异注释 CPU 作业（WGS 约 30–60 分钟）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0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lirical.sif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LIRICAL v2.4.1 + Exomiser 2406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表型→疾病打分作业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0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scgpt.sif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scGPT + torch + 参考模型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短时 GPU 批作业（不占用 LLM 的卡）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0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report.sif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pandoc + XeLaTeX + graphviz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PDF / DOCX 渲染作业，无 AI 参与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0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vlreview.sif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Qwen2.5-VL-7B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渲染层审阅，跑在便宜的 24GB 卡上；默认关闭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GPU（HPC3 实测）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上下文窗口不是硬件限制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737360"/>
          <a:ext cx="68580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635240" y="1783080"/>
            <a:ext cx="3989527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用同一个镜像同一个模型，以 --max-model-len 262144 在两种卡上实际启动过。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模型是混合注意力：40 层里只有 10 层带 KV 缓存（约 20 KiB/token），所以跑满 262K 的 KV 只要约 5 GiB。原生 max_position_embeddings 就是 262144，不需要 YaRN。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结论：窗口从来不是瓶颈，并发才是。默认值已从 32768 改为 262144。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附带发现：免费分区那张 Blackwell 反而是更大的卡。付费分区买到的是调度优先级和不被抢占，不是能力。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计算放置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什么跑在哪里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530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eyeserver（CPU，校内）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5300320" cy="0"/>
          </a:xfrm>
          <a:prstGeom prst="line">
            <a:avLst/>
          </a:prstGeom>
          <a:noFill/>
          <a:ln w="12700">
            <a:solidFill>
              <a:srgbClr val="D9DD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2240280"/>
            <a:ext cx="5300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网页控制台、WebSocket 流、账号与会话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上传接收（直接转发到 HPC3，不留副本）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编排与报告组装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对话历史与运行状态（Postgres）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24448" y="1691640"/>
            <a:ext cx="530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78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HPC3（Slurm + Singularity）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24448" y="2103120"/>
            <a:ext cx="5300320" cy="0"/>
          </a:xfrm>
          <a:prstGeom prst="line">
            <a:avLst/>
          </a:prstGeom>
          <a:noFill/>
          <a:ln w="12700">
            <a:solidFill>
              <a:srgbClr val="D9DD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24448" y="2240280"/>
            <a:ext cx="5300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推理（每用户一个 GPU 服务作业）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 scanpy 分析步骤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run_code 沙箱（有真实的 cgroup 内存上限）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变异注释（VEP）与表型打分（LIRICAL）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scGPT 推理、报告渲染、VL 审阅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E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68880"/>
            <a:ext cx="841248" cy="8412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6888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801368" y="2395728"/>
            <a:ext cx="98233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凭什么信它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801368" y="31546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EBB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一个会编造的分析系统比没有系统更糟。这一部分讲四件事：数据能去哪、事实怎么核、护栏由什么强制执行、以及系统怎么审查自己。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数据边界：需要正面证据，不靠推断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11057839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模型跑在 UCI HPC3 上，权重和推理都不离开校园。原始数据集留在服务器侧。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DataBoundaryGuard 在任何模型调用之前审查简报，拦截原始数据行和密钥进入提示词。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外部文献查询会被净化：出去的只有一个裸文件名和问题本身，绝不含数据。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关键修正：判断「模型是本地的」曾经靠 SSH 隧道存在与否推断。这在隧道是唯一可达端点时成立，但一旦有人把推理角色指向外部 API 就不成立了——那时守卫会把远程端点判成本地，把原始表格送出校园。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现在本地性需要正面证据：有隧道，并且这条隧道上没有远程端点。无法解析的 URL 一律判为远程；仅仅解析到本地地址的主机名也判为远程。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SSH 私钥存在服务器侧（浏览器没有 SSH），每用户独立、权限 0600。HPC3 密码从不存储。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反编造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四层防线，最后一层与模型无关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382616" cy="1933956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75104"/>
            <a:ext cx="384048" cy="3840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98448" y="1956816"/>
            <a:ext cx="442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先给对数据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514600"/>
            <a:ext cx="4907128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强制参数与结果记忆化，保证报告拿到的是这次运行真正的产出，而不是被后续步骤覆盖过的降级版本。曾经发生过：一个良好的 674k 变异结果被重跑的作业覆盖成 1213 个。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42152" y="1737360"/>
            <a:ext cx="5382616" cy="1933956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9896" y="1975104"/>
            <a:ext cx="384048" cy="3840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11" name="Text 9"/>
          <p:cNvSpPr/>
          <p:nvPr/>
        </p:nvSpPr>
        <p:spPr>
          <a:xfrm>
            <a:off x="6479896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73672" y="1956816"/>
            <a:ext cx="442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闭集接地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79896" y="2514600"/>
            <a:ext cx="4907128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三重接地：受控词表、方法学清单、以及从工具结果里抽出的事实集合。写作阶段只能引用这些集合里的内容。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963924"/>
            <a:ext cx="5382616" cy="1933956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4201668"/>
            <a:ext cx="384048" cy="3840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2016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98448" y="4183380"/>
            <a:ext cx="442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提示词约束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04672" y="4741164"/>
            <a:ext cx="4907128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明确禁止发明工具没有返回的基因名、数字或统计量；工具报错要如实报告，不能假装成功。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42152" y="3963924"/>
            <a:ext cx="5382616" cy="1933956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79896" y="4201668"/>
            <a:ext cx="384048" cy="3840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21" name="Text 19"/>
          <p:cNvSpPr/>
          <p:nvPr/>
        </p:nvSpPr>
        <p:spPr>
          <a:xfrm>
            <a:off x="6479896" y="42016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73672" y="4183380"/>
            <a:ext cx="442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确定性事实核验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79896" y="4741164"/>
            <a:ext cx="4907128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生成之后跑 verify_report_facts：不管模型说了什么，直接改正错误的装配版本、纠正伪造的「0 个非 PASS 变异」。这一层与模型无关地执行——它不请求模型配合。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由什么强制执行，而不是由谁承诺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6949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散文规则靠模型遵守；代码护栏与模型无关地执行。两者都需要，但只有后者在模型换代时仍然成立。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工具报错或返回空的步骤，Critic 无权判定 accept——模型评审盖不了失败的章。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没有对照组时富集会被确定性地拒绝，而不是给一个无意义的富集列表。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pseudobulk 在每组样本不足时拒绝出结果，并把拒绝原因写进 skipped_groups——不退化成细胞层面检验。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重跑记忆化防止后续步骤重复触发一个 45 分钟的 WGS 作业并覆盖掉好结果。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工具报出自己实际用了什么：background_source、resolution_source、method_used、unit_of_replication、execution_mode。一个没人能看见的默认值，正是一个错误参数能存活几个月的方式。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818120" y="1691640"/>
            <a:ext cx="3806647" cy="1371600"/>
          </a:xfrm>
          <a:prstGeom prst="roundRect">
            <a:avLst>
              <a:gd name="adj" fmla="val 5333"/>
            </a:avLst>
          </a:prstGeom>
          <a:solidFill>
            <a:srgbClr val="E8EEF0"/>
          </a:solidFill>
          <a:ln w="12700">
            <a:solidFill>
              <a:srgbClr val="E8EE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2440" y="1874520"/>
            <a:ext cx="32580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总原则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92440" y="2212848"/>
            <a:ext cx="325800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诚实优先于好看：工具报告失败而不是伪装成功；降级只写进技术报告，最终手稿保持干净。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自省能力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系统能读自己工具的源码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347258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66928" y="3063240"/>
            <a:ext cx="34725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个工具可被读取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493008"/>
            <a:ext cx="347258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read_tool_source 返回真实代码体、声明的描述与 schema（并排放着好做对比），以及每一个 args.get(x, 字面量) 默认值加行号。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59554" y="1965960"/>
            <a:ext cx="347258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878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6/6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359554" y="3063240"/>
            <a:ext cx="34725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植入缺陷被抓到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59554" y="3493008"/>
            <a:ext cx="347258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对真实模型实测：两个植入的统计缺陷，每次都点名了具体参数并给出正确机理。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52181" y="1965960"/>
            <a:ext cx="347258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9E3B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1/3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8152181" y="3063240"/>
            <a:ext cx="34725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对照未通过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52181" y="3493008"/>
            <a:ext cx="347258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诚实的局限：模型会把 HVG 选择读成「静默截断」而误报。所以这是给人用的发现生成器，不是自动闸门——工具因此设计为只读。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5897880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背景：run_de 的 50 基因上限、富集的常数背景、写死的 resolution=1.0，三者都存活了七周，报告自洽、测试全绿。工具的描述说的是意图，只有源码说的是行为。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可复现性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一次运行留下什么可供复核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11057839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每一步用的参数、以及它是默认值、显式设定还是被算法选出来的。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分辨率扫描全表，包括被排除的退化划分。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簇→细胞类型映射，带证据列、第一遍判定、以及原始表达纠正过哪些簇。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被跳过的分组和跳过的原因；被拒绝的检验和拒绝的理由。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ORA 背景的大小与来源；GSEA 的集合大小限制、置换次数和随机种子（固定 42，置换 p 值必须可复现）。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变异注释的执行模式（离线 VEP 还是 REST 回退）——REST 路线只采样了头部变异，绝不能当成全基因组覆盖来读。</a:t>
            </a:r>
            <a:endParaRPr lang="en-US" sz="145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整个运行目录可打包下载；报告可在不重跑分析的前提下重新生成。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E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68880"/>
            <a:ext cx="841248" cy="841248"/>
          </a:xfrm>
          <a:prstGeom prst="ellipse">
            <a:avLst/>
          </a:prstGeom>
          <a:solidFill>
            <a:srgbClr val="17827C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6888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801368" y="2395728"/>
            <a:ext cx="98233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现状与下一步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801368" y="31546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EBB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已经上线的、建好但默认关闭的、以及还没建的——分清楚这三者，比把它们混在一起说更有用。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 · 建好未开 · 未建</a:t>
            </a:r>
            <a:endParaRPr lang="en-US" sz="30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11057839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737360"/>
                <a:gridCol w="5120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0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六条研究线与 23 个工具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 PI→Scientist→Critic 流程是默认路径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0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LIRICAL 表型诊断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已在 HPC3 验证并部署；Exomiser 2406 已就位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0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自由文本 → HPO 映射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词表随仓库提交，完全离线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0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DAG 规划 + 专家团队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建好未开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BIOAGENT_PLANNER=dag；默认关闭时线性流程行为不变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0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每专家演进记忆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建好未开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BIOAGENT_AGENT_MEMORY=1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0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SpliceAI 剪接预测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建好未开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已装好并验证；开启是一次运维配置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0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视觉模型渲染审阅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建好未开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查表格截断、图注重叠等排版缺陷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0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假设账本 / 多周期 / 技能诱导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建好未开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自主栈；已通过测试，但从未在真实数据上跑过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02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空间转录组 / 多组学 / 轨迹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6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目前只能通过 run_code 手写，没有受控流程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让系统自己发展研究路径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530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已经建好的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5300320" cy="0"/>
          </a:xfrm>
          <a:prstGeom prst="line">
            <a:avLst/>
          </a:prstGeom>
          <a:noFill/>
          <a:ln w="12700">
            <a:solidFill>
              <a:srgbClr val="D9DD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2240280"/>
            <a:ext cx="5300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假设账本：陈述、预测、判别性检验、证据、状态——一个假设是被「检验过」还是只是被「提到过」，有结构上的区别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步内探索：一步跑完后判断是否开出一条新路径（带确定性前置过滤，避免为文献步骤或空结果开路径）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多周期战役：周期之间整体重新规划，而不是在原计划上打补丁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技能诱导：把一次成功的做法泛化成技能落盘，版本化而非覆盖（最多 9 版）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运行级上下文管理：所有决定（阈值、折叠哪些回合、什么被钉住）都是代码里的算术，模型只负责写摘要散文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24448" y="1691640"/>
            <a:ext cx="530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78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诚实的现状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24448" y="2103120"/>
            <a:ext cx="5300320" cy="0"/>
          </a:xfrm>
          <a:prstGeom prst="line">
            <a:avLst/>
          </a:prstGeom>
          <a:noFill/>
          <a:ln w="12700">
            <a:solidFill>
              <a:srgbClr val="D9DD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24448" y="2240280"/>
            <a:ext cx="5300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全部默认关闭，且从未在真实数据上跑过——这是目前最大的未知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已验证在默认配置下行为逐字节不变（用捕获所有提示词和事件再逐差异比对的方式）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本地模型在这项能力上实测 3/3——瓶颈是脚手架，不是模型大小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尚未打通：探索发现 → 技能诱导的自动连接</a:t>
            </a:r>
            <a:endParaRPr lang="en-US" sz="1350" dirty="0"/>
          </a:p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尚未做到：系统能改自己的工具。今天它能开新研究路径，但改不了自己脚下的路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接下来最重要的几件事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6949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在真实数据上跑一次自主栈——它已经建好、测过、行为中性，但从未面对过真实数据。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补上 GRCh37 的预测器面板，让 hg19 的眼科 VCF 也能拿到 CADD / REVEL / AlphaMissense 打分。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为无 OMIM 记录的新基因建一条变异优先的路线——实验室的真实病例恰恰富集这类基因。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把工具自省接进评审环节：让「这个默认值对本数据集合理吗」成为流程的一步，而不是靠人偶然发现。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长期架构：LangGraph + 自托管 Langfuse + Postgres checkpointer。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18120" y="1691640"/>
            <a:ext cx="3806647" cy="1371600"/>
          </a:xfrm>
          <a:prstGeom prst="roundRect">
            <a:avLst>
              <a:gd name="adj" fmla="val 5333"/>
            </a:avLst>
          </a:prstGeom>
          <a:solidFill>
            <a:srgbClr val="E8EEF0"/>
          </a:solidFill>
          <a:ln w="12700">
            <a:solidFill>
              <a:srgbClr val="E8EE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2440" y="1874520"/>
            <a:ext cx="32580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82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排序依据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92440" y="2212848"/>
            <a:ext cx="325800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4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排序原则是「哪个差距会静默地给出错答案」，不是「哪个功能听起来最新」。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E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2103120"/>
            <a:ext cx="99971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一个会静默给出错答案的分析系统，比一个会报错的系统危险得多——因为报错会被修，而自洽的错误结论会被发表。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97280" y="4297680"/>
            <a:ext cx="999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A9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这套系统的每一条确定性护栏都是为这句话建的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AiScientist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710367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43"><p:bg><p:bgPr><a:solidFill><a:srgbClr val="0E1B2B"/></a:solidFill></p:bgPr></p:bg><p:spTree><p:nvGrpSpPr><p:cNvPr id="1" name=""/><p:cNvGrpSpPr/><p:nvPr/></p:nvGrpSpPr><p:grpSpPr><a:xfrm><a:off x="0" y="0"/><a:ext cx="0" cy="0"/><a:chOff x="0" y="0"/><a:chExt cx="0" cy="0"/></a:xfrm></p:grpSpPr><p:sp><p:nvSpPr><p:cNvPr id="2" name="Text 0"></p:cNvPr><p:cNvSpPr/><p:nvPr></p:nvPr></p:nvSpPr><p:spPr><a:xfrm><a:off x="566928" y="1874520"/><a:ext cx="11057839" cy="27432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200" b="1" spc="300" kern="0" dirty="0"><a:solidFill><a:srgbClr val="3FA9A2"/></a:solidFill><a:latin typeface="Microsoft YaHei" pitchFamily="34" charset="0"/><a:ea typeface="Microsoft YaHei" pitchFamily="34" charset="-122"/><a:cs typeface="Microsoft YaHei" pitchFamily="34" charset="-120"/></a:rPr><a:t>开始使用</a:t></a:r><a:endParaRPr lang="en-US" sz="1200" dirty="0"/></a:p></p:txBody></p:sp><p:sp><p:nvSpPr><p:cNvPr id="3" name="Text 1"></p:cNvPr><p:cNvSpPr/><p:nvPr></p:nvPr></p:nvSpPr><p:spPr><a:xfrm><a:off x="566928" y="2240280"/><a:ext cx="11057839" cy="137160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5000" b="1" dirty="0"><a:solidFill><a:srgbClr val="FFFFFF"/></a:solidFill><a:latin typeface="Microsoft YaHei" pitchFamily="34" charset="0"/><a:ea typeface="Microsoft YaHei" pitchFamily="34" charset="-122"/><a:cs typeface="Microsoft YaHei" pitchFamily="34" charset="-120"/></a:rPr><a:t>AiScientist</a:t></a:r><a:endParaRPr lang="en-US" sz="5000" dirty="0"/></a:p></p:txBody></p:sp><p:sp><p:nvSpPr><p:cNvPr id="4" name="Text 2"></p:cNvPr><p:cNvSpPr/><p:nvPr></p:nvPr></p:nvSpPr><p:spPr><a:xfrm><a:off x="566928" y="3657600"/><a:ext cx="8778240" cy="1005840"/></a:xfrm><a:prstGeom prst="rect"><a:avLst></a:avLst></a:prstGeom><a:noFill/><a:ln></a:ln></p:spPr><p:txBody><a:bodyPr wrap="square" lIns="0" tIns="0" rIns="0" bIns="0" rtlCol="0" anchor="ctr"></a:bodyPr><a:lstStyle/><a:p><a:pPr indent="0" marL="0"><a:lnSpc><a:spcPts val="2600"/></a:lnSpc><a:buNone/></a:pPr><a:r><a:rPr lang="en-US" sz="1600" dirty="0"><a:solidFill><a:srgbClr val="C7D0DB"/></a:solidFill><a:latin typeface="Microsoft YaHei" pitchFamily="34" charset="0"/><a:ea typeface="Microsoft YaHei" pitchFamily="34" charset="-122"/><a:cs typeface="Microsoft YaHei" pitchFamily="34" charset="-120"/></a:rPr><a:t><PUBLIC_HOSTNAME>（UCI 校园网 / VPN）。账号由管理员创建。带一个数据集和一个问题过来——不需要先描述实验，数据自己定义了它。</a:t></a:r><a:endParaRPr lang="en-US" sz="1600" dirty="0"/></a:p></p:txBody></p:sp><p:sp><p:nvSpPr><p:cNvPr id="5" name="Text 3"></p:cNvPr><p:cNvSpPr/><p:nvPr></p:nvPr></p:nvSpPr><p:spPr><a:xfrm><a:off x="566928" y="5715000"/><a:ext cx="11057839" cy="365760"/></a:xfrm><a:prstGeom prst="rect"><a:avLst></a:avLst></a:prstGeom><a:noFill/><a:ln></a:ln></p:spPr><p:txBody><a:bodyPr wrap="square" lIns="0" tIns="0" rIns="0" bIns="0" rtlCol="0" anchor="ctr"></a:bodyPr><a:lstStyle/><a:p><a:pPr indent="0" marL="0"><a:buNone/></a:pPr><a:r><a:rPr lang="en-US" sz="1100" dirty="0"><a:solidFill><a:srgbClr val="8C99A8"/></a:solidFill><a:latin typeface="Microsoft YaHei" pitchFamily="34" charset="0"/><a:ea typeface="Microsoft YaHei" pitchFamily="34" charset="-122"/><a:cs typeface="Microsoft YaHei" pitchFamily="34" charset="-120"/></a:rPr><a:t>问题、缺陷报告与新研究线需求　→　核心线交接文档 handoff/yijun/</a:t></a:r><a:endParaRPr lang="en-US" sz="1100" dirty="0"/></a:p></p:txBody></p:sp></p:spTree></p:cSld><p:clrMapOvr><a:masterClrMapping/></p:clrMapOvr>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AiScientist 能力全览</dc:title>
  <dc:subject>PptxGenJS Presentation</dc:subject>
  <dc:creator>AiScientist</dc:creator>
  <cp:lastModifiedBy>AiScientist</cp:lastModifiedBy>
  <cp:revision>1</cp:revision>
  <dcterms:created xsi:type="dcterms:W3CDTF">2026-08-05T20:42:42Z</dcterms:created>
  <dcterms:modified xsi:type="dcterms:W3CDTF">2026-08-05T20:42:42Z</dcterms:modified>
</cp:coreProperties>
</file>