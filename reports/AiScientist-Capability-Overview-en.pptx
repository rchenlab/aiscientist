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4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Genes called significant</c:v>
                </c:pt>
              </c:strCache>
            </c:strRef>
          </c:tx>
          <c:spPr>
            <a:solidFill>
              <a:srgbClr val="17827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0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82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78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E3B2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Genes truly different</c:v>
                  </c:pt>
                  <c:pt idx="1">
                    <c:v>Wilcoxon over CELLS</c:v>
                  </c:pt>
                  <c:pt idx="2">
                    <c:v>Pseudobulk over DONORS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310</c:v>
                </c:pt>
                <c:pt idx="2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420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"/>
          <c:min val="0"/>
        </c:scaling>
        <c:delete val="0"/>
        <c:axPos val="l"/>
        <c:majorGridlines>
          <c:spPr>
            <a:ln w="12700" cap="flat">
              <a:solidFill>
                <a:srgbClr val="D9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KV cache (GiB)</c:v>
                </c:pt>
              </c:strCache>
            </c:strRef>
          </c:tx>
          <c:spPr>
            <a:solidFill>
              <a:srgbClr val="17827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0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A100 80GB (paid partition)</c:v>
                  </c:pt>
                  <c:pt idx="1">
                    <c:v>RTX PRO 6000 Blackwell 96GB (free partition)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47.8</c:v>
                </c:pt>
                <c:pt idx="1">
                  <c:v>58.8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Concurrency at full length</c:v>
                </c:pt>
              </c:strCache>
            </c:strRef>
          </c:tx>
          <c:spPr>
            <a:solidFill>
              <a:srgbClr val="C878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0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A100 80GB (paid partition)</c:v>
                  </c:pt>
                  <c:pt idx="1">
                    <c:v>RTX PRO 6000 Blackwell 96GB (free partition)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9.41</c:v>
                </c:pt>
                <c:pt idx="1">
                  <c:v>11.58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0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"><p:bg><p:bgPr><a:solidFill><a:srgbClr val="0E1B2B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566928" y="1874520"/><a:ext cx="11057839" cy="2743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200" b="1" spc="300" kern="0" dirty="0"><a:solidFill><a:srgbClr val="3FA9A2"/></a:solidFill><a:latin typeface="Calibri" pitchFamily="34" charset="0"/><a:ea typeface="Calibri" pitchFamily="34" charset="-122"/><a:cs typeface="Calibri" pitchFamily="34" charset="-120"/></a:rPr><a:t>UCI VISION &amp; OCULAR BIOLOGY LAB</a:t></a:r><a:endParaRPr lang="en-US" sz="1200" dirty="0"/></a:p></p:txBody></p:sp><p:sp><p:nvSpPr><p:cNvPr id="3" name="Text 1"></p:cNvPr><p:cNvSpPr/><p:nvPr></p:nvPr></p:nvSpPr><p:spPr><a:xfrm><a:off x="566928" y="2240280"/><a:ext cx="11057839" cy="137160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5000" b="1" dirty="0"><a:solidFill><a:srgbClr val="FFFFFF"/></a:solidFill><a:latin typeface="Cambria" pitchFamily="34" charset="0"/><a:ea typeface="Cambria" pitchFamily="34" charset="-122"/><a:cs typeface="Cambria" pitchFamily="34" charset="-120"/></a:rPr><a:t>AiScientist — Capability Overview</a:t></a:r><a:endParaRPr lang="en-US" sz="5000" dirty="0"/></a:p></p:txBody></p:sp><p:sp><p:nvSpPr><p:cNvPr id="4" name="Text 2"></p:cNvPr><p:cNvSpPr/><p:nvPr></p:nvPr></p:nvSpPr><p:spPr><a:xfrm><a:off x="566928" y="3657600"/><a:ext cx="8778240" cy="1005840"/></a:xfrm><a:prstGeom prst="rect"><a:avLst></a:avLst></a:prstGeom><a:noFill/><a:ln></a:ln></p:spPr><p:txBody><a:bodyPr wrap="square" lIns="0" tIns="0" rIns="0" bIns="0" rtlCol="0" anchor="ctr"></a:bodyPr><a:lstStyle/><a:p><a:pPr indent="0" marL="0"><a:lnSpc><a:spcPts val="2600"/></a:lnSpc><a:buNone/></a:pPr><a:r><a:rPr lang="en-US" sz="1600" dirty="0"><a:solidFill><a:srgbClr val="C7D0DB"/></a:solidFill><a:latin typeface="Calibri" pitchFamily="34" charset="0"/><a:ea typeface="Calibri" pitchFamily="34" charset="-122"/><a:cs typeface="Calibri" pitchFamily="34" charset="-120"/></a:rPr><a:t>A privacy-first, multi-agent bioinformatics research console. Ask a question, point it at data, get a reproducible analysis and a publication-shaped manuscript. This deck covers what exists today and how it works.</a:t></a:r><a:endParaRPr lang="en-US" sz="1600" dirty="0"/></a:p></p:txBody></p:sp><p:sp><p:nvSpPr><p:cNvPr id="5" name="Text 3"></p:cNvPr><p:cNvSpPr/><p:nvPr></p:nvPr></p:nvSpPr><p:spPr><a:xfrm><a:off x="566928" y="5715000"/><a:ext cx="11057839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dirty="0"><a:solidFill><a:srgbClr val="8C99A8"/></a:solidFill><a:latin typeface="Calibri" pitchFamily="34" charset="0"/><a:ea typeface="Calibri" pitchFamily="34" charset="-122"/><a:cs typeface="Calibri" pitchFamily="34" charset="-120"/></a:rPr><a:t><PUBLIC_HOSTNAME>　·　23 tools　·　7 preset pipelines　·　15 atomic skills　·　August 2026</a:t></a:r><a:endParaRPr lang="en-US" sz="1100" dirty="0"/></a:p></p:txBody></p:sp></p:spTree></p:cSld><p:clrMapOvr><a:masterClrMapping/></p:clrMapOvr>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What research can I do with it today? Six research lines — inputs, steps, deliverables.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How does a run work? PI → Scientist → Critic, plan review, DAG scheduling, specialists.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What is technically right about it? Statistical correctness, the offline annotation stack, phenotype reasoning, infrastructure.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Why trust it? The data boundary, anti-fabrication layers, deterministic guards, reproducibility.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818120" y="1691640"/>
            <a:ext cx="3806647" cy="1732788"/>
          </a:xfrm>
          <a:prstGeom prst="roundRect">
            <a:avLst>
              <a:gd name="adj" fmla="val 4222"/>
            </a:avLst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874520"/>
            <a:ext cx="325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numbers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12848"/>
            <a:ext cx="3258007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comes from the codebase as it stands or a measurement run on HPC3 / the eyeserver — none are estimates. What it cannot do gets its own page.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0"/>
            <a:ext cx="841248" cy="8412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01368" y="2395728"/>
            <a:ext cx="9823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research today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1368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research lines spanning single-cell expression, genomic variants, rare-disease diagnosis, perturbation screens and literature. Each has a preset protocol; each can also be driven by a free-form question.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research 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Cell-type annotation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scRNA / snRNA → QC, doublets, integration, clustering, markers, panel-based labels. Takes .h5ad, 10x, loom or a text matrix.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0410" y="1737360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8154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1" name="Text 9"/>
          <p:cNvSpPr/>
          <p:nvPr/>
        </p:nvSpPr>
        <p:spPr>
          <a:xfrm>
            <a:off x="458815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1930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 contrast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8154" y="2514600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vs control, KO vs WT, stratified by cell type. Pseudobulk when there are biological replicates; when there aren't, it says the comparison is descriptive.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3893" y="1737360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1637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6" name="Text 14"/>
          <p:cNvSpPr/>
          <p:nvPr/>
        </p:nvSpPr>
        <p:spPr>
          <a:xfrm>
            <a:off x="8371637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5413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annotation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71637" y="2514600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VCF → offline VEP + ClinVar + gnomAD + CADD / REVEL / AlphaMissense. WGS scale, every passing variant, no cap.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963924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4183380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Rare-disease diagnosis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4741164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VCF plus a clinical note in any language → a variant shortlist and an HPO/LIRICAL disease differential, two independent tracks that meet at the end.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0410" y="3963924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8154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6" name="Text 24"/>
          <p:cNvSpPr/>
          <p:nvPr/>
        </p:nvSpPr>
        <p:spPr>
          <a:xfrm>
            <a:off x="4588154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81930" y="4183380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Perturbation screens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8154" y="4741164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Perturb-seq / CROP-seq: rank perturbations by E-distance, then run per-guide DE against the shared non-targeting control.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3893" y="3963924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71637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1" name="Text 29"/>
          <p:cNvSpPr/>
          <p:nvPr/>
        </p:nvSpPr>
        <p:spPr>
          <a:xfrm>
            <a:off x="8371637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5413" y="4183380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retrieval &amp; QA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71637" y="4741164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PMC keyword retrieval plus PaperQA2 full-text RAG, running on the on-campus model and local embeddings — the corpus never leaves.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LINE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Single-cell cell-type annotation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QC + doublets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44568" y="175564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metrics, filtering, normalisation, log1p, HVG; raw counts preserved in layers['counts']. Scrublet scores and removes doublets — left in, they form an 'intermediate' cluster that reads as a novel transitional cell type.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7860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whenever the object holds more than one sample. Harmony if harmonypy is installed, else scanpy's own ComBat; reports which one actually ran and the batch silhouette before and after — a warning fires if it does not drop.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340156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→ neighbour graph → Leiden → UMAP. The resolution can be selected by a bootstrap-ARI stability sweep — the finest resolution whose clusters still reproduce under resampling, rather than a default of 1.0.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Marker genes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422452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rank_genes_groups. It also writes the complete ranked list per group and the real tested universe, which preranked GSEA and the ORA background both need.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labels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scores give a first pass; the final call comes from raw marker expression with a dominance ratio. Clusters with no coherent signal stay Unassigned, and clusters the raw check corrected are reported separately.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LINE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 vs control differential expression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design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44568" y="175564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column, the reference (control) level and the cell-type column are read from the obs metadata. 'Analyse this dataset' is enough — the data itself defines the experiment.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test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7860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samples per arm → pseudobulk: aggregate raw counts per sample, then test. 1 sample per arm → state plainly that the comparison is descriptive; no invalid inferential p-values are produced.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Stratify by cell type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340156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type is contrasted independently. Types without enough samples land in skipped_groups and are reported — 'we could not test this one' is a finding about the study, not an implementation detail.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 shifts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422452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populations change in proportion, tested on centered-log-ratio values: proportions sum to 1, so testing them raw makes every population look coupled to every other.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Pathway interpretation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against the real tested universe, plus preranked GSEA over the complete ranking with a signed NES. Different inputs and different nulls — agreement is not required, and null findings are retained.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LINE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annotation: WGS scale, fully offline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Callset QC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44568" y="175564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Ti/Tv, Het/Hom, the SNP / indel / multiallelic split, call rate. A flagged callset caveats everything downstream of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first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7860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genes first for a Mendelian study: pass a gene list or a panel BED — the offline line restricts BEFORE VEP, a large compute saving on a WGS VCF. Variants above 1% gnomAD AF are dropped.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340156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assembly is auto-detected from the VCF header (both GRCh37 and GRCh38). bcftools PASS filter → offline VEP --cache --fork as a Slurm CPU job. Every passing variant, no cap, no network dependency.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Predictors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422452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 clinical significance, gnomAD frequency, CADD, REVEL, AlphaMissense. SpliceAI (OpenSpliceAI with the OSAI-MANE models) is installed and verified, gated off by default.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tables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writes the complete per-variant table plus five deliverables: consequence distribution, impact distribution, clinical-significance distribution, ClinVar pathogenic variants, and the rare-unclassified high-priority shortlist.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LINE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Rare-disease diagnosis: two independent tracks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tracks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44568" y="175564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variant shortlist alone cannot say WHICH disease; a phenotype alone cannot say WHICH variant — inherited retinal disease symptoms overlap heavily. Reconciling the two is the diagnosis.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A — variants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7860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line-3 protocol and produces the prioritised shortlist.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B — phenotype → HPO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340156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note (Chinese, English, informal — all fine) → the LLM extracts phrases and negation, the ONTOLOGY owns the IDs: the model picks a candidate number and never types an HPO ID. IDs one digit apart are different real phenotypes. Unmapped phrases are reported.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B — differential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422452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LIRICAL v2 scores genotype-aware from those HPO terms — reading the raw VCF through its own Exomiser database — and returns a post-test probability per disease. Findings stated as ABSENT are evidence too, and push diseases down.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tracks are independent and only meet at the final step. Confidence comes from LIRICAL's statistics, not from the model's tone.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LINES 5 AND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Perturbation screens · Literature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screens (Perturb-seq / CROP-seq)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E-distance — which perturbations genuinely reshaped the transcriptome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Per-perturbation DE against the shared non-targeting control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Mixscape: label and drop the 'escaping' cells that were not effectively edited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reality that most guides have no effect — a null result is expected, not a failure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2444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literature_search — Europe PMC keyword retrieval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deep_literature — PaperQA2 full-text RAG on the on-campus Qwen and local embeddings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are built at run time from accepted findings, not templated from the question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manuscript's reference list is generated deterministically from accepted citations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leaves campus is a bare filename and the question — never data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run produces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violins and scatters, UMAPs by cluster and by label, marker dot plots, rank plots, enrichment bars. All rendered deterministically by scanpy / matplotlib — not one figure is drawn by a model.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0410" y="1737360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8154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1" name="Text 9"/>
          <p:cNvSpPr/>
          <p:nvPr/>
        </p:nvSpPr>
        <p:spPr>
          <a:xfrm>
            <a:off x="458815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1930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8154" y="2514600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DE tables, the complete ranked lists, the tested universe, ORA and GSEA tables, the resolution sweep, the cluster→cell-type mapping with an evidence column, composition, and the five variant tables.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3893" y="1737360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1637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6" name="Text 14"/>
          <p:cNvSpPr/>
          <p:nvPr/>
        </p:nvSpPr>
        <p:spPr>
          <a:xfrm>
            <a:off x="8371637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5413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Manuscript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71637" y="2514600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DOCX via pandoc + XeLaTeX in publication shape, embedding the exact figures and tables the tools produced, with a formatted reference section. The render itself is entirely AI-free.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963924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4183380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report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4741164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degradations, skipped groups, tool errors and parameter provenance all live here. The final manuscript renders clean — degradations do not bleed into the prose.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0410" y="3963924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8154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6" name="Text 24"/>
          <p:cNvSpPr/>
          <p:nvPr/>
        </p:nvSpPr>
        <p:spPr>
          <a:xfrm>
            <a:off x="4588154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81930" y="4183380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Downloadable bundle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8154" y="4741164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runs/console/&lt;user&gt;/&lt;run_id&gt;/ directory packages for download. The report can be regenerated without re-running the analysis.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3893" y="3963924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71637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1" name="Text 29"/>
          <p:cNvSpPr/>
          <p:nvPr/>
        </p:nvSpPr>
        <p:spPr>
          <a:xfrm>
            <a:off x="8371637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5413" y="4183380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schematic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71637" y="4741164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make_schematic draws a deterministic graphviz diagram of the steps this run actually executed.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cannot do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transcriptomics: no curated tool line (possible via run_code, but with no protocol behind it).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Multi-omic joint modelling (paired ATAC + RNA): no tooling.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/ pseudotime inference: no tooling.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GRCh37 predictor panel: CADD / REVEL / AlphaMissense are GRCh38-only today, so an hg19 VCF gets no predictor scores.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with no OMIM disease entry: the phenotype line structurally cannot rank them; they need a variant-first route.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contrasts with no biological replicates: the system refuses inferential p-values rather than producing invalid ones.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Render-level layout defects (clipped tables, colliding captions): these need a vision model to inspect the rendered PDF; built, gated off.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18120" y="1691640"/>
            <a:ext cx="3806647" cy="1517904"/>
          </a:xfrm>
          <a:prstGeom prst="roundRect">
            <a:avLst>
              <a:gd name="adj" fmla="val 4819"/>
            </a:avLst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874520"/>
            <a:ext cx="325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page exists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12848"/>
            <a:ext cx="325800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 gap here is better than a user hitting it mid-run. This page changes as development proceeds.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0"/>
            <a:ext cx="841248" cy="8412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01368" y="2395728"/>
            <a:ext cx="9823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run works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1368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agent team: the PI plans, the Scientist executes by calling tools, the Critic judges each step. The human gets one chance to intervene, at plan time.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from login to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 &amp; connect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44568" y="175564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are admin-created; there is no self-signup (@uci.edu to register). The console SSHes to HPC3 with your UCInetID and an interactive Duo prompt. HPC3 credentials are never stored — only a bcrypt hash of the app password lives in the database.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the model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7860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per-user Slurm GPU job serves Qwen3.6-35B-A3B-AWQ through vLLM inside Singularity on an OpenAI-compatible /v1 endpoint and a dynamic port; the console SSH-tunnels to it. Jobs are strictly per-user isolated (squeue --me).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data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340156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resumable chunked upload streams the file straight into your own HPC3 area. The gateway keeps no copy.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lab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422452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plans → plan mode pauses for human review and editing → Scientist executes → Critic judges → the loop converges. Progress streams per role, token by token, including the model's visible thinking.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results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Figures, tables, the PDF / DOCX manuscript and a downloadable bundle, all under runs/console/&lt;user&gt;/&lt;run_id&gt;/. The report can be regenerated without re-running the analysis.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 → Scientist → Critic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490874" cy="4160520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Investigator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301538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question into an ordered agenda of concrete steps, reading the dataset's obs metadata to infer the experimental design. Plan mode pauses here for a human.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0410" y="1737360"/>
            <a:ext cx="3490874" cy="4160520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8154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1" name="Text 9"/>
          <p:cNvSpPr/>
          <p:nvPr/>
        </p:nvSpPr>
        <p:spPr>
          <a:xfrm>
            <a:off x="458815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1930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8154" y="2514600"/>
            <a:ext cx="301538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step by step: calls one or more tools per turn and reads each result before continuing. Its context is budgeted in code — history is compressed rather than truncated, with succeeded results kept as digests and failed ones as a one-line marker.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3893" y="1737360"/>
            <a:ext cx="3490874" cy="4160520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1637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6" name="Text 14"/>
          <p:cNvSpPr/>
          <p:nvPr/>
        </p:nvSpPr>
        <p:spPr>
          <a:xfrm>
            <a:off x="8371637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5413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71637" y="2514600"/>
            <a:ext cx="301538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each step accept / revise with a score and a specific critique. A deterministic guard is the floor: the model-critic cannot accept a step whose tool errored or returned nothing — it cannot rubber-stamp a failure.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mode: before anything runs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PI has drafted the agenda the run pauses and shows you the whole plan — a gate before execution, not a notification after it.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edit steps, add or remove them, change parameters, or cancel outright.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forks are asked explicitly — for example: reuse the cell-type labels already in the data, or re-cluster from scratch?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instruction can be injected mid-run without restarting it.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actually scancels the job on HPC3 — it does not merely disconnect the front end.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step ceiling or at a milestone, the run can pause for an active compaction — for long-horizon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18120" y="1691640"/>
            <a:ext cx="3806647" cy="1517904"/>
          </a:xfrm>
          <a:prstGeom prst="roundRect">
            <a:avLst>
              <a:gd name="adj" fmla="val 4819"/>
            </a:avLst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874520"/>
            <a:ext cx="325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posture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12848"/>
            <a:ext cx="325800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design posture as the Duo prompt: give the human one chance to intervene before anything irreversible happens.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0.2.0 CAPABILITIES (FEATURE-FLAGGED, DEFAULT OFF)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DAG planning and real multi-agent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scheduling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pass turns the agenda into a task graph with explicit dependencies (LabPlan / TaskNode)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ready-set scheduler runs each node as soon as its prerequisites complete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per-node briefs — 'do ONLY this task; earlier outputs already exist' — structurally cure the step-1-runs-everything failure mode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branches such as literature versus analysis run in parallel when their mutable footprints are disjoint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2444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and memory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Coordinator picks the next ready task and specialists claim by expertise fit — real multi-agent, not a fixed router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specialists: QC &amp; preprocessing, clustering &amp; cell type, pathway &amp; enrichment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specialist keeps a private, disk-backed memory (episodes.jsonl plus a distilled lessons.md)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Recalled into its brief and reflected on across runs — in-context learning on frozen weights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off means the 0.1.0 linear pipeline runs unchanged — behaviour is identical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 disclosure: 15 atomic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layers: a fixed core tool registry, rewritable atomic skills, and fixed preset pipelines.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carries only the manifest — a name and a one-line summary. Bodies and code enter context only when actually used.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search_skills(query) finds by keyword; read_skill_reference(name) fetches the guidance; adding file= fetches the runnable code.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versioned: a new one declares supersedes in its frontmatter, the manifest advertises only the newer version, and the older stays on disk, loadable by name for rollback.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skills cover VCF normalisation and QC, clinical variant tiering, TileDB-VCF cohort databases, signature scoring, condition-by-cell-type contrasts, perturbation E-distance, Mixscape escape filtering, and scGPT-vs-Leiden cross-validation.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18120" y="1691640"/>
            <a:ext cx="3806647" cy="1517904"/>
          </a:xfrm>
          <a:prstGeom prst="roundRect">
            <a:avLst>
              <a:gd name="adj" fmla="val 4819"/>
            </a:avLst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874520"/>
            <a:ext cx="325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12848"/>
            <a:ext cx="325800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is to spend the context window on this study rather than on the full text of fifteen skills.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0"/>
            <a:ext cx="841248" cy="8412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01368" y="2395728"/>
            <a:ext cx="9823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detail: the analysis engine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1368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Twenty-three curated tools. This part is not a feature list — it is why each critical step is done the way it is. On this chain, getting it wrong does not raise an error; it returns a self-consistent wrong answer.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tools, by category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5394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inspect_dataset · run_qc · run_scanpy_qc · run_doublet_detection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preflight, per-cell metrics, filter/normalise/HVG, Scrublet doublets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run_integration · run_clustering · run_de · run_pseudobulk_de · run_composition · run_marker_annotation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integration, Leiden clustering, marker DE, sample-level condition contrast, composition, panel-based labelling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run_enrichment · run_gsea_prerank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ORA against local .gmt with the real tested universe as background, and preranked GSEA over the whole ranking with a signed 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 / phenotype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annotate_variants · map_phenotype_to_hpo · run_lirical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VEP plus the predictor panel, free-text→HPO ontology mapping, and LIRICAL genotype-aware disease ranking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Annotation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scgpt_annotate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scGPT foundation-model per-cell annotation, run as a separate short-lived GPU batch job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literature_search · deep_literature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 PMC keyword retrieval; PaperQA2 full-text RAG on the on-campus model and local embeddings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execution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CodeAct sandbox that reads this run's data and checkpoints, writes new artifacts, and has a real memory cap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Introspection / figure /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read_tool_source · read_skill_reference · search_skills · make_schematic · finish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 tool's own source, fetch skills progressively, draw a deterministic workflow diagram, and finish with the answer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94360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marked reads_private_data touch the expression matrix; only the two pathway tools do not — they see gene symbols alone.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CORRECTNESS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condition contrast: cells are not replicates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783080"/>
            <a:ext cx="3989527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synthetic 4-donor design, exactly 1 of 400 genes was made truly different between the arms.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cell-level Wilcoxon called 310 significant — 78%.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 is pseudoreplication: cells from one donor are not independent observations of that donor's condition. Treating 5,000 cells as 5,000 replicates makes the p-values wrong by orders of magnitude.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Pseudobulk called 0 — and ranked the true gene #1. At n=2 versus 2 there is genuinely no power, and that is the honest answer.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run_de is valid for markers (one cluster versus the rest). It is not valid for a condition.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CORRECTNESS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Enrichment: the background is a parameter, not a formality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5783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ORA p-value is a hypergeometric tail against the background universe. Get the background wrong and every term's significance is wrong with it.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used to be the constant 20000 — 'roughly the number of human genes'. It is now the real tested universe that run_de writes out.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runs one way — it makes everything look more significant, because a larger assumed universe implies a smaller expected overlap. For a 500-gene set, a 50-gene list and an overlap of 8: p = 3.1e-05 assuming 20,000, but p = 0.053 against a real universe of 6,000. Same data; one is a hard result, the other is not significant at all.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reports background_source, so a reader can see what the p-values were actually computed against.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Preranked GSEA was also added: it walks the complete ranked list, so it sees coordinated shifts that no per-gene cutoff would keep, and returns a signed NES. ORA and GSEA use different inputs and different nulls — they are not required to agree, and disagreement is not treated as an error.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CORRECTNESS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resolution: chosen, not defaulted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5783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cell-type label assigned later inherits this partition, so an unexamined resolution is an unexamined assumption inside every label.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method: for each candidate resolution, re-cluster many resampled subsets and score agreement with the full-data partition by adjusted Rand index; the mean is the stability score.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is the FINEST resolution that still reproduces, not the most stable — taking the most stable would always return the coarsest.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single-cluster partition is excluded from selection: it reproduces exactly under any resample, so its ARI is exactly 1.0 and it clears every floor. On weak data it would always win — and 'one cluster, perfectly stable' is not a clustering, it is the absence of one.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sweep is written to disk — cluster count, mean stability and s.d. per resolution — including the excluded degenerate partitions, because seeing them is how a run gets diagnosed.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reports resolution_source, so a write-up can distinguish 'the default was used' from 'the finest reproducible value was selected'.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CORRECTNESS 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Labelling: shared markers give confident wrong labels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5783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load-bearing idea: signature scores alone will mislabel lineages that share markers. Per-cell-type z-scoring inflates weak and even ambient signal into confident-looking maxima.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z-argmax is a first pass only. The final call comes from the raw log-normalised expression of a few lineage-specific discriminators, and it must beat the runner-up by a dominance ratio.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examples: LAMP3 sits in both the AT2 and dendritic-cell panels; SLC1A3 sits in both Müller glia and astrocyte. Whichever list happens to overlap by one more gene wins — a naive counter cannot represent the ambiguity at all.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first pass and the raw check disagree, BOTH calls are kept and reported. That disagreement is evidence about the data; keeping only the winner destroys it.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 with no dominant signal stays Unassigned — most likely low-quality or a doublet. Forcing a label is exactly how a doublet cluster becomes a named cell type in a figure.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 itself must be supplied and must match the tissue: there is no safe default, and a panel from another tissue produces confident wrong labels.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CORRECTNESS 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Doublets and batch: two silent sources of false biology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cells in one droplet express both parents' programmes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land between the parent clusters and look like a plausible 'transitional' population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classic way a single-cell analysis invents a population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Scrublet scores on raw counts and filters by default; a rate above 20% raises a warning — that usually means the threshold, not the biology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2444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donor effect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integration, a multi-sample object clusters by donor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cell-type label below it is then really a donor label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crucial part: there is no symptom — donor-driven clusters look exactly as clean as biology-driven ones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reports the batch silhouette before and after; if it does not drop, a warning makes that failure visible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offline annotation stack (all on HPC3)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840480"/>
                <a:gridCol w="47548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Annotation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 VEP（offline --cache --fork）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REST route rate-limits and truncates a WGS VCF to a few hundred variants; the offline cache has no cap, no network and is reproducible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GRCh37 and GRCh38 caches, auto-detected from the VCF header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Getting it wrong misassigns roughly 90% of genes — and raises no 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significance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ClinVar VCF（两个装配各一份，带 .tbi）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 locally with its index; an unbound index silently drops the annotation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Deleteriousness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CADD · REVEL · AlphaMissense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as VEP plugins to avoid a second pass; currently hard-gated to GRCh38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OpenSpliceAI + OSAI-MANE 模型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inside vep.sif, verified (DS_DL 0.917 / 0.755); gated off by 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gnomAD（max_pop_af 阈值）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variant above 1% cannot cause a rare disease; novel variants with no frequency are kept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TileDB-VCF（原子技能）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scalable variant database for multi-sample cohorts and cross-sample queries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 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text → HPO → disease differential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split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44568" y="175564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extracts phrases and negation; the ontology owns the IDs. The model picks a number from retrieved candidates and never types an HPO ID itself.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that split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7860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HP:0000662 (nyctalopia) and HP:0000622 (blurred vision) differ by one digit and are both real. A wrong-but-real ID raises no error — it silently produces a wrong differential.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language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340156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Chinese, English or informal phrasing all work; the lexicon is committed with the repo, so it runs fully offline.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is evidence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422452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the text states as ABSENT ('hearing is normal') is passed through as an excluded term, and LIRICAL uses it to push those diseases down.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LIRICAL v2 scores genotype-aware, reading the raw VCF through its own Exomiser database, and returns a post-test probability per disease. Confidence is a statistic, not the model's wording.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0"/>
            <a:ext cx="841248" cy="8412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01368" y="2395728"/>
            <a:ext cx="9823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1368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tiers: an on-campus web console, and Slurm plus Singularity compute on UCI HPC3. Heavy work never runs silently on the web server.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8"><p:bg><p:bgPr><a:solidFill><a:srgbClr val="F6F7F9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566928" y="384048"/><a:ext cx="11057839" cy="237744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b="1" spc="200" kern="0" dirty="0"><a:solidFill><a:srgbClr val="17827C"/></a:solidFill><a:latin typeface="Calibri" pitchFamily="34" charset="0"/><a:ea typeface="Calibri" pitchFamily="34" charset="-122"/><a:cs typeface="Calibri" pitchFamily="34" charset="-120"/></a:rPr><a:t>ARCHITECTURE</a:t></a:r><a:endParaRPr lang="en-US" sz="1100" dirty="0"/></a:p></p:txBody></p:sp><p:sp><p:nvSpPr><p:cNvPr id="3" name="Text 1"></p:cNvPr><p:cNvSpPr/><p:nvPr></p:nvPr></p:nvSpPr><p:spPr><a:xfrm><a:off x="566928" y="658368"/><a:ext cx="11057839" cy="777240"/></a:xfrm><a:prstGeom prst="rect"><a:avLst></a:avLst></a:prstGeom><a:noFill/><a:ln></a:ln></p:spPr><p:txBody><a:bodyPr wrap="square" lIns="0" tIns="0" rIns="0" bIns="0" rtlCol="0" anchor="t"></a:bodyPr><a:lstStyle/><a:p><a:pPr indent="0" marL="0"><a:buNone/></a:pPr><a:r><a:rPr lang="en-US" sz="3000" b="1" dirty="0"><a:solidFill><a:srgbClr val="14202F"/></a:solidFill><a:latin typeface="Cambria" pitchFamily="34" charset="0"/><a:ea typeface="Cambria" pitchFamily="34" charset="-122"/><a:cs typeface="Cambria" pitchFamily="34" charset="-120"/></a:rPr><a:t>Two tiers, decoupled by SSH tunnels</a:t></a:r><a:endParaRPr lang="en-US" sz="3000" dirty="0"/></a:p></p:txBody></p:sp><p:sp><p:nvSpPr><p:cNvPr id="4" name="Shape 2"></p:cNvPr><p:cNvSpPr/><p:nvPr></p:nvPr></p:nvSpPr><p:spPr><a:xfrm><a:off x="566928" y="1792224"/><a:ext cx="420624" cy="420624"/></a:xfrm><a:prstGeom prst="ellipse"><a:avLst></a:avLst></a:prstGeom><a:solidFill><a:srgbClr val="17827C"/></a:solidFill><a:ln></a:ln></p:spPr></p:sp><p:sp><p:nvSpPr><p:cNvPr id="5" name="Text 3"></p:cNvPr><p:cNvSpPr/><p:nvPr></p:nvPr></p:nvSpPr><p:spPr><a:xfrm><a:off x="566928" y="1792224"/><a:ext cx="420624" cy="420624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300" b="1" dirty="0"><a:solidFill><a:srgbClr val="FFFFFF"/></a:solidFill><a:latin typeface="Calibri" pitchFamily="34" charset="0"/><a:ea typeface="Calibri" pitchFamily="34" charset="-122"/><a:cs typeface="Calibri" pitchFamily="34" charset="-120"/></a:rPr><a:t>1</a:t></a:r><a:endParaRPr lang="en-US" sz="1300" dirty="0"/></a:p></p:txBody></p:sp><p:sp><p:nvSpPr><p:cNvPr id="6" name="Text 4"></p:cNvPr><p:cNvSpPr/><p:nvPr></p:nvPr></p:nvSpPr><p:spPr><a:xfrm><a:off x="1225296" y="1755648"/><a:ext cx="3200400" cy="384048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450" b="1" dirty="0"><a:solidFill><a:srgbClr val="14202F"/></a:solidFill><a:latin typeface="Cambria" pitchFamily="34" charset="0"/><a:ea typeface="Cambria" pitchFamily="34" charset="-122"/><a:cs typeface="Cambria" pitchFamily="34" charset="-120"/></a:rPr><a:t>Browser</a:t></a:r><a:endParaRPr lang="en-US" sz="1450" dirty="0"/></a:p></p:txBody></p:sp><p:sp><p:nvSpPr><p:cNvPr id="7" name="Text 5"></p:cNvPr><p:cNvSpPr/><p:nvPr></p:nvPr></p:nvSpPr><p:spPr><a:xfrm><a:off x="4544568" y="1755648"/><a:ext cx="7080199" cy="918972"/></a:xfrm><a:prstGeom prst="rect"><a:avLst></a:avLst></a:prstGeom><a:noFill/><a:ln></a:ln></p:spPr><p:txBody><a:bodyPr wrap="square" lIns="0" tIns="0" rIns="0" bIns="0" rtlCol="0" anchor="t"></a:bodyPr><a:lstStyle/><a:p><a:pPr indent="0" marL="0"><a:lnSpc><a:spcPts val="1800"/></a:lnSpc><a:buNone/></a:pPr><a:r><a:rPr lang="en-US" sz="1250" dirty="0"><a:solidFill><a:srgbClr val="5A6675"/></a:solidFill><a:latin typeface="Calibri" pitchFamily="34" charset="0"/><a:ea typeface="Calibri" pitchFamily="34" charset="-122"/><a:cs typeface="Calibri" pitchFamily="34" charset="-120"/></a:rPr><a:t>HTTPS → the Envoy Gateway at <PUBLIC_HOSTNAME>, reachable from the UCI campus network or VPN.</a:t></a:r><a:endParaRPr lang="en-US" sz="1250" dirty="0"/></a:p></p:txBody></p:sp><p:sp><p:nvSpPr><p:cNvPr id="8" name="Shape 6"></p:cNvPr><p:cNvSpPr/><p:nvPr></p:nvPr></p:nvSpPr><p:spPr><a:xfrm><a:off x="566928" y="2820924"/><a:ext cx="420624" cy="420624"/></a:xfrm><a:prstGeom prst="ellipse"><a:avLst></a:avLst></a:prstGeom><a:solidFill><a:srgbClr val="17827C"/></a:solidFill><a:ln></a:ln></p:spPr></p:sp><p:sp><p:nvSpPr><p:cNvPr id="9" name="Text 7"></p:cNvPr><p:cNvSpPr/><p:nvPr></p:nvPr></p:nvSpPr><p:spPr><a:xfrm><a:off x="566928" y="2820924"/><a:ext cx="420624" cy="420624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300" b="1" dirty="0"><a:solidFill><a:srgbClr val="FFFFFF"/></a:solidFill><a:latin typeface="Calibri" pitchFamily="34" charset="0"/><a:ea typeface="Calibri" pitchFamily="34" charset="-122"/><a:cs typeface="Calibri" pitchFamily="34" charset="-120"/></a:rPr><a:t>2</a:t></a:r><a:endParaRPr lang="en-US" sz="1300" dirty="0"/></a:p></p:txBody></p:sp><p:sp><p:nvSpPr><p:cNvPr id="10" name="Text 8"></p:cNvPr><p:cNvSpPr/><p:nvPr></p:nvPr></p:nvSpPr><p:spPr><a:xfrm><a:off x="1225296" y="2784348"/><a:ext cx="3200400" cy="384048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450" b="1" dirty="0"><a:solidFill><a:srgbClr val="14202F"/></a:solidFill><a:latin typeface="Cambria" pitchFamily="34" charset="0"/><a:ea typeface="Cambria" pitchFamily="34" charset="-122"/><a:cs typeface="Cambria" pitchFamily="34" charset="-120"/></a:rPr><a:t>eyeserver</a:t></a:r><a:endParaRPr lang="en-US" sz="1450" dirty="0"/></a:p></p:txBody></p:sp><p:sp><p:nvSpPr><p:cNvPr id="11" name="Text 9"></p:cNvPr><p:cNvSpPr/><p:nvPr></p:nvPr></p:nvSpPr><p:spPr><a:xfrm><a:off x="4544568" y="2784348"/><a:ext cx="7080199" cy="918972"/></a:xfrm><a:prstGeom prst="rect"><a:avLst></a:avLst></a:prstGeom><a:noFill/><a:ln></a:ln></p:spPr><p:txBody><a:bodyPr wrap="square" lIns="0" tIns="0" rIns="0" bIns="0" rtlCol="0" anchor="t"></a:bodyPr><a:lstStyle/><a:p><a:pPr indent="0" marL="0"><a:lnSpc><a:spcPts val="1800"/></a:lnSpc><a:buNone/></a:pPr><a:r><a:rPr lang="en-US" sz="1250" dirty="0"><a:solidFill><a:srgbClr val="5A6675"/></a:solidFill><a:latin typeface="Calibri" pitchFamily="34" charset="0"/><a:ea typeface="Calibri" pitchFamily="34" charset="-122"/><a:cs typeface="Calibri" pitchFamily="34" charset="-120"/></a:rPr><a:t>A FastAPI + WebSocket console (a systemd service with Postgres): accounts, chat history, uploads, orchestration and report assembly. It holds no GPU and keeps no persistent copy of a dataset.</a:t></a:r><a:endParaRPr lang="en-US" sz="1250" dirty="0"/></a:p></p:txBody></p:sp><p:sp><p:nvSpPr><p:cNvPr id="12" name="Shape 10"></p:cNvPr><p:cNvSpPr/><p:nvPr></p:nvPr></p:nvSpPr><p:spPr><a:xfrm><a:off x="566928" y="3849624"/><a:ext cx="420624" cy="420624"/></a:xfrm><a:prstGeom prst="ellipse"><a:avLst></a:avLst></a:prstGeom><a:solidFill><a:srgbClr val="17827C"/></a:solidFill><a:ln></a:ln></p:spPr></p:sp><p:sp><p:nvSpPr><p:cNvPr id="13" name="Text 11"></p:cNvPr><p:cNvSpPr/><p:nvPr></p:nvPr></p:nvSpPr><p:spPr><a:xfrm><a:off x="566928" y="3849624"/><a:ext cx="420624" cy="420624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300" b="1" dirty="0"><a:solidFill><a:srgbClr val="FFFFFF"/></a:solidFill><a:latin typeface="Calibri" pitchFamily="34" charset="0"/><a:ea typeface="Calibri" pitchFamily="34" charset="-122"/><a:cs typeface="Calibri" pitchFamily="34" charset="-120"/></a:rPr><a:t>3</a:t></a:r><a:endParaRPr lang="en-US" sz="1300" dirty="0"/></a:p></p:txBody></p:sp><p:sp><p:nvSpPr><p:cNvPr id="14" name="Text 12"></p:cNvPr><p:cNvSpPr/><p:nvPr></p:nvPr></p:nvSpPr><p:spPr><a:xfrm><a:off x="1225296" y="3813048"/><a:ext cx="3200400" cy="384048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450" b="1" dirty="0"><a:solidFill><a:srgbClr val="14202F"/></a:solidFill><a:latin typeface="Cambria" pitchFamily="34" charset="0"/><a:ea typeface="Cambria" pitchFamily="34" charset="-122"/><a:cs typeface="Cambria" pitchFamily="34" charset="-120"/></a:rPr><a:t>HPC3</a:t></a:r><a:endParaRPr lang="en-US" sz="1450" dirty="0"/></a:p></p:txBody></p:sp><p:sp><p:nvSpPr><p:cNvPr id="15" name="Text 13"></p:cNvPr><p:cNvSpPr/><p:nvPr></p:nvPr></p:nvSpPr><p:spPr><a:xfrm><a:off x="4544568" y="3813048"/><a:ext cx="7080199" cy="918972"/></a:xfrm><a:prstGeom prst="rect"><a:avLst></a:avLst></a:prstGeom><a:noFill/><a:ln></a:ln></p:spPr><p:txBody><a:bodyPr wrap="square" lIns="0" tIns="0" rIns="0" bIns="0" rtlCol="0" anchor="t"></a:bodyPr><a:lstStyle/><a:p><a:pPr indent="0" marL="0"><a:lnSpc><a:spcPts val="1800"/></a:lnSpc><a:buNone/></a:pPr><a:r><a:rPr lang="en-US" sz="1250" dirty="0"><a:solidFill><a:srgbClr val="5A6675"/></a:solidFill><a:latin typeface="Calibri" pitchFamily="34" charset="0"/><a:ea typeface="Calibri" pitchFamily="34" charset="-122"/><a:cs typeface="Calibri" pitchFamily="34" charset="-120"/></a:rPr><a:t>SSH plus Duo, one tunnel per session. All heavy work is submitted as Slurm jobs: the vLLM GPU serve, run_code, scanpy analysis, pandoc/XeLaTeX rendering, scGPT and VL review — every one Singularity-contained.</a:t></a:r><a:endParaRPr lang="en-US" sz="1250" dirty="0"/></a:p></p:txBody></p:sp><p:sp><p:nvSpPr><p:cNvPr id="16" name="Shape 14"></p:cNvPr><p:cNvSpPr/><p:nvPr></p:nvPr></p:nvSpPr><p:spPr><a:xfrm><a:off x="566928" y="4878324"/><a:ext cx="420624" cy="420624"/></a:xfrm><a:prstGeom prst="ellipse"><a:avLst></a:avLst></a:prstGeom><a:solidFill><a:srgbClr val="17827C"/></a:solidFill><a:ln></a:ln></p:spPr></p:sp><p:sp><p:nvSpPr><p:cNvPr id="17" name="Text 15"></p:cNvPr><p:cNvSpPr/><p:nvPr></p:nvPr></p:nvSpPr><p:spPr><a:xfrm><a:off x="566928" y="4878324"/><a:ext cx="420624" cy="420624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300" b="1" dirty="0"><a:solidFill><a:srgbClr val="FFFFFF"/></a:solidFill><a:latin typeface="Calibri" pitchFamily="34" charset="0"/><a:ea typeface="Calibri" pitchFamily="34" charset="-122"/><a:cs typeface="Calibri" pitchFamily="34" charset="-120"/></a:rPr><a:t>4</a:t></a:r><a:endParaRPr lang="en-US" sz="1300" dirty="0"/></a:p></p:txBody></p:sp><p:sp><p:nvSpPr><p:cNvPr id="18" name="Text 16"></p:cNvPr><p:cNvSpPr/><p:nvPr></p:nvPr></p:nvSpPr><p:spPr><a:xfrm><a:off x="1225296" y="4841748"/><a:ext cx="3200400" cy="384048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450" b="1" dirty="0"><a:solidFill><a:srgbClr val="14202F"/></a:solidFill><a:latin typeface="Cambria" pitchFamily="34" charset="0"/><a:ea typeface="Cambria" pitchFamily="34" charset="-122"/><a:cs typeface="Cambria" pitchFamily="34" charset="-120"/></a:rPr><a:t>Storage</a:t></a:r><a:endParaRPr lang="en-US" sz="1450" dirty="0"/></a:p></p:txBody></p:sp><p:sp><p:nvSpPr><p:cNvPr id="19" name="Text 17"></p:cNvPr><p:cNvSpPr/><p:nvPr></p:nvPr></p:nvSpPr><p:spPr><a:xfrm><a:off x="4544568" y="4841748"/><a:ext cx="7080199" cy="918972"/></a:xfrm><a:prstGeom prst="rect"><a:avLst></a:avLst></a:prstGeom><a:noFill/><a:ln></a:ln></p:spPr><p:txBody><a:bodyPr wrap="square" lIns="0" tIns="0" rIns="0" bIns="0" rtlCol="0" anchor="t"></a:bodyPr><a:lstStyle/><a:p><a:pPr indent="0" marL="0"><a:lnSpc><a:spcPts val="1800"/></a:lnSpc><a:buNone/></a:pPr><a:r><a:rPr lang="en-US" sz="1250" dirty="0"><a:solidFill><a:srgbClr val="5A6675"/></a:solidFill><a:latin typeface="Calibri" pitchFamily="34" charset="0"/><a:ea typeface="Calibri" pitchFamily="34" charset="-122"/><a:cs typeface="Calibri" pitchFamily="34" charset="-120"/></a:rPr><a:t>Datasets and artifacts stay in your own area on the /dfs3b lab storage; reference data — VEP caches, ClinVar, predictors, Exomiser — lives centrally in the shared area.</a:t></a:r><a:endParaRPr lang="en-US" sz="1250" dirty="0"/></a:p></p:txBody></p:sp><p:sp><p:nvSpPr><p:cNvPr id="20" name="Text 18"></p:cNvPr><p:cNvSpPr/><p:nvPr></p:nvPr></p:nvSpPr><p:spPr><a:xfrm><a:off x="566928" y="6400800"/><a:ext cx="2743200" cy="22860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900" dirty="0"><a:solidFill><a:srgbClr val="5A6675"/></a:solidFill><a:latin typeface="Calibri" pitchFamily="34" charset="0"/><a:ea typeface="Calibri" pitchFamily="34" charset="-122"/><a:cs typeface="Calibri" pitchFamily="34" charset="-120"/></a:rPr><a:t>AiScientist</a:t></a:r><a:endParaRPr lang="en-US" sz="900" dirty="0"/></a:p></p:txBody></p:sp><p:sp><p:nvSpPr><p:cNvPr id="21" name="Text 19"></p:cNvPr><p:cNvSpPr/><p:nvPr></p:nvPr></p:nvSpPr><p:spPr><a:xfrm><a:off x="10710367" y="6400800"/><a:ext cx="914400" cy="228600"/></a:xfrm><a:prstGeom prst="rect"><a:avLst></a:avLst></a:prstGeom><a:noFill/><a:ln></a:ln></p:spPr><p:txBody><a:bodyPr wrap="square" lIns="0" tIns="0" rIns="0" bIns="0" rtlCol="0" anchor="ctr"></a:bodyPr><a:lstStyle/><a:p><a:pPr algn="r" indent="0" marL="0"><a:buNone/></a:pPr><a:r><a:rPr lang="en-US" sz="900" dirty="0"><a:solidFill><a:srgbClr val="5A6675"/></a:solidFill><a:latin typeface="Calibri" pitchFamily="34" charset="0"/><a:ea typeface="Calibri" pitchFamily="34" charset="-122"/><a:cs typeface="Calibri" pitchFamily="34" charset="-120"/></a:rPr><a:t>28</a:t></a:r><a:endParaRPr lang="en-US" sz="900" dirty="0"/></a:p></p:txBody></p:sp></p:spTree></p:cSld><p:clrMapOvr><a:masterClrMapping/></p:clrMapOvr>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Singularity images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49377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vllm.sif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0.22 with torch 2.11 (cu130)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long-lived per-user GPU serve job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analysis.sif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scanpy, gseapy, bcftools 1.21, samtools, bedtools, pysam, cyvcf2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jobs for run_code and the analysis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vep.sif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 VEP with plugins, plus OpenSpliceAI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 annotation CPU job (~30–60 min for WGS)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lirical.sif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LIRICAL v2.4.1 with Exomiser 2406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phenotype-to-disease scoring job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scgpt.sif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scGPT, torch and the reference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short-lived GPU batch job that does not take the LLM's 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report.sif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pandoc, XeLaTeX and graphviz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PDF / DOCX render job — no AI involved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vlreview.sif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Render-level review on a cheap 24GB card; gated off by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(MEASURED ON HPC3)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 was never a hardware limit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783080"/>
            <a:ext cx="3989527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cards were booted with this exact image and model at --max-model-len 262144.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hybrid-attention: only 10 of its 40 layers hold a KV cache (~20 KiB/token), so a full 262K context costs about 5 GiB. Native max_position_embeddings is already 262144 — no YaRN needed.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window was never the constraint; concurrency is. The default moved from 32768 to 262144.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 finding: the card in the FREE partition is the larger one. What the paid partition buys is scheduling priority and non-preemptibility, not capability.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PLACEMENT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runs 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eyeserver (CPU, on campus)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console, WebSocket streaming, accounts and sessions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intake — forwarded straight to HPC3, no copy retained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and report assembly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and run state (Postgres)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2444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HPC3 (Slurm + Singularity)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— a per-user GPU serve job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scanpy analysis step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run_code sandbox, with a real cgroup-enforced memory cap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annotation (VEP) and phenotype scoring (LIRICAL)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scGPT inference, report rendering and VL review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0"/>
            <a:ext cx="841248" cy="8412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01368" y="2395728"/>
            <a:ext cx="9823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 can trust it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1368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system that fabricates is worse than no system. This part covers four things: where data can go, how facts are checked, what enforces the guards, and how the system audits itself.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boundary: locality needs positive evidence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5783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runs on UCI HPC3; the weights and the inference never leave campus. Raw datasets stay server-side.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DataBoundaryGuard vets the brief before any model call, blocking raw data rows and secrets from ever reaching a prompt.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literature queries are sanitised: what goes out is a bare filename and the question — never data.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correction that mattered: 'the model is local' used to be inferred from the existence of an SSH tunnel. That held only while the tunnel was the only reachable endpoint — it fails the moment a reasoning role is pointed at an external API, at which point the guard would classify a remote endpoint as local and send raw tables off-site.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now requires positive evidence: a tunnel AND no remote endpoint over it. An unparseable URL is treated as remote, and so is a hostname that merely resolves locally.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private keys live server-side (a browser has no SSH), per user and mode 0600. HPC3 passwords are never stored.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ANTI-FABRICATION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 — the last one is model-independent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82616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5681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data first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4907128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arguments and result memoization ensure the report sees this run's real output, not a degraded version overwritten by a later step. This actually happened once: a good 674k-variant result was clobbered into 1,213 by a re-run.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2152" y="1737360"/>
            <a:ext cx="5382616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9896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1" name="Text 9"/>
          <p:cNvSpPr/>
          <p:nvPr/>
        </p:nvSpPr>
        <p:spPr>
          <a:xfrm>
            <a:off x="6479896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73672" y="195681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Closed-set grounding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79896" y="2514600"/>
            <a:ext cx="4907128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three ways: a controlled vocabulary, a methods inventory, and a fact set extracted from the tool results. The writing stage may only draw on these.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963924"/>
            <a:ext cx="5382616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4183380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constraints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4672" y="4741164"/>
            <a:ext cx="4907128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prohibition on inventing gene names, numbers or statistics no tool returned, and a requirement to report a tool error honestly rather than pretend success.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2152" y="3963924"/>
            <a:ext cx="5382616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9896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6479896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73672" y="4183380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fact check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79896" y="4741164"/>
            <a:ext cx="4907128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generation, verify_report_facts runs: regardless of what the model wrote, it rewrites a wrong assembly version and corrects a fabricated '0 non-PASS variants'. This layer executes independently of the model — it does not ask the model to cooperate.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enforces the rule, not who promises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prose rule relies on the model to comply; a code guard executes regardless of the model. Both are needed, but only the second survives a model swap.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cannot accept a step whose tool errored or returned nothing — the model-critic cannot rubber-stamp a failure.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is refused deterministically when there is no contrast, instead of returning a meaningless list of terms.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Pseudobulk refuses when an arm has too few samples and records why in skipped_groups — it does not degrade to a cell-level test.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memoization stops a later step from re-triggering a 45-minute WGS job and overwriting a good result.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report what they actually used: background_source, resolution_source, method_used, unit_of_replication, execution_mode. A default nobody can see is exactly how a wrong parameter survives for months.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18120" y="1691640"/>
            <a:ext cx="3806647" cy="1732788"/>
          </a:xfrm>
          <a:prstGeom prst="roundRect">
            <a:avLst>
              <a:gd name="adj" fmla="val 4222"/>
            </a:avLst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874520"/>
            <a:ext cx="325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12848"/>
            <a:ext cx="3258007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over impressive: tools report failure rather than faking success, and degradations go only to the technical report so the manuscript renders clean.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SELF-AUDIT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can read its own tools' source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34725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782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34725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readable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493008"/>
            <a:ext cx="347258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read_tool_source returns the real body, the declared description and schema side by side for comparison, and every args.get(x, literal) default with its line number.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59554" y="1965960"/>
            <a:ext cx="34725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87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359554" y="3063240"/>
            <a:ext cx="34725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defects caught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59554" y="3493008"/>
            <a:ext cx="347258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the real served model: two planted statistical defects, each time naming the specific parameter with correct reasoning.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52181" y="1965960"/>
            <a:ext cx="34725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E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152181" y="3063240"/>
            <a:ext cx="34725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passed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52181" y="3493008"/>
            <a:ext cx="347258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limitation: the model reads HVG selection as a 'silent cap' and flags it wrongly. So this is a finding generator for a human, not an auto-gate — which is why the tool is read-only.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589788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run_de's 50-gene cap, enrichment's constant background and a hard-coded resolution=1.0 all survived seven weeks behind self-consistent reports and a green test suite. A description states intent; only the source states behaviour.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run leaves behind for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5783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parameters each step used — and whether each was a default, set explicitly, or selected by an algorithm.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resolution sweep, including the degenerate partitions that were excluded.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cluster→cell-type mapping with an evidence column, the first-pass call, and which clusters the raw check corrected.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groups were skipped and why; which tests were refused and on what grounds.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 background's size and source; GSEA's set-size limits, permutation count and seed (fixed at 42 — permutation p-values must reproduce).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variant annotation's execution mode — offline VEP or the REST fallback. A REST run only sampled the top variants and must never be read as whole-genome coverage.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run directory packages for download, and the report can be regenerated without re-running the analysis.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0"/>
            <a:ext cx="841248" cy="8412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01368" y="2395728"/>
            <a:ext cx="9823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stands, and what's next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1368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live, what is built but gated off, and what does not exist yet. Keeping those three apart is more useful than blending them.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· built but off · not built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737360"/>
                <a:gridCol w="5120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research lines, 23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linear PI→Scientist→Critic pipeline is the default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LIRICAL phenotype diagnosis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on HPC3 and deployed; Exomiser 2406 is in 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Free-text → HPO mapping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lexicon ships with the repo — fully 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 planning + specialists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Built,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BIOAGENT_PLANNER=dag; with it off the linear pipeline is unchanged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Per-agent evolving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Built,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BIOAGENT_AGENT_MEMORY=1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SpliceAI splice 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Built,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Installed and verified; enabling is an ops config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Vision-model render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Built,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clipped tables, colliding captions and similar layout defects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ledger / multi-cycle / skill induction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Built,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autonomy stack: tested, but never yet run on real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/ multi-omic / trajectory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hand-written via run_code today; no curated protocol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Letting the system develop its own research paths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built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ledger — statement, prediction, discriminating test, evidence, status — so a hypothesis being TESTED is structurally distinct from being mentioned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Within-cycle exploration: after a step, judge whether a new path should open — with a deterministic pre-filter so a literature step or an empty result cannot trigger one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Multi-cycle campaigns: wholesale re-planning between cycles rather than patching the original plan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induction: generalise a successful approach into a skill on disk, versioned rather than overwritten (up to nine versions)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Run-scope context management: every decision — thresholds, which rounds fold, what is pinned — is arithmetic in code; the model only writes the digest prose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2444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status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is gated off and none has been run on real data — the single biggest open unknown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byte-identical at defaults, by capturing every prompt and event and diffing before and after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model scored 3/3 on this exact capability — the bottleneck was scaffolding, not model size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connected: exploration findings feeding automatically into skill induction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possible: the system modifying its own tools. It can open a new research path today, but it cannot fix the path it stands 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matters most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autonomy stack on real data — it is built, tested and behaviour-neutral, but it has never faced a real dataset.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GRCh37 predictor panel so hg19 eye VCFs also get CADD / REVEL / AlphaMissense scores.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variant-first route for genes with no OMIM entry — the lab's real cases are enriched for exactly those.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tool introspection into the review loop, so 'is this default defensible for THIS dataset' becomes a step in the process rather than something a human happens to notice.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architecture: LangGraph with self-hosted Langfuse and a Postgres checkpointer.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18120" y="1691640"/>
            <a:ext cx="3806647" cy="1303020"/>
          </a:xfrm>
          <a:prstGeom prst="roundRect">
            <a:avLst>
              <a:gd name="adj" fmla="val 5614"/>
            </a:avLst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874520"/>
            <a:ext cx="325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is ordered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12848"/>
            <a:ext cx="3258007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4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by which gap silently produces a wrong answer — not by which feature sounds newest.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103120"/>
            <a:ext cx="99971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analysis system that silently returns a wrong answer is far more dangerous than one that errors — an error gets fixed, but a self-consistent wrong conclusion gets published.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429768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A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deterministic guard in this system exists because of that sentence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43"><p:bg><p:bgPr><a:solidFill><a:srgbClr val="0E1B2B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566928" y="1874520"/><a:ext cx="11057839" cy="2743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200" b="1" spc="300" kern="0" dirty="0"><a:solidFill><a:srgbClr val="3FA9A2"/></a:solidFill><a:latin typeface="Calibri" pitchFamily="34" charset="0"/><a:ea typeface="Calibri" pitchFamily="34" charset="-122"/><a:cs typeface="Calibri" pitchFamily="34" charset="-120"/></a:rPr><a:t>GETTING STARTED</a:t></a:r><a:endParaRPr lang="en-US" sz="1200" dirty="0"/></a:p></p:txBody></p:sp><p:sp><p:nvSpPr><p:cNvPr id="3" name="Text 1"></p:cNvPr><p:cNvSpPr/><p:nvPr></p:nvPr></p:nvSpPr><p:spPr><a:xfrm><a:off x="566928" y="2240280"/><a:ext cx="11057839" cy="137160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5000" b="1" dirty="0"><a:solidFill><a:srgbClr val="FFFFFF"/></a:solidFill><a:latin typeface="Cambria" pitchFamily="34" charset="0"/><a:ea typeface="Cambria" pitchFamily="34" charset="-122"/><a:cs typeface="Cambria" pitchFamily="34" charset="-120"/></a:rPr><a:t>AiScientist</a:t></a:r><a:endParaRPr lang="en-US" sz="5000" dirty="0"/></a:p></p:txBody></p:sp><p:sp><p:nvSpPr><p:cNvPr id="4" name="Text 2"></p:cNvPr><p:cNvSpPr/><p:nvPr></p:nvPr></p:nvSpPr><p:spPr><a:xfrm><a:off x="566928" y="3657600"/><a:ext cx="8778240" cy="1005840"/></a:xfrm><a:prstGeom prst="rect"><a:avLst></a:avLst></a:prstGeom><a:noFill/><a:ln></a:ln></p:spPr><p:txBody><a:bodyPr wrap="square" lIns="0" tIns="0" rIns="0" bIns="0" rtlCol="0" anchor="ctr"></a:bodyPr><a:lstStyle/><a:p><a:pPr indent="0" marL="0"><a:lnSpc><a:spcPts val="2600"/></a:lnSpc><a:buNone/></a:pPr><a:r><a:rPr lang="en-US" sz="1600" dirty="0"><a:solidFill><a:srgbClr val="C7D0DB"/></a:solidFill><a:latin typeface="Calibri" pitchFamily="34" charset="0"/><a:ea typeface="Calibri" pitchFamily="34" charset="-122"/><a:cs typeface="Calibri" pitchFamily="34" charset="-120"/></a:rPr><a:t><PUBLIC_HOSTNAME> (UCI campus network or VPN). Accounts are admin-created. Bring a dataset and a question — you do not need to describe the experiment first; the data defines it.</a:t></a:r><a:endParaRPr lang="en-US" sz="1600" dirty="0"/></a:p></p:txBody></p:sp><p:sp><p:nvSpPr><p:cNvPr id="5" name="Text 3"></p:cNvPr><p:cNvSpPr/><p:nvPr></p:nvPr></p:nvSpPr><p:spPr><a:xfrm><a:off x="566928" y="5715000"/><a:ext cx="11057839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dirty="0"><a:solidFill><a:srgbClr val="8C99A8"/></a:solidFill><a:latin typeface="Calibri" pitchFamily="34" charset="0"/><a:ea typeface="Calibri" pitchFamily="34" charset="-122"/><a:cs typeface="Calibri" pitchFamily="34" charset="-120"/></a:rPr><a:t>Questions, defect reports and requests for new research lines　→　the core-line handoff at handoff/yijun/</a:t></a:r><a:endParaRPr lang="en-US" sz="1100" dirty="0"/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AiScientist — Capability Overview</dc:title>
  <dc:subject>PptxGenJS Presentation</dc:subject>
  <dc:creator>AiScientist</dc:creator>
  <cp:lastModifiedBy>AiScientist</cp:lastModifiedBy>
  <cp:revision>1</cp:revision>
  <dcterms:created xsi:type="dcterms:W3CDTF">2026-08-05T20:42:42Z</dcterms:created>
  <dcterms:modified xsi:type="dcterms:W3CDTF">2026-08-05T20:42:42Z</dcterms:modified>
</cp:coreProperties>
</file>